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966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25780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93792"/>
            <a:ext cx="9144000" cy="64008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321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Multigrate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Single-Cell Multi-Omic Data Integration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542032"/>
            <a:ext cx="4114800" cy="36576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72491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272491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Lotfollahi M., Litinetskaya A. &amp; Theis F.J.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36976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323697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ICML Workshop on Computational Biology, 2021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37490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Faiqa Zarar  |  Pukhraj Tahir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6110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426110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github.com/FaiqaZarar/multigrate-multiomics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Multigrate?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1234440"/>
          </a:xfrm>
          <a:prstGeom prst="roundRect">
            <a:avLst>
              <a:gd name="adj" fmla="val 2963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54864" cy="123444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914400"/>
            <a:ext cx="8247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" y="1225296"/>
            <a:ext cx="8247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Multigrate is an unsupervised deep generative model — a multi-view variational autoencoder — that learns a unified low-dimensional representation of cells from multiple biological measurement types simultaneously, while correcting for technical batch effects and handling missing modality data in a principled mathematical way.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needed?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8412480" cy="822960"/>
          </a:xfrm>
          <a:prstGeom prst="roundRect">
            <a:avLst>
              <a:gd name="adj" fmla="val 4444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78608"/>
            <a:ext cx="54864" cy="82296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" y="2651760"/>
            <a:ext cx="8247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" y="2962656"/>
            <a:ext cx="8247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Multi-omic technologies generate rich datasets but combining heterogeneous measurement types is non-trivial due to batch effects, incomplete data, and differing feature spaces.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493008"/>
            <a:ext cx="841248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93008"/>
            <a:ext cx="54864" cy="82296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" y="3566160"/>
            <a:ext cx="8247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Methods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" y="3877056"/>
            <a:ext cx="8247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 are constrained to specific technology pairings, rely on linear models, or require complete measurements — all of which fail on real-world datasets.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407408"/>
            <a:ext cx="8412480" cy="822960"/>
          </a:xfrm>
          <a:prstGeom prst="roundRect">
            <a:avLst>
              <a:gd name="adj" fmla="val 4444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407408"/>
            <a:ext cx="54864" cy="822960"/>
          </a:xfrm>
          <a:prstGeom prst="rect">
            <a:avLst/>
          </a:prstGeom>
          <a:solidFill>
            <a:srgbClr val="0D7A4E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" y="4480560"/>
            <a:ext cx="8247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Multigrate's Contribution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" y="4791456"/>
            <a:ext cx="8247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unified framework simultaneously addressing batch correction, missing modality handling, and arbitrary modality pairing within one principled generative model.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Single-Cell Multi-Omic Modalities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measurement types Multigrate integrates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1280160"/>
          </a:xfrm>
          <a:prstGeom prst="roundRect">
            <a:avLst>
              <a:gd name="adj" fmla="val 2857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41248"/>
            <a:ext cx="54864" cy="128016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" y="914400"/>
            <a:ext cx="8247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RNA-seq — Transcriptomic Profiling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" y="124358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mRNA abundance across the genome at single-cell resolution. Provides a snapshot of gene expression activity — which genes are actively transcribed. The most widely used single-cell modality.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" y="1828800"/>
            <a:ext cx="8247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normalise to 10,000 counts per cell, log1p transform, select top 4,000 HVGs per batch.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212848"/>
            <a:ext cx="8412480" cy="1280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12848"/>
            <a:ext cx="54864" cy="1280160"/>
          </a:xfrm>
          <a:prstGeom prst="rect">
            <a:avLst/>
          </a:prstGeom>
          <a:solidFill>
            <a:srgbClr val="0D7A4E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" y="2286000"/>
            <a:ext cx="8247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CITE-seq — RNA + Surface Protein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" y="261518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 captures transcriptomic profiles and surface protein abundance via DNA-tagged antibodies (ADT), enabling co-profiling of two orthogonal biological layers in the same cells.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" y="3200400"/>
            <a:ext cx="8247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Centred Log-Ratio (CLR) normalisation on protein counts removes compositional bias.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584448"/>
            <a:ext cx="8412480" cy="1280160"/>
          </a:xfrm>
          <a:prstGeom prst="roundRect">
            <a:avLst>
              <a:gd name="adj" fmla="val 2857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84448"/>
            <a:ext cx="54864" cy="12801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" y="3657600"/>
            <a:ext cx="8247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ATAC-seq — Chromatin Accessibility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" y="398678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genome-wide chromatin accessibility, identifying open regulatory DNA regions. Combined with RNA-seq, enables joint analysis of gene regulatory activity and expression outcomes.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" y="4572000"/>
            <a:ext cx="8247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binarise accessibility peaks, log-normalise. MSE reconstruction loss applied.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Technical Challenges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naive combination approaches fail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1298448"/>
          </a:xfrm>
          <a:prstGeom prst="roundRect">
            <a:avLst>
              <a:gd name="adj" fmla="val 2817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41248"/>
            <a:ext cx="566928" cy="1298448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41248"/>
            <a:ext cx="5669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4128" y="93268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Effects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261872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technical variation from differences in laboratory protocols, sequencing platforms, and reagents. These artefacts distort biological signals and prevent meaningful cross-study comparisons.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53328" y="914400"/>
            <a:ext cx="2377440" cy="1152144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969264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6480" y="1243584"/>
            <a:ext cx="22311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CD4+ T cell from Site A and Site B will occupy different latent space regions despite being biologically identical.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231136"/>
            <a:ext cx="8412480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31136"/>
            <a:ext cx="566928" cy="12984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231136"/>
            <a:ext cx="5669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II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24128" y="2322576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Modalities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265176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cells have complete multi-omic measurements. Methods requiring complete paired data across all modalities must discard the majority of available cells — sometimes 70–80% of observations.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53328" y="2304288"/>
            <a:ext cx="2377440" cy="1152144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2359152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26480" y="2633472"/>
            <a:ext cx="22311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cells with 75% paired and 25% RNA-only: a naive method discards 3,750 cells.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621024"/>
            <a:ext cx="8412480" cy="1298448"/>
          </a:xfrm>
          <a:prstGeom prst="roundRect">
            <a:avLst>
              <a:gd name="adj" fmla="val 2817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621024"/>
            <a:ext cx="566928" cy="12984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621024"/>
            <a:ext cx="5669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III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24128" y="3712464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Non-Overlapping Feature Spaces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4128" y="404164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labs measure different gene panels, protein panels, or genomic regions. Rigid feature alignment is impossible when feature spaces differ — the typical real-world scenario.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53328" y="3694176"/>
            <a:ext cx="2377440" cy="1152144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26480" y="3749040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26480" y="4023360"/>
            <a:ext cx="22311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study measures 134 ADT proteins; another measures 14 different proteins — no direct alignment.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— Existing Methods and Limitations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201168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841248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95728" y="841248"/>
            <a:ext cx="315468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2432304" y="841248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96128" y="841248"/>
            <a:ext cx="77724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5632704" y="841248"/>
            <a:ext cx="704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841248"/>
            <a:ext cx="77724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37376" y="841248"/>
            <a:ext cx="704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05472" y="841248"/>
            <a:ext cx="77724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7242048" y="841248"/>
            <a:ext cx="704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10144" y="841248"/>
            <a:ext cx="77724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841248"/>
            <a:ext cx="704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1371600"/>
            <a:ext cx="2011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1371600"/>
            <a:ext cx="1938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MOFA+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95728" y="1371600"/>
            <a:ext cx="3154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32304" y="1371600"/>
            <a:ext cx="3081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factor model — matrix factorisation generalisation of PCA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596128" y="1371600"/>
            <a:ext cx="777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32704" y="1371600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1371600"/>
            <a:ext cx="777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37376" y="1371600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05472" y="1371600"/>
            <a:ext cx="777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1371600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10144" y="1371600"/>
            <a:ext cx="777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1371600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2029968"/>
            <a:ext cx="2011680" cy="621792"/>
          </a:xfrm>
          <a:prstGeom prst="rect">
            <a:avLst/>
          </a:prstGeom>
          <a:solidFill>
            <a:srgbClr val="EEF4FB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2029968"/>
            <a:ext cx="1938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Seurat v4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395728" y="2029968"/>
            <a:ext cx="3154680" cy="621792"/>
          </a:xfrm>
          <a:prstGeom prst="rect">
            <a:avLst/>
          </a:prstGeom>
          <a:solidFill>
            <a:srgbClr val="EEF4FB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32304" y="2029968"/>
            <a:ext cx="3081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nearest-neighbour graph, separate per-modality reduction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596128" y="2029968"/>
            <a:ext cx="777240" cy="621792"/>
          </a:xfrm>
          <a:prstGeom prst="rect">
            <a:avLst/>
          </a:prstGeom>
          <a:solidFill>
            <a:srgbClr val="EEF4FB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32704" y="2029968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0" y="2029968"/>
            <a:ext cx="777240" cy="621792"/>
          </a:xfrm>
          <a:prstGeom prst="rect">
            <a:avLst/>
          </a:prstGeom>
          <a:solidFill>
            <a:srgbClr val="EEF4FB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7376" y="2029968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205472" y="2029968"/>
            <a:ext cx="777240" cy="621792"/>
          </a:xfrm>
          <a:prstGeom prst="rect">
            <a:avLst/>
          </a:prstGeom>
          <a:solidFill>
            <a:srgbClr val="EEF4FB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42048" y="2029968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010144" y="2029968"/>
            <a:ext cx="777240" cy="621792"/>
          </a:xfrm>
          <a:prstGeom prst="rect">
            <a:avLst/>
          </a:prstGeom>
          <a:solidFill>
            <a:srgbClr val="EEF4FB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2029968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65760" y="2688336"/>
            <a:ext cx="2011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" y="2688336"/>
            <a:ext cx="1938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totalVI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395728" y="2688336"/>
            <a:ext cx="3154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32304" y="2688336"/>
            <a:ext cx="3081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VAE — architecturally specific to CITE-seq only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596128" y="2688336"/>
            <a:ext cx="777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32704" y="2688336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400800" y="2688336"/>
            <a:ext cx="777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37376" y="2688336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205472" y="2688336"/>
            <a:ext cx="777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42048" y="2688336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010144" y="2688336"/>
            <a:ext cx="777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0" y="2688336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65760" y="3346704"/>
            <a:ext cx="2011680" cy="621792"/>
          </a:xfrm>
          <a:prstGeom prst="rect">
            <a:avLst/>
          </a:prstGeom>
          <a:solidFill>
            <a:srgbClr val="EEF4FB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2336" y="3346704"/>
            <a:ext cx="1938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scVI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395728" y="3346704"/>
            <a:ext cx="3154680" cy="621792"/>
          </a:xfrm>
          <a:prstGeom prst="rect">
            <a:avLst/>
          </a:prstGeom>
          <a:solidFill>
            <a:srgbClr val="EEF4FB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32304" y="3346704"/>
            <a:ext cx="3081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for single-modality RNA-seq — cannot handle multiple data types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5596128" y="3346704"/>
            <a:ext cx="777240" cy="621792"/>
          </a:xfrm>
          <a:prstGeom prst="rect">
            <a:avLst/>
          </a:prstGeom>
          <a:solidFill>
            <a:srgbClr val="EEF4FB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32704" y="3346704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400800" y="3346704"/>
            <a:ext cx="777240" cy="621792"/>
          </a:xfrm>
          <a:prstGeom prst="rect">
            <a:avLst/>
          </a:prstGeom>
          <a:solidFill>
            <a:srgbClr val="EEF4FB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37376" y="3346704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205472" y="3346704"/>
            <a:ext cx="777240" cy="621792"/>
          </a:xfrm>
          <a:prstGeom prst="rect">
            <a:avLst/>
          </a:prstGeom>
          <a:solidFill>
            <a:srgbClr val="EEF4FB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42048" y="3346704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010144" y="3346704"/>
            <a:ext cx="777240" cy="621792"/>
          </a:xfrm>
          <a:prstGeom prst="rect">
            <a:avLst/>
          </a:prstGeom>
          <a:solidFill>
            <a:srgbClr val="EEF4FB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46720" y="3346704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365760" y="4005072"/>
            <a:ext cx="2011680" cy="621792"/>
          </a:xfrm>
          <a:prstGeom prst="rect">
            <a:avLst/>
          </a:prstGeom>
          <a:solidFill>
            <a:srgbClr val="EBF5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2336" y="4005072"/>
            <a:ext cx="1938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Multigrate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2395728" y="4005072"/>
            <a:ext cx="3154680" cy="621792"/>
          </a:xfrm>
          <a:prstGeom prst="rect">
            <a:avLst/>
          </a:prstGeom>
          <a:solidFill>
            <a:srgbClr val="EBF5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32304" y="4005072"/>
            <a:ext cx="3081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 VAE with PoE — any modality, missing data by design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5596128" y="4005072"/>
            <a:ext cx="777240" cy="621792"/>
          </a:xfrm>
          <a:prstGeom prst="rect">
            <a:avLst/>
          </a:prstGeom>
          <a:solidFill>
            <a:srgbClr val="EBF5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32704" y="4005072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400800" y="4005072"/>
            <a:ext cx="777240" cy="621792"/>
          </a:xfrm>
          <a:prstGeom prst="rect">
            <a:avLst/>
          </a:prstGeom>
          <a:solidFill>
            <a:srgbClr val="EBF5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37376" y="4005072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205472" y="4005072"/>
            <a:ext cx="777240" cy="621792"/>
          </a:xfrm>
          <a:prstGeom prst="rect">
            <a:avLst/>
          </a:prstGeom>
          <a:solidFill>
            <a:srgbClr val="EBF5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42048" y="4005072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8010144" y="4005072"/>
            <a:ext cx="777240" cy="621792"/>
          </a:xfrm>
          <a:prstGeom prst="rect">
            <a:avLst/>
          </a:prstGeom>
          <a:solidFill>
            <a:srgbClr val="EBF5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046720" y="4005072"/>
            <a:ext cx="704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365760" y="4791456"/>
            <a:ext cx="8412480" cy="34747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8" name="Text 76"/>
          <p:cNvSpPr/>
          <p:nvPr/>
        </p:nvSpPr>
        <p:spPr>
          <a:xfrm>
            <a:off x="457200" y="47914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Multigrate is the only method satisfying all four desiderata simultaneously within a principled generative framework.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Multigrate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 VAE with Product of Experts fusion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41248"/>
            <a:ext cx="4434840" cy="2816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675888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A7A"/>
                </a:solidFill>
              </a:rPr>
              <a:t>Figure 1a (Lotfollahi et al., 2021)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010912" y="841248"/>
            <a:ext cx="3767328" cy="914400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10912" y="841248"/>
            <a:ext cx="54864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10" name="Text 7"/>
          <p:cNvSpPr/>
          <p:nvPr/>
        </p:nvSpPr>
        <p:spPr>
          <a:xfrm>
            <a:off x="5138928" y="905256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Encoders {f_i}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138928" y="1243584"/>
            <a:ext cx="3584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modality has a dedicated encoder mapping input X_i and batch label S_i to a Gaussian posterior q(Z_i | X_i, S_i) = N(mu_i, sigma_i).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10912" y="1847088"/>
            <a:ext cx="376732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10912" y="1847088"/>
            <a:ext cx="54864" cy="914400"/>
          </a:xfrm>
          <a:prstGeom prst="rect">
            <a:avLst/>
          </a:prstGeom>
          <a:solidFill>
            <a:srgbClr val="0D7A4E"/>
          </a:solidFill>
          <a:ln/>
        </p:spPr>
      </p:sp>
      <p:sp>
        <p:nvSpPr>
          <p:cNvPr id="14" name="Text 11"/>
          <p:cNvSpPr/>
          <p:nvPr/>
        </p:nvSpPr>
        <p:spPr>
          <a:xfrm>
            <a:off x="5138928" y="1911096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 Experts Fusion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138928" y="2249424"/>
            <a:ext cx="3584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Gaussian posteriors are combined multiplicatively. Missing modalities contribute the prior — no gradient flows through absent data.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10912" y="2852928"/>
            <a:ext cx="3767328" cy="914400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10912" y="2852928"/>
            <a:ext cx="54864" cy="914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5"/>
          <p:cNvSpPr/>
          <p:nvPr/>
        </p:nvSpPr>
        <p:spPr>
          <a:xfrm>
            <a:off x="5138928" y="2916936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+ Modality Decoders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138928" y="3255264"/>
            <a:ext cx="3584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Z_joint passes through a shared decoder, then per-modality decoders: negative binomial for RNA; MSE for ADT and ATAC.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10912" y="3858768"/>
            <a:ext cx="376732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10912" y="3858768"/>
            <a:ext cx="54864" cy="91440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22" name="Text 19"/>
          <p:cNvSpPr/>
          <p:nvPr/>
        </p:nvSpPr>
        <p:spPr>
          <a:xfrm>
            <a:off x="5138928" y="3922776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 Regularisation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138928" y="4261104"/>
            <a:ext cx="3584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Mean Discrepancy loss between joint latent distributions of dataset pairs enforces distribution alignment in the latent space.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 Experts — Mathematical Formulation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Posterior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548640"/>
          </a:xfrm>
          <a:prstGeom prst="roundRect">
            <a:avLst>
              <a:gd name="adj" fmla="val 6667"/>
            </a:avLst>
          </a:prstGeom>
          <a:solidFill>
            <a:srgbClr val="EBF5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q(Z_joint | X, S)  =  PROD_i  q(Z_i | X_i, S_i)  where  q(Z_i|X_i,S_i) = N(0,I)  if modality i absent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Precision-Weighted Parameter Estimation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114800" cy="868680"/>
          </a:xfrm>
          <a:prstGeom prst="roundRect">
            <a:avLst>
              <a:gd name="adj" fmla="val 4211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26771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mu_joint  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mu_0/s_0 + SUM_i m_i*mu_i/s_i 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------------------------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( 1/s_0 + SUM_i m_i/s_i 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81728" y="2194560"/>
            <a:ext cx="4096512" cy="868680"/>
          </a:xfrm>
          <a:prstGeom prst="roundRect">
            <a:avLst>
              <a:gd name="adj" fmla="val 4211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2267712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sigma_joint  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------------------------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( 1/s_0 + SUM_i m_i/s_i 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14553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m_i = 1 if modality present, 0 if absent   |   Prior: N(0, I)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11296"/>
            <a:ext cx="2743200" cy="1298448"/>
          </a:xfrm>
          <a:prstGeom prst="roundRect">
            <a:avLst>
              <a:gd name="adj" fmla="val 2817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11296"/>
            <a:ext cx="54864" cy="1298448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" y="36027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Precision-weighted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3776" y="393192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 with lower variance (higher precision) contribute proportionally more to the joint estimate.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82112" y="3511296"/>
            <a:ext cx="2743200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82112" y="3511296"/>
            <a:ext cx="54864" cy="1298448"/>
          </a:xfrm>
          <a:prstGeom prst="rect">
            <a:avLst/>
          </a:prstGeom>
          <a:solidFill>
            <a:srgbClr val="0D7A4E"/>
          </a:solidFill>
          <a:ln/>
        </p:spPr>
      </p:sp>
      <p:sp>
        <p:nvSpPr>
          <p:cNvPr id="20" name="Text 18"/>
          <p:cNvSpPr/>
          <p:nvPr/>
        </p:nvSpPr>
        <p:spPr>
          <a:xfrm>
            <a:off x="3310128" y="36027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by construction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10128" y="393192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modalities contribute only the prior — no information added, no special code required.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98464" y="3511296"/>
            <a:ext cx="2743200" cy="1298448"/>
          </a:xfrm>
          <a:prstGeom prst="roundRect">
            <a:avLst>
              <a:gd name="adj" fmla="val 2817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98464" y="3511296"/>
            <a:ext cx="54864" cy="12984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36027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solution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26480" y="393192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mu_joint and sigma_joint have exact analytical expressions — no approximate inference needed.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Objective — Reconstruction Loss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L_multigrate = SUM_i L_AE(phi,theta,X_i,S_i,alpha,eta)  +  beta * SUM_{i&lt;j} L_MMD(Z_i,Z_j)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502920"/>
          </a:xfrm>
          <a:prstGeom prst="roundRect">
            <a:avLst>
              <a:gd name="adj" fmla="val 7273"/>
            </a:avLst>
          </a:prstGeom>
          <a:solidFill>
            <a:srgbClr val="EBF5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41248"/>
            <a:ext cx="54864" cy="50292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841248"/>
            <a:ext cx="8266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L_AE = alpha * E[log p(X|Z_joint,S)]  -  eta * KL(q(Z_joint|X,S) || p(Z_joint|S))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8412480" cy="786384"/>
          </a:xfrm>
          <a:prstGeom prst="roundRect">
            <a:avLst>
              <a:gd name="adj" fmla="val 4651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463040"/>
            <a:ext cx="54864" cy="786384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" y="1536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(count data)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78608" y="1536192"/>
            <a:ext cx="6327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Binomial likelihood models the overdispersion inherent in scRNA-seq count data. More appropriate than Gaussian or Poisson for integer sequencing counts.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40864"/>
            <a:ext cx="841248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40864"/>
            <a:ext cx="54864" cy="786384"/>
          </a:xfrm>
          <a:prstGeom prst="rect">
            <a:avLst/>
          </a:prstGeom>
          <a:solidFill>
            <a:srgbClr val="0D7A4E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" y="24140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proteins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78608" y="2414016"/>
            <a:ext cx="6327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on CLR-normalised protein values. CLR converts compositional counts to continuous values well-suited to MSE optimisation.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18688"/>
            <a:ext cx="8412480" cy="786384"/>
          </a:xfrm>
          <a:prstGeom prst="roundRect">
            <a:avLst>
              <a:gd name="adj" fmla="val 4651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18688"/>
            <a:ext cx="54864" cy="7863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 peaks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78608" y="3291840"/>
            <a:ext cx="6327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on binarised log-normalised chromatin accessibility peaks. Binarisation converts continuous accessibility scores to binary open/closed indicators.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096512"/>
            <a:ext cx="841248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096512"/>
            <a:ext cx="54864" cy="786384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" y="41696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78608" y="4169664"/>
            <a:ext cx="6327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Regularises the posterior towards a standard normal prior N(0,I). Controls the reconstruction vs latent space smoothness trade-off. Weight controlled by eta.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Objective — MMD Batch Correction Loss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502920"/>
          </a:xfrm>
          <a:prstGeom prst="roundRect">
            <a:avLst>
              <a:gd name="adj" fmla="val 7273"/>
            </a:avLst>
          </a:prstGeom>
          <a:solidFill>
            <a:srgbClr val="EBF5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54864" cy="502920"/>
          </a:xfrm>
          <a:prstGeom prst="rect">
            <a:avLst/>
          </a:prstGeom>
          <a:solidFill>
            <a:srgbClr val="0D7A4E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841248"/>
            <a:ext cx="8266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L_MMD = beta * SUM_{i&lt;j} [ k(Z_i,Z_i) + k(Z_j,Z_j) - 2*k(Z_i,Z_j) ]     k(x,x') = SUM_l exp(gamma_l * ||x-x'||^2)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786384"/>
          </a:xfrm>
          <a:prstGeom prst="roundRect">
            <a:avLst>
              <a:gd name="adj" fmla="val 4651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63040"/>
            <a:ext cx="54864" cy="786384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" y="15361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alignment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24912" y="1536192"/>
            <a:ext cx="6181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minimises the statistical distance between the joint latent distributions of different datasets, operating at the population level rather than per-sample.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40864"/>
            <a:ext cx="841248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40864"/>
            <a:ext cx="54864" cy="786384"/>
          </a:xfrm>
          <a:prstGeom prst="rect">
            <a:avLst/>
          </a:prstGeom>
          <a:solidFill>
            <a:srgbClr val="0D7A4E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" y="241401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RBF kernel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24912" y="2414016"/>
            <a:ext cx="6181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Gaussian kernels at multiple bandwidth scales gamma_l for robust MMD estimation. Provides unbiased estimates across different distribution shapes.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18688"/>
            <a:ext cx="8412480" cy="786384"/>
          </a:xfrm>
          <a:prstGeom prst="roundRect">
            <a:avLst>
              <a:gd name="adj" fmla="val 4651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18688"/>
            <a:ext cx="54864" cy="7863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" y="3291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application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24912" y="3291840"/>
            <a:ext cx="6181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all pairwise dataset combinations in each training batch. Hyperparameter beta controls the strength of batch alignment relative to reconstruction fidelity.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096512"/>
            <a:ext cx="841248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96512"/>
            <a:ext cx="54864" cy="786384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" y="416966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to encoder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24912" y="4169664"/>
            <a:ext cx="6181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distribution-level correction beyond per-sample encoder conditioning. The two mechanisms act at different granularities for more robust batch removal.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Applications of Multigrate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41248"/>
            <a:ext cx="3246120" cy="41879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93776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7A"/>
                </a:solidFill>
              </a:rPr>
              <a:t>Figure 1b (Lotfollahi et al., 2021)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767328" y="841248"/>
            <a:ext cx="5010912" cy="1298448"/>
          </a:xfrm>
          <a:prstGeom prst="roundRect">
            <a:avLst>
              <a:gd name="adj" fmla="val 2817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767328" y="841248"/>
            <a:ext cx="54864" cy="1298448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9" name="Text 6"/>
          <p:cNvSpPr/>
          <p:nvPr/>
        </p:nvSpPr>
        <p:spPr>
          <a:xfrm>
            <a:off x="3895344" y="905256"/>
            <a:ext cx="4828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95344" y="1152144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Reference Atlas Construction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895344" y="1481328"/>
            <a:ext cx="4828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multi-omic datasets from different studies are jointly integrated into a single harmonised reference latent space, capturing shared biological variation while removing technical confounders.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767328" y="2231136"/>
            <a:ext cx="501091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67328" y="2231136"/>
            <a:ext cx="54864" cy="1298448"/>
          </a:xfrm>
          <a:prstGeom prst="rect">
            <a:avLst/>
          </a:prstGeom>
          <a:solidFill>
            <a:srgbClr val="0D7A4E"/>
          </a:solidFill>
          <a:ln/>
        </p:spPr>
      </p:sp>
      <p:sp>
        <p:nvSpPr>
          <p:cNvPr id="14" name="Text 11"/>
          <p:cNvSpPr/>
          <p:nvPr/>
        </p:nvSpPr>
        <p:spPr>
          <a:xfrm>
            <a:off x="3895344" y="2295144"/>
            <a:ext cx="4828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895344" y="2542032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Query-to-Reference Mapping (scArches)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895344" y="2871216"/>
            <a:ext cx="4828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datasets are mapped onto a pre-trained reference by fine-tuning only new batch-specific weights while preserving reference structure. Enables rapid atlas extension without full retraining.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767328" y="3621024"/>
            <a:ext cx="5010912" cy="1298448"/>
          </a:xfrm>
          <a:prstGeom prst="roundRect">
            <a:avLst>
              <a:gd name="adj" fmla="val 2817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767328" y="3621024"/>
            <a:ext cx="54864" cy="12984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6"/>
          <p:cNvSpPr/>
          <p:nvPr/>
        </p:nvSpPr>
        <p:spPr>
          <a:xfrm>
            <a:off x="3895344" y="3685032"/>
            <a:ext cx="4828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III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895344" y="3931920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Modality Imputation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3895344" y="4261104"/>
            <a:ext cx="4828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decoder reconstructs unobserved modalities for cells with partial measurements. Accuracy evaluated via Pearson correlation between imputed and held-out ground-truth values.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I — Integration: Experimental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475488"/>
          </a:xfrm>
          <a:prstGeom prst="roundRect">
            <a:avLst>
              <a:gd name="adj" fmla="val 7692"/>
            </a:avLst>
          </a:prstGeom>
          <a:solidFill>
            <a:srgbClr val="EBF5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54864" cy="475488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841248"/>
            <a:ext cx="8266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Integrate paired CITE-seq measurements across 4 collection sites, demonstrating batch correction while preserving cell-type-level biological structure.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143560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1600200" cy="457200"/>
          </a:xfrm>
          <a:prstGeom prst="rect">
            <a:avLst/>
          </a:prstGeom>
          <a:solidFill>
            <a:srgbClr val="0B1F3A"/>
          </a:solidFill>
          <a:ln w="5080">
            <a:solidFill>
              <a:srgbClr val="D5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84248" y="1810512"/>
            <a:ext cx="2377440" cy="457200"/>
          </a:xfrm>
          <a:prstGeom prst="rect">
            <a:avLst/>
          </a:prstGeom>
          <a:solidFill>
            <a:srgbClr val="EEF4FB"/>
          </a:solidFill>
          <a:ln w="5080">
            <a:solidFill>
              <a:srgbClr val="D5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810512"/>
            <a:ext cx="152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Source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39112" y="18105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</a:rPr>
              <a:t>NeurIPS 2021 CITE-seq BMMCs  (GEO: GSE194122)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13432"/>
            <a:ext cx="1600200" cy="457200"/>
          </a:xfrm>
          <a:prstGeom prst="rect">
            <a:avLst/>
          </a:prstGeom>
          <a:solidFill>
            <a:srgbClr val="1A4B8C"/>
          </a:solidFill>
          <a:ln w="5080">
            <a:solidFill>
              <a:srgbClr val="D5E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84248" y="2313432"/>
            <a:ext cx="23774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5E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313432"/>
            <a:ext cx="152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 size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39112" y="23134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</a:rPr>
              <a:t>90,261 cells (subsampled to 20,000)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16352"/>
            <a:ext cx="1600200" cy="457200"/>
          </a:xfrm>
          <a:prstGeom prst="rect">
            <a:avLst/>
          </a:prstGeom>
          <a:solidFill>
            <a:srgbClr val="0B1F3A"/>
          </a:solidFill>
          <a:ln w="5080">
            <a:solidFill>
              <a:srgbClr val="D5E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84248" y="2816352"/>
            <a:ext cx="2377440" cy="457200"/>
          </a:xfrm>
          <a:prstGeom prst="rect">
            <a:avLst/>
          </a:prstGeom>
          <a:solidFill>
            <a:srgbClr val="EEF4FB"/>
          </a:solidFill>
          <a:ln w="5080">
            <a:solidFill>
              <a:srgbClr val="D5E3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816352"/>
            <a:ext cx="152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RNA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39112" y="28163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</a:rPr>
              <a:t>13,953 genes → 4,000 HVGs per batch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319272"/>
            <a:ext cx="1600200" cy="457200"/>
          </a:xfrm>
          <a:prstGeom prst="rect">
            <a:avLst/>
          </a:prstGeom>
          <a:solidFill>
            <a:srgbClr val="1A4B8C"/>
          </a:solidFill>
          <a:ln w="5080">
            <a:solidFill>
              <a:srgbClr val="D5E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84248" y="3319272"/>
            <a:ext cx="23774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5E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3319272"/>
            <a:ext cx="152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39112" y="33192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</a:rPr>
              <a:t>134 surface proteins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822192"/>
            <a:ext cx="1600200" cy="457200"/>
          </a:xfrm>
          <a:prstGeom prst="rect">
            <a:avLst/>
          </a:prstGeom>
          <a:solidFill>
            <a:srgbClr val="0B1F3A"/>
          </a:solidFill>
          <a:ln w="5080">
            <a:solidFill>
              <a:srgbClr val="D5E3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84248" y="3822192"/>
            <a:ext cx="2377440" cy="457200"/>
          </a:xfrm>
          <a:prstGeom prst="rect">
            <a:avLst/>
          </a:prstGeom>
          <a:solidFill>
            <a:srgbClr val="EEF4FB"/>
          </a:solidFill>
          <a:ln w="5080">
            <a:solidFill>
              <a:srgbClr val="D5E3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822192"/>
            <a:ext cx="152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Batches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39112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</a:rPr>
              <a:t>4 collection sites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45152" y="1435608"/>
            <a:ext cx="4133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Model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45152" y="1810512"/>
            <a:ext cx="4133088" cy="932688"/>
          </a:xfrm>
          <a:prstGeom prst="roundRect">
            <a:avLst>
              <a:gd name="adj" fmla="val 3922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45152" y="1810512"/>
            <a:ext cx="54864" cy="932688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1883664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73168" y="2221992"/>
            <a:ext cx="3950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to 10,000 counts  |  log1p transform  |  4,000 HVGs per batch  |  Loss: Negative Binomial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45152" y="2834640"/>
            <a:ext cx="4133088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45152" y="2834640"/>
            <a:ext cx="54864" cy="932688"/>
          </a:xfrm>
          <a:prstGeom prst="rect">
            <a:avLst/>
          </a:prstGeom>
          <a:solidFill>
            <a:srgbClr val="0D7A4E"/>
          </a:solidFill>
          <a:ln/>
        </p:spPr>
      </p:sp>
      <p:sp>
        <p:nvSpPr>
          <p:cNvPr id="36" name="Text 34"/>
          <p:cNvSpPr/>
          <p:nvPr/>
        </p:nvSpPr>
        <p:spPr>
          <a:xfrm>
            <a:off x="4773168" y="2907792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73168" y="3246120"/>
            <a:ext cx="3950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normalisation (removes compositional bias)  |  Loss: MSE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45152" y="3858768"/>
            <a:ext cx="4133088" cy="932688"/>
          </a:xfrm>
          <a:prstGeom prst="roundRect">
            <a:avLst>
              <a:gd name="adj" fmla="val 3922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45152" y="3858768"/>
            <a:ext cx="54864" cy="932688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0" name="Text 38"/>
          <p:cNvSpPr/>
          <p:nvPr/>
        </p:nvSpPr>
        <p:spPr>
          <a:xfrm>
            <a:off x="4773168" y="3931920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73168" y="4270248"/>
            <a:ext cx="3950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= ['nb','mse']  |  KL weight = 0.1  |  200 epochs, lr=1e-3, batch size=256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I — Paper Results (Figure 2)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41248"/>
            <a:ext cx="841248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4348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(Lotfollahi et al., 2021) — (a) UMAP by batch and cell type  |  (b) Per-metric benchmark scores  |  (c) Overall ranking across three datasets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65760" y="4828032"/>
            <a:ext cx="2743200" cy="384048"/>
          </a:xfrm>
          <a:prstGeom prst="rect">
            <a:avLst/>
          </a:prstGeom>
          <a:solidFill>
            <a:srgbClr val="0D7A4E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8280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effects corrected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00400" y="4828032"/>
            <a:ext cx="2743200" cy="384048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0" y="48280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structure preserved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35040" y="4828032"/>
            <a:ext cx="2743200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48280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#1 across 3 datasets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I — Reproduction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2021 dataset, 20,000 cells, 200 epochs, T4 GPU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41248"/>
            <a:ext cx="6263640" cy="2852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72160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A7A"/>
                </a:solidFill>
              </a:rPr>
              <a:t>UMAP coloured by cell type (left) and collection site / batch (right)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0" y="841248"/>
            <a:ext cx="1920240" cy="1417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0" y="227685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7A"/>
                </a:solidFill>
              </a:rPr>
              <a:t>Training / validation loss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858000" y="2578608"/>
            <a:ext cx="914400" cy="1234440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858000" y="267004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4B8C"/>
                </a:solidFill>
              </a:rPr>
              <a:t>ARI &gt; 0.5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0" y="317296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</a:rPr>
              <a:t>cluster 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</a:rPr>
              <a:t>cell type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845552" y="2578608"/>
            <a:ext cx="914400" cy="1234440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845552" y="267004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7A4E"/>
                </a:solidFill>
              </a:rPr>
              <a:t>NMI &gt; 0.5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845552" y="317296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</a:rPr>
              <a:t>mutual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</a:rPr>
              <a:t>info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4041648"/>
            <a:ext cx="8412480" cy="749808"/>
          </a:xfrm>
          <a:prstGeom prst="roundRect">
            <a:avLst>
              <a:gd name="adj" fmla="val 4878"/>
            </a:avLst>
          </a:prstGeom>
          <a:solidFill>
            <a:srgbClr val="0B1F3A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75488" y="4078224"/>
            <a:ext cx="819302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from all 4 sites intermix within biologically coherent clusters, confirming successful batch correction. Training and validation loss curves converge smoothly, indicating stable optimisation without overfitting.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Quality Metrics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 — Luecken et al., Nature Methods 2022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41248"/>
            <a:ext cx="4983480" cy="25146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3383280"/>
            <a:ext cx="4983480" cy="1508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4910328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7A"/>
                </a:solidFill>
              </a:rPr>
              <a:t>Fig 2b: Score heatmap   |   Fig 2c: Overall score bar chart — Multigrate (black) consistently highest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532120" y="841248"/>
            <a:ext cx="3246120" cy="73152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532120" y="841248"/>
            <a:ext cx="512064" cy="731520"/>
          </a:xfrm>
          <a:prstGeom prst="rect">
            <a:avLst/>
          </a:prstGeom>
          <a:solidFill>
            <a:srgbClr val="0D7A4E"/>
          </a:solidFill>
          <a:ln/>
        </p:spPr>
      </p:sp>
      <p:sp>
        <p:nvSpPr>
          <p:cNvPr id="11" name="Text 7"/>
          <p:cNvSpPr/>
          <p:nvPr/>
        </p:nvSpPr>
        <p:spPr>
          <a:xfrm>
            <a:off x="5532120" y="841248"/>
            <a:ext cx="512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Biology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080760" y="90525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080760" y="1207008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between unsupervised clusters and true cell type labels.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532120" y="1664208"/>
            <a:ext cx="32461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532120" y="1664208"/>
            <a:ext cx="512064" cy="731520"/>
          </a:xfrm>
          <a:prstGeom prst="rect">
            <a:avLst/>
          </a:prstGeom>
          <a:solidFill>
            <a:srgbClr val="0D7A4E"/>
          </a:solidFill>
          <a:ln/>
        </p:spPr>
      </p:sp>
      <p:sp>
        <p:nvSpPr>
          <p:cNvPr id="16" name="Text 12"/>
          <p:cNvSpPr/>
          <p:nvPr/>
        </p:nvSpPr>
        <p:spPr>
          <a:xfrm>
            <a:off x="5532120" y="1664208"/>
            <a:ext cx="512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Biology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6080760" y="17282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080760" y="2029968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 between cluster assignments and reference labels.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532120" y="2487168"/>
            <a:ext cx="3246120" cy="73152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532120" y="2487168"/>
            <a:ext cx="512064" cy="73152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21" name="Text 17"/>
          <p:cNvSpPr/>
          <p:nvPr/>
        </p:nvSpPr>
        <p:spPr>
          <a:xfrm>
            <a:off x="5532120" y="2487168"/>
            <a:ext cx="512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Biology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6080760" y="255117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ASW cell type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080760" y="2852928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Intra-cluster cohesion and inter-cluster separation in latent space.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532120" y="3310128"/>
            <a:ext cx="32461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532120" y="3310128"/>
            <a:ext cx="512064" cy="7315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6" name="Text 22"/>
          <p:cNvSpPr/>
          <p:nvPr/>
        </p:nvSpPr>
        <p:spPr>
          <a:xfrm>
            <a:off x="5532120" y="3310128"/>
            <a:ext cx="512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Batch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6080760" y="337413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ASW batch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080760" y="3675888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 — batch labels should not be predictable from latent space.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532120" y="4133088"/>
            <a:ext cx="3246120" cy="73152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532120" y="4133088"/>
            <a:ext cx="512064" cy="7315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7"/>
          <p:cNvSpPr/>
          <p:nvPr/>
        </p:nvSpPr>
        <p:spPr>
          <a:xfrm>
            <a:off x="5532120" y="4133088"/>
            <a:ext cx="512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Combined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6080760" y="419709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6080760" y="4498848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= 0.6 × Biology Conservation + 0.4 × Batch Correction.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II — Imputation: Experimental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475488"/>
          </a:xfrm>
          <a:prstGeom prst="roundRect">
            <a:avLst>
              <a:gd name="adj" fmla="val 7692"/>
            </a:avLst>
          </a:prstGeom>
          <a:solidFill>
            <a:srgbClr val="EBF5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54864" cy="475488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841248"/>
            <a:ext cx="8266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Evaluate whether Multigrate can accurately predict held-out protein measurements for RNA-only cells using the RNA-protein relationship learned from paired observations.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435608"/>
            <a:ext cx="8412480" cy="56692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3560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15,000 cells — NeurIPS 2021 CITE-seq BMMCs  |  RNA + 134 surface proteins measured per cell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4114800" cy="150876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03120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Training Set — 75%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11,250 cells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RNA available  |  ADT available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Both modalities used in training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81728" y="2103120"/>
            <a:ext cx="4096512" cy="1508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2103120"/>
            <a:ext cx="409651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Evaluation Set — 25%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3,750 cells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RNA available  |  ADT withheld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Model predicts — compare with ground truth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721608"/>
            <a:ext cx="8412480" cy="512064"/>
          </a:xfrm>
          <a:prstGeom prst="rect">
            <a:avLst/>
          </a:prstGeom>
          <a:solidFill>
            <a:srgbClr val="0D7A4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72160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Metric: Pearson correlation between imputed and true CLR-normalised ADT values, per protein, averaged across all 134.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33425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Baselines: totalVI (Gayoso et al., 2021) and Seurat v4 (Hao et al., 2021), both with default parameters.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II — Paper Results (Figure 4)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708455"/>
            <a:ext cx="5029200" cy="2148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0175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A7A"/>
                </a:solidFill>
              </a:rPr>
              <a:t>Figure 4a: CD3 protein — ground truth (left) vs imputed (right). Pearson r ≈ 0.94.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3192" y="3236976"/>
            <a:ext cx="5029200" cy="1737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3192" y="4974336"/>
            <a:ext cx="5001768" cy="1097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/>
          </a:lstStyle>
          <a:p>
            <a:pPr marL="0" indent="0" algn="ctr">
              <a:buNone/>
            </a:pPr>
            <a:r>
              <a:rPr lang="en-US" sz="950" i="1" dirty="0">
                <a:solidFill>
                  <a:srgbClr val="5A6A7A"/>
                </a:solidFill>
              </a:rPr>
              <a:t>Figure 4b: Per-protein Pearson r — Multigrate (black), Seurat v4 (red), totalVI (blue)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577840" y="841248"/>
            <a:ext cx="3200400" cy="932688"/>
          </a:xfrm>
          <a:prstGeom prst="roundRect">
            <a:avLst>
              <a:gd name="adj" fmla="val 3922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577840" y="914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4B8C"/>
                </a:solidFill>
              </a:rPr>
              <a:t>~0.80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5577840" y="14813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A7A"/>
                </a:solidFill>
              </a:rPr>
              <a:t>Mean Pearson r (paper, 14 proteins)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57784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vs Baselines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577840" y="2286000"/>
            <a:ext cx="2148840" cy="429768"/>
          </a:xfrm>
          <a:prstGeom prst="rect">
            <a:avLst/>
          </a:prstGeom>
          <a:solidFill>
            <a:srgbClr val="0B1F3A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44968" y="2286000"/>
            <a:ext cx="1033272" cy="429768"/>
          </a:xfrm>
          <a:prstGeom prst="rect">
            <a:avLst/>
          </a:prstGeom>
          <a:solidFill>
            <a:srgbClr val="0B1F3A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614416" y="2286000"/>
            <a:ext cx="20756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Method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781544" y="2286000"/>
            <a:ext cx="960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577840" y="2761488"/>
            <a:ext cx="2148840" cy="429768"/>
          </a:xfrm>
          <a:prstGeom prst="rect">
            <a:avLst/>
          </a:prstGeom>
          <a:solidFill>
            <a:srgbClr val="EBF5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44968" y="2761488"/>
            <a:ext cx="1033272" cy="429768"/>
          </a:xfrm>
          <a:prstGeom prst="rect">
            <a:avLst/>
          </a:prstGeom>
          <a:solidFill>
            <a:srgbClr val="EBF5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14416" y="2761488"/>
            <a:ext cx="20756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</a:rPr>
              <a:t>Multigrate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781544" y="2761488"/>
            <a:ext cx="960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B8C"/>
                </a:solidFill>
              </a:rPr>
              <a:t>~0.80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577840" y="3236976"/>
            <a:ext cx="21488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744968" y="3236976"/>
            <a:ext cx="1033272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614416" y="3236976"/>
            <a:ext cx="20756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</a:rPr>
              <a:t>totalVI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781544" y="3236976"/>
            <a:ext cx="960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</a:rPr>
              <a:t>~0.78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577840" y="3712464"/>
            <a:ext cx="21488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744968" y="3712464"/>
            <a:ext cx="1033272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614416" y="3712464"/>
            <a:ext cx="20756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</a:rPr>
              <a:t>Seurat v4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781544" y="3712464"/>
            <a:ext cx="960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</a:rPr>
              <a:t>~0.77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577840" y="4270248"/>
            <a:ext cx="3200400" cy="658368"/>
          </a:xfrm>
          <a:prstGeom prst="roundRect">
            <a:avLst>
              <a:gd name="adj" fmla="val 5556"/>
            </a:avLst>
          </a:prstGeom>
          <a:solidFill>
            <a:srgbClr val="EBF5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577840" y="4270248"/>
            <a:ext cx="54864" cy="658368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31" name="Text 27"/>
          <p:cNvSpPr/>
          <p:nvPr/>
        </p:nvSpPr>
        <p:spPr>
          <a:xfrm>
            <a:off x="5687568" y="4334256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Multigrate marginally outperforms totalVI — a method specialised for this exact task — demonstrating the generality of the PoE framework.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II — Reproduction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to 134-protein panel (vs 14 in paper)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41248"/>
            <a:ext cx="6016752" cy="19385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807208"/>
            <a:ext cx="6016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A7A"/>
                </a:solidFill>
              </a:rPr>
              <a:t>UMAP: cell types (left) — RNA-only cells (orange, right) correctly placed within cell-type clusters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3127248"/>
            <a:ext cx="6016752" cy="17190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4864608"/>
            <a:ext cx="6016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A7A"/>
                </a:solidFill>
              </a:rPr>
              <a:t>Per-protein Pearson r (134 proteins). Pink reference line = mean r = 0.72.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37960" y="841248"/>
            <a:ext cx="2240280" cy="1417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37960" y="227685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7A"/>
                </a:solidFill>
              </a:rPr>
              <a:t>Training loss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537960" y="2578608"/>
            <a:ext cx="1051560" cy="1261872"/>
          </a:xfrm>
          <a:prstGeom prst="roundRect">
            <a:avLst>
              <a:gd name="adj" fmla="val 3478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6537960" y="267004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4B8C"/>
                </a:solidFill>
              </a:rPr>
              <a:t>0.72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6537960" y="321868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</a:rPr>
              <a:t>Mean 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</a:rPr>
              <a:t>134 prot.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680960" y="2578608"/>
            <a:ext cx="1051560" cy="1261872"/>
          </a:xfrm>
          <a:prstGeom prst="roundRect">
            <a:avLst>
              <a:gd name="adj" fmla="val 3478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7680960" y="267004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A4E"/>
                </a:solidFill>
              </a:rPr>
              <a:t>0.94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7680960" y="321868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</a:rPr>
              <a:t>Best (CD3)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III — Query-to-Reference Mapping (scArches)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41248"/>
            <a:ext cx="4480560" cy="2761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63016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A7A"/>
                </a:solidFill>
              </a:rPr>
              <a:t>Figure 3a-c: Reference (healthy) + COVID-19 query cells integrated across studies, cell types, and conditions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3968496"/>
            <a:ext cx="4480560" cy="1005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499262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A7A"/>
                </a:solidFill>
              </a:rPr>
              <a:t>Figure 3d: Confusion matrix — predicted vs true cell types — 79% overall accuracy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029200" y="841248"/>
            <a:ext cx="3749040" cy="914400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029200" y="841248"/>
            <a:ext cx="475488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11" name="Text 7"/>
          <p:cNvSpPr/>
          <p:nvPr/>
        </p:nvSpPr>
        <p:spPr>
          <a:xfrm>
            <a:off x="5029200" y="841248"/>
            <a:ext cx="475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541264" y="91440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healthy reference atlas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41264" y="1252728"/>
            <a:ext cx="3182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160,000 cells (RNA+ADT+ATAC) across 3 datasets.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0" y="1847088"/>
            <a:ext cx="37490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29200" y="1847088"/>
            <a:ext cx="475488" cy="914400"/>
          </a:xfrm>
          <a:prstGeom prst="rect">
            <a:avLst/>
          </a:prstGeom>
          <a:solidFill>
            <a:srgbClr val="0D7A4E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0" y="1847088"/>
            <a:ext cx="475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II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541264" y="192024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query batch weights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541264" y="2258568"/>
            <a:ext cx="3182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model with new batch vectors. All reference weights frozen.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29200" y="2852928"/>
            <a:ext cx="3749040" cy="914400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29200" y="2852928"/>
            <a:ext cx="475488" cy="914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7"/>
          <p:cNvSpPr/>
          <p:nvPr/>
        </p:nvSpPr>
        <p:spPr>
          <a:xfrm>
            <a:off x="5029200" y="2852928"/>
            <a:ext cx="475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III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541264" y="292608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in 2–5 minutes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541264" y="3264408"/>
            <a:ext cx="3182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new batch weights updated. Reference structure preserved.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029200" y="3858768"/>
            <a:ext cx="37490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029200" y="3858768"/>
            <a:ext cx="475488" cy="91440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26" name="Text 22"/>
          <p:cNvSpPr/>
          <p:nvPr/>
        </p:nvSpPr>
        <p:spPr>
          <a:xfrm>
            <a:off x="5029200" y="3858768"/>
            <a:ext cx="475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IV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5541264" y="393192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cell type labels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541264" y="4270248"/>
            <a:ext cx="3182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on reference latent space → 79% accuracy.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29200" y="4937760"/>
            <a:ext cx="3749040" cy="384048"/>
          </a:xfrm>
          <a:prstGeom prst="rect">
            <a:avLst/>
          </a:prstGeom>
          <a:solidFill>
            <a:srgbClr val="0D7A4E"/>
          </a:solidFill>
          <a:ln/>
        </p:spPr>
      </p:sp>
      <p:sp>
        <p:nvSpPr>
          <p:cNvPr id="30" name="Text 26"/>
          <p:cNvSpPr/>
          <p:nvPr/>
        </p:nvSpPr>
        <p:spPr>
          <a:xfrm>
            <a:off x="5029200" y="49377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79% accuracy  |  2–5 min vs hours for full retraining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Results Across All Three Experiments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2743200" cy="4187952"/>
          </a:xfrm>
          <a:prstGeom prst="roundRect">
            <a:avLst>
              <a:gd name="adj" fmla="val 1333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2743200" cy="50292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841248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Experiment 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Integration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435608"/>
            <a:ext cx="1261872" cy="914400"/>
          </a:xfrm>
          <a:prstGeom prst="roundRect">
            <a:avLst>
              <a:gd name="adj" fmla="val 4000"/>
            </a:avLst>
          </a:prstGeom>
          <a:solidFill>
            <a:srgbClr val="F0F7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" y="1499616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4B8C"/>
                </a:solidFill>
              </a:rPr>
              <a:t>#1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38912" y="2002536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overall rank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across 3 datasets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73936" y="1435608"/>
            <a:ext cx="1261872" cy="914400"/>
          </a:xfrm>
          <a:prstGeom prst="roundRect">
            <a:avLst>
              <a:gd name="adj" fmla="val 4000"/>
            </a:avLst>
          </a:prstGeom>
          <a:solidFill>
            <a:srgbClr val="F0F7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73936" y="1499616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4B8C"/>
                </a:solidFill>
              </a:rPr>
              <a:t>Outperforms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773936" y="2002536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MOFA+, Seurat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and totalVI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441448"/>
            <a:ext cx="2560320" cy="27432"/>
          </a:xfrm>
          <a:prstGeom prst="rect">
            <a:avLst/>
          </a:prstGeom>
          <a:solidFill>
            <a:srgbClr val="D5E3F0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532888"/>
            <a:ext cx="2523744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combined biology conservation and batch correction score across all three benchmark datasets. Consistent across CITE-seq and ATAC+RNA modality pairings.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18688" y="841248"/>
            <a:ext cx="2743200" cy="4187952"/>
          </a:xfrm>
          <a:prstGeom prst="roundRect">
            <a:avLst>
              <a:gd name="adj" fmla="val 1333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841248"/>
            <a:ext cx="2743200" cy="502920"/>
          </a:xfrm>
          <a:prstGeom prst="rect">
            <a:avLst/>
          </a:prstGeom>
          <a:solidFill>
            <a:srgbClr val="0D7A4E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841248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Experiment II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Imputation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435608"/>
            <a:ext cx="1261872" cy="914400"/>
          </a:xfrm>
          <a:prstGeom prst="roundRect">
            <a:avLst>
              <a:gd name="adj" fmla="val 4000"/>
            </a:avLst>
          </a:prstGeom>
          <a:solidFill>
            <a:srgbClr val="F0F7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1499616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D7A4E"/>
                </a:solidFill>
              </a:rPr>
              <a:t>r=0.80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3291840" y="2002536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mean Pearson 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(paper, 14 prot.)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26864" y="1435608"/>
            <a:ext cx="1261872" cy="914400"/>
          </a:xfrm>
          <a:prstGeom prst="roundRect">
            <a:avLst>
              <a:gd name="adj" fmla="val 4000"/>
            </a:avLst>
          </a:prstGeom>
          <a:solidFill>
            <a:srgbClr val="F0F7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26864" y="1499616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D7A4E"/>
                </a:solidFill>
              </a:rPr>
              <a:t>r=0.72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626864" y="2002536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our result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134 proteins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10128" y="2441448"/>
            <a:ext cx="2560320" cy="27432"/>
          </a:xfrm>
          <a:prstGeom prst="rect">
            <a:avLst/>
          </a:prstGeom>
          <a:solidFill>
            <a:srgbClr val="D5E3F0"/>
          </a:solidFill>
          <a:ln/>
        </p:spPr>
      </p:sp>
      <p:sp>
        <p:nvSpPr>
          <p:cNvPr id="26" name="Text 24"/>
          <p:cNvSpPr/>
          <p:nvPr/>
        </p:nvSpPr>
        <p:spPr>
          <a:xfrm>
            <a:off x="3328416" y="2532888"/>
            <a:ext cx="2523744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Marginally outperforms totalVI — architecturally specialised for CITE-seq imputation — demonstrating the generality of the PoE framework.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71616" y="841248"/>
            <a:ext cx="2743200" cy="4187952"/>
          </a:xfrm>
          <a:prstGeom prst="roundRect">
            <a:avLst>
              <a:gd name="adj" fmla="val 1333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71616" y="841248"/>
            <a:ext cx="2743200" cy="5029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6144768" y="841248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Experiment III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Query Mapping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44768" y="1435608"/>
            <a:ext cx="1261872" cy="914400"/>
          </a:xfrm>
          <a:prstGeom prst="roundRect">
            <a:avLst>
              <a:gd name="adj" fmla="val 4000"/>
            </a:avLst>
          </a:prstGeom>
          <a:solidFill>
            <a:srgbClr val="F0F7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44768" y="1499616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B45309"/>
                </a:solidFill>
              </a:rPr>
              <a:t>79%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6144768" y="2002536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cell type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accuracy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79792" y="1435608"/>
            <a:ext cx="1261872" cy="914400"/>
          </a:xfrm>
          <a:prstGeom prst="roundRect">
            <a:avLst>
              <a:gd name="adj" fmla="val 4000"/>
            </a:avLst>
          </a:prstGeom>
          <a:solidFill>
            <a:srgbClr val="F0F7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79792" y="1499616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B45309"/>
                </a:solidFill>
              </a:rPr>
              <a:t>2–5 min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7479792" y="2002536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fine-tuning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vs hours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63056" y="2441448"/>
            <a:ext cx="2560320" cy="27432"/>
          </a:xfrm>
          <a:prstGeom prst="rect">
            <a:avLst/>
          </a:prstGeom>
          <a:solidFill>
            <a:srgbClr val="D5E3F0"/>
          </a:solidFill>
          <a:ln/>
        </p:spPr>
      </p:sp>
      <p:sp>
        <p:nvSpPr>
          <p:cNvPr id="37" name="Text 35"/>
          <p:cNvSpPr/>
          <p:nvPr/>
        </p:nvSpPr>
        <p:spPr>
          <a:xfrm>
            <a:off x="6181344" y="2532888"/>
            <a:ext cx="2523744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patient cells correctly mapped to the healthy reference. Cell type labels transfer with 79% accuracy via a random forest classifier.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— Our GitHub Repository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530352"/>
          </a:xfrm>
          <a:prstGeom prst="roundRect">
            <a:avLst>
              <a:gd name="adj" fmla="val 6897"/>
            </a:avLst>
          </a:prstGeom>
          <a:solidFill>
            <a:srgbClr val="0B1F3A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4124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github.com/FaiqaZarar/multigrate-multiomics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499616"/>
            <a:ext cx="8412480" cy="658368"/>
          </a:xfrm>
          <a:prstGeom prst="roundRect">
            <a:avLst>
              <a:gd name="adj" fmla="val 5556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99616"/>
            <a:ext cx="54864" cy="658368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" y="15636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I Notebook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73552" y="1563624"/>
            <a:ext cx="5614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01_paired_integration/paired_integration.ipynb — complete Colab notebook: data download, preprocessing, model training, UMAP generation, ARI/NMI metrics.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249424"/>
            <a:ext cx="84124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49424"/>
            <a:ext cx="54864" cy="658368"/>
          </a:xfrm>
          <a:prstGeom prst="rect">
            <a:avLst/>
          </a:prstGeom>
          <a:solidFill>
            <a:srgbClr val="0D7A4E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" y="231343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II Notebook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73552" y="2313432"/>
            <a:ext cx="5614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02_protein_imputation/protein_imputation.ipynb — complete Colab notebook: 75/25 split, training, imputation inference, per-protein Pearson correlation barplot.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999232"/>
            <a:ext cx="8412480" cy="658368"/>
          </a:xfrm>
          <a:prstGeom prst="roundRect">
            <a:avLst>
              <a:gd name="adj" fmla="val 5556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99232"/>
            <a:ext cx="54864" cy="6583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" y="3063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Paper Figures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73552" y="3063240"/>
            <a:ext cx="5614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figures/ directory contains all original paper figures (Fig 1–4) for in-line README rendering. Extracted directly from the published PDF.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84124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49040"/>
            <a:ext cx="54864" cy="658368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" y="381304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III Documentation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73552" y="3813048"/>
            <a:ext cx="5614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03_query_to_reference/ contains full methodology with executable code, paper figures, and transparent explanation of computational constraints.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498848"/>
            <a:ext cx="8412480" cy="658368"/>
          </a:xfrm>
          <a:prstGeom prst="roundRect">
            <a:avLst>
              <a:gd name="adj" fmla="val 5556"/>
            </a:avLst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65760" y="4498848"/>
            <a:ext cx="54864" cy="65836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" y="456285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73552" y="4562856"/>
            <a:ext cx="5614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slides/ directory contains this presentation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25780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93792"/>
            <a:ext cx="9144000" cy="64008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200400" cy="36576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8755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4160520" cy="612648"/>
          </a:xfrm>
          <a:prstGeom prst="rect">
            <a:avLst/>
          </a:prstGeom>
          <a:solidFill>
            <a:srgbClr val="0B2D5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89888"/>
            <a:ext cx="54864" cy="612648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144475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generative framework applicable to any combination of multi-omic modalities without architectural modification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93976"/>
            <a:ext cx="4160520" cy="612648"/>
          </a:xfrm>
          <a:prstGeom prst="rect">
            <a:avLst/>
          </a:prstGeom>
          <a:solidFill>
            <a:srgbClr val="0B2D5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093976"/>
            <a:ext cx="54864" cy="612648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214884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 Experts fusion handles missing modalities by mathematical construction — no imputation heuristics required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4160520" cy="612648"/>
          </a:xfrm>
          <a:prstGeom prst="rect">
            <a:avLst/>
          </a:prstGeom>
          <a:solidFill>
            <a:srgbClr val="0B2D52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98064"/>
            <a:ext cx="54864" cy="612648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285292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 regularisation provides distribution-level batch correction complementing per-sample encoder conditioning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502152"/>
            <a:ext cx="4160520" cy="612648"/>
          </a:xfrm>
          <a:prstGeom prst="rect">
            <a:avLst/>
          </a:prstGeom>
          <a:solidFill>
            <a:srgbClr val="0B2D5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502152"/>
            <a:ext cx="54864" cy="612648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" y="355701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scArches integration enables reference atlas extension in minutes — supporting scalable clinical applications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4160520" cy="612648"/>
          </a:xfrm>
          <a:prstGeom prst="rect">
            <a:avLst/>
          </a:prstGeom>
          <a:solidFill>
            <a:srgbClr val="0B2D52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206240"/>
            <a:ext cx="54864" cy="612648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" y="4261104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or superior performance versus task-specific methods across all three evaluation tasks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98755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46320" y="1389888"/>
            <a:ext cx="4023360" cy="822960"/>
          </a:xfrm>
          <a:prstGeom prst="rect">
            <a:avLst/>
          </a:prstGeom>
          <a:solidFill>
            <a:srgbClr val="0B2D52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1389888"/>
            <a:ext cx="54864" cy="8229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4974336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Cycle-consistency loss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74336" y="17922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Enforcing RNA→protein→RNA consistency expected to improve imputation accuracy on difficult proteins.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2322576"/>
            <a:ext cx="4023360" cy="822960"/>
          </a:xfrm>
          <a:prstGeom prst="rect">
            <a:avLst/>
          </a:prstGeom>
          <a:solidFill>
            <a:srgbClr val="0B2D52"/>
          </a:solidFill>
          <a:ln/>
        </p:spPr>
      </p:sp>
      <p:sp>
        <p:nvSpPr>
          <p:cNvPr id="28" name="Shape 26"/>
          <p:cNvSpPr/>
          <p:nvPr/>
        </p:nvSpPr>
        <p:spPr>
          <a:xfrm>
            <a:off x="4846320" y="2322576"/>
            <a:ext cx="54864" cy="8229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4974336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modality embeddings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74336" y="27249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one-hot labels with trainable modality vectors to decompose modality-specific variance.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46320" y="3255264"/>
            <a:ext cx="4023360" cy="822960"/>
          </a:xfrm>
          <a:prstGeom prst="rect">
            <a:avLst/>
          </a:prstGeom>
          <a:solidFill>
            <a:srgbClr val="0B2D52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3255264"/>
            <a:ext cx="54864" cy="8229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3" name="Text 31"/>
          <p:cNvSpPr/>
          <p:nvPr/>
        </p:nvSpPr>
        <p:spPr>
          <a:xfrm>
            <a:off x="4974336" y="33284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transcriptomics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74336" y="3657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to spatial + RNA + protein trimodal data is a natural application of the PoE framework.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46320" y="4187952"/>
            <a:ext cx="4023360" cy="822960"/>
          </a:xfrm>
          <a:prstGeom prst="rect">
            <a:avLst/>
          </a:prstGeom>
          <a:solidFill>
            <a:srgbClr val="0B2D52"/>
          </a:solidFill>
          <a:ln/>
        </p:spPr>
      </p:sp>
      <p:sp>
        <p:nvSpPr>
          <p:cNvPr id="36" name="Shape 34"/>
          <p:cNvSpPr/>
          <p:nvPr/>
        </p:nvSpPr>
        <p:spPr>
          <a:xfrm>
            <a:off x="4846320" y="4187952"/>
            <a:ext cx="54864" cy="8229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7" name="Text 35"/>
          <p:cNvSpPr/>
          <p:nvPr/>
        </p:nvSpPr>
        <p:spPr>
          <a:xfrm>
            <a:off x="4974336" y="42611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Million-cell scalability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74336" y="45902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and mini-batch PoE fusion for datasets exceeding GPU memory capacity.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25780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0B8D8"/>
                </a:solidFill>
              </a:rPr>
              <a:t>Questions &amp; Discussion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0" y="2578608"/>
            <a:ext cx="3657600" cy="36576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7889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46120" y="278892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Lotfollahi et al. (2021) — arxiv.org/abs/2108.05218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29184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Code: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6120" y="329184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github.com/theislab/multigrate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7947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Repository: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379476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github.com/FaiqaZarar/multigrate-multiomics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42976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 Code: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429768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github.com/theislab/multigrate_reproducibility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2697</Words>
  <Application>Microsoft Office PowerPoint</Application>
  <PresentationFormat>On-screen Show (16:9)</PresentationFormat>
  <Paragraphs>348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Faiqa Zarar Noor</cp:lastModifiedBy>
  <cp:revision>3</cp:revision>
  <dcterms:created xsi:type="dcterms:W3CDTF">2026-06-04T03:16:39Z</dcterms:created>
  <dcterms:modified xsi:type="dcterms:W3CDTF">2026-06-04T03:23:05Z</dcterms:modified>
</cp:coreProperties>
</file>