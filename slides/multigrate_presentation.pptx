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9144000" cy="73152"/>
          </a:xfrm>
          <a:prstGeom prst="rect">
            <a:avLst/>
          </a:prstGeom>
          <a:solidFill>
            <a:srgbClr val="4472C4"/>
          </a:solidFill>
          <a:ln/>
        </p:spPr>
      </p:sp>
      <p:sp>
        <p:nvSpPr>
          <p:cNvPr id="3" name="Text 1"/>
          <p:cNvSpPr/>
          <p:nvPr/>
        </p:nvSpPr>
        <p:spPr>
          <a:xfrm>
            <a:off x="548640" y="822960"/>
            <a:ext cx="8046720" cy="1005840"/>
          </a:xfrm>
          <a:prstGeom prst="rect">
            <a:avLst/>
          </a:prstGeom>
          <a:noFill/>
          <a:ln/>
        </p:spPr>
        <p:txBody>
          <a:bodyPr wrap="square" lIns="0" tIns="0" rIns="0" bIns="0" rtlCol="0" anchor="ctr"/>
          <a:lstStyle/>
          <a:p>
            <a:pPr algn="l" indent="0" marL="0">
              <a:buNone/>
            </a:pPr>
            <a:r>
              <a:rPr lang="en-US" sz="5400" b="1" dirty="0">
                <a:solidFill>
                  <a:srgbClr val="FFFFFF"/>
                </a:solidFill>
                <a:latin typeface="Calibri" pitchFamily="34" charset="0"/>
                <a:ea typeface="Calibri" pitchFamily="34" charset="-122"/>
                <a:cs typeface="Calibri" pitchFamily="34" charset="-120"/>
              </a:rPr>
              <a:t>Multigrate</a:t>
            </a:r>
            <a:endParaRPr lang="en-US" sz="5400" dirty="0"/>
          </a:p>
        </p:txBody>
      </p:sp>
      <p:sp>
        <p:nvSpPr>
          <p:cNvPr id="4" name="Text 2"/>
          <p:cNvSpPr/>
          <p:nvPr/>
        </p:nvSpPr>
        <p:spPr>
          <a:xfrm>
            <a:off x="548640" y="1828800"/>
            <a:ext cx="8046720" cy="548640"/>
          </a:xfrm>
          <a:prstGeom prst="rect">
            <a:avLst/>
          </a:prstGeom>
          <a:noFill/>
          <a:ln/>
        </p:spPr>
        <p:txBody>
          <a:bodyPr wrap="square" lIns="0" tIns="0" rIns="0" bIns="0" rtlCol="0" anchor="ctr"/>
          <a:lstStyle/>
          <a:p>
            <a:pPr algn="l" indent="0" marL="0">
              <a:buNone/>
            </a:pPr>
            <a:r>
              <a:rPr lang="en-US" sz="2200" dirty="0">
                <a:solidFill>
                  <a:srgbClr val="CADCFC"/>
                </a:solidFill>
                <a:latin typeface="Calibri" pitchFamily="34" charset="0"/>
                <a:ea typeface="Calibri" pitchFamily="34" charset="-122"/>
                <a:cs typeface="Calibri" pitchFamily="34" charset="-120"/>
              </a:rPr>
              <a:t>Single-Cell Multi-Omic Data Integration</a:t>
            </a:r>
            <a:endParaRPr lang="en-US" sz="2200" dirty="0"/>
          </a:p>
        </p:txBody>
      </p:sp>
      <p:sp>
        <p:nvSpPr>
          <p:cNvPr id="5" name="Shape 3"/>
          <p:cNvSpPr/>
          <p:nvPr/>
        </p:nvSpPr>
        <p:spPr>
          <a:xfrm>
            <a:off x="548640" y="2514600"/>
            <a:ext cx="2743200" cy="36576"/>
          </a:xfrm>
          <a:prstGeom prst="rect">
            <a:avLst/>
          </a:prstGeom>
          <a:solidFill>
            <a:srgbClr val="4472C4"/>
          </a:solidFill>
          <a:ln/>
        </p:spPr>
      </p:sp>
      <p:sp>
        <p:nvSpPr>
          <p:cNvPr id="6" name="Text 4"/>
          <p:cNvSpPr/>
          <p:nvPr/>
        </p:nvSpPr>
        <p:spPr>
          <a:xfrm>
            <a:off x="548640" y="2743200"/>
            <a:ext cx="8046720" cy="365760"/>
          </a:xfrm>
          <a:prstGeom prst="rect">
            <a:avLst/>
          </a:prstGeom>
          <a:noFill/>
          <a:ln/>
        </p:spPr>
        <p:txBody>
          <a:bodyPr wrap="square" rtlCol="0" anchor="ctr"/>
          <a:lstStyle/>
          <a:p>
            <a:pPr algn="l" indent="0" marL="0">
              <a:buNone/>
            </a:pPr>
            <a:r>
              <a:rPr lang="en-US" sz="1400" b="1" dirty="0">
                <a:solidFill>
                  <a:srgbClr val="CADCFC"/>
                </a:solidFill>
                <a:latin typeface="Calibri" pitchFamily="34" charset="0"/>
                <a:ea typeface="Calibri" pitchFamily="34" charset="-122"/>
                <a:cs typeface="Calibri" pitchFamily="34" charset="-120"/>
              </a:rPr>
              <a:t>Paper: </a:t>
            </a:r>
            <a:pPr algn="l" indent="0" marL="0">
              <a:buNone/>
            </a:pPr>
            <a:r>
              <a:rPr lang="en-US" sz="1400" dirty="0">
                <a:solidFill>
                  <a:srgbClr val="94A3B8"/>
                </a:solidFill>
                <a:latin typeface="Calibri" pitchFamily="34" charset="0"/>
                <a:ea typeface="Calibri" pitchFamily="34" charset="-122"/>
                <a:cs typeface="Calibri" pitchFamily="34" charset="-120"/>
              </a:rPr>
              <a:t>Lotfollahi, Litinetskaya &amp; Theis</a:t>
            </a:r>
            <a:endParaRPr lang="en-US" sz="1400" dirty="0"/>
          </a:p>
        </p:txBody>
      </p:sp>
      <p:sp>
        <p:nvSpPr>
          <p:cNvPr id="7" name="Text 5"/>
          <p:cNvSpPr/>
          <p:nvPr/>
        </p:nvSpPr>
        <p:spPr>
          <a:xfrm>
            <a:off x="548640" y="3127248"/>
            <a:ext cx="8046720" cy="365760"/>
          </a:xfrm>
          <a:prstGeom prst="rect">
            <a:avLst/>
          </a:prstGeom>
          <a:noFill/>
          <a:ln/>
        </p:spPr>
        <p:txBody>
          <a:bodyPr wrap="square" rtlCol="0" anchor="ctr"/>
          <a:lstStyle/>
          <a:p>
            <a:pPr algn="l" indent="0" marL="0">
              <a:buNone/>
            </a:pPr>
            <a:r>
              <a:rPr lang="en-US" sz="1400" b="1" dirty="0">
                <a:solidFill>
                  <a:srgbClr val="CADCFC"/>
                </a:solidFill>
                <a:latin typeface="Calibri" pitchFamily="34" charset="0"/>
                <a:ea typeface="Calibri" pitchFamily="34" charset="-122"/>
                <a:cs typeface="Calibri" pitchFamily="34" charset="-120"/>
              </a:rPr>
              <a:t>Venue: </a:t>
            </a:r>
            <a:pPr algn="l" indent="0" marL="0">
              <a:buNone/>
            </a:pPr>
            <a:r>
              <a:rPr lang="en-US" sz="1400" dirty="0">
                <a:solidFill>
                  <a:srgbClr val="94A3B8"/>
                </a:solidFill>
                <a:latin typeface="Calibri" pitchFamily="34" charset="0"/>
                <a:ea typeface="Calibri" pitchFamily="34" charset="-122"/>
                <a:cs typeface="Calibri" pitchFamily="34" charset="-120"/>
              </a:rPr>
              <a:t>ICML Workshop on Computational Biology, 2021</a:t>
            </a:r>
            <a:endParaRPr lang="en-US" sz="1400" dirty="0"/>
          </a:p>
        </p:txBody>
      </p:sp>
      <p:sp>
        <p:nvSpPr>
          <p:cNvPr id="8" name="Text 6"/>
          <p:cNvSpPr/>
          <p:nvPr/>
        </p:nvSpPr>
        <p:spPr>
          <a:xfrm>
            <a:off x="548640" y="3511296"/>
            <a:ext cx="8046720" cy="365760"/>
          </a:xfrm>
          <a:prstGeom prst="rect">
            <a:avLst/>
          </a:prstGeom>
          <a:noFill/>
          <a:ln/>
        </p:spPr>
        <p:txBody>
          <a:bodyPr wrap="square" rtlCol="0" anchor="ctr"/>
          <a:lstStyle/>
          <a:p>
            <a:pPr algn="l" indent="0" marL="0">
              <a:buNone/>
            </a:pPr>
            <a:r>
              <a:rPr lang="en-US" sz="1400" b="1" dirty="0">
                <a:solidFill>
                  <a:srgbClr val="CADCFC"/>
                </a:solidFill>
                <a:latin typeface="Calibri" pitchFamily="34" charset="0"/>
                <a:ea typeface="Calibri" pitchFamily="34" charset="-122"/>
                <a:cs typeface="Calibri" pitchFamily="34" charset="-120"/>
              </a:rPr>
              <a:t>Presented by: </a:t>
            </a:r>
            <a:pPr algn="l" indent="0" marL="0">
              <a:buNone/>
            </a:pPr>
            <a:r>
              <a:rPr lang="en-US" sz="1400" dirty="0">
                <a:solidFill>
                  <a:srgbClr val="94A3B8"/>
                </a:solidFill>
                <a:latin typeface="Calibri" pitchFamily="34" charset="0"/>
                <a:ea typeface="Calibri" pitchFamily="34" charset="-122"/>
                <a:cs typeface="Calibri" pitchFamily="34" charset="-120"/>
              </a:rPr>
              <a:t>Faiqa Zarar</a:t>
            </a:r>
            <a:endParaRPr lang="en-US" sz="1400" dirty="0"/>
          </a:p>
        </p:txBody>
      </p:sp>
      <p:sp>
        <p:nvSpPr>
          <p:cNvPr id="9" name="Shape 7"/>
          <p:cNvSpPr/>
          <p:nvPr/>
        </p:nvSpPr>
        <p:spPr>
          <a:xfrm>
            <a:off x="548640" y="4206240"/>
            <a:ext cx="4114800" cy="457200"/>
          </a:xfrm>
          <a:prstGeom prst="roundRect">
            <a:avLst>
              <a:gd name="adj" fmla="val 10000"/>
            </a:avLst>
          </a:prstGeom>
          <a:solidFill>
            <a:srgbClr val="4472C4">
              <a:alpha val="70000"/>
            </a:srgbClr>
          </a:solidFill>
          <a:ln/>
        </p:spPr>
      </p:sp>
      <p:sp>
        <p:nvSpPr>
          <p:cNvPr id="10" name="Text 8"/>
          <p:cNvSpPr/>
          <p:nvPr/>
        </p:nvSpPr>
        <p:spPr>
          <a:xfrm>
            <a:off x="548640" y="4206240"/>
            <a:ext cx="4114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github.com/FaiqaZarar/multigrate-multiomics</a:t>
            </a:r>
            <a:endParaRPr lang="en-US" sz="1100" dirty="0"/>
          </a:p>
        </p:txBody>
      </p:sp>
      <p:sp>
        <p:nvSpPr>
          <p:cNvPr id="11" name="Shape 9"/>
          <p:cNvSpPr/>
          <p:nvPr/>
        </p:nvSpPr>
        <p:spPr>
          <a:xfrm>
            <a:off x="0" y="5052060"/>
            <a:ext cx="9144000" cy="91440"/>
          </a:xfrm>
          <a:prstGeom prst="rect">
            <a:avLst/>
          </a:prstGeom>
          <a:solidFill>
            <a:srgbClr val="4472C4"/>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1E2761"/>
          </a:solidFill>
          <a:ln/>
        </p:spPr>
      </p:sp>
      <p:sp>
        <p:nvSpPr>
          <p:cNvPr id="3" name="Text 1"/>
          <p:cNvSpPr/>
          <p:nvPr/>
        </p:nvSpPr>
        <p:spPr>
          <a:xfrm>
            <a:off x="457200" y="164592"/>
            <a:ext cx="8229600" cy="594360"/>
          </a:xfrm>
          <a:prstGeom prst="rect">
            <a:avLst/>
          </a:prstGeom>
          <a:noFill/>
          <a:ln/>
        </p:spPr>
        <p:txBody>
          <a:bodyPr wrap="square" lIns="0" tIns="0" rIns="0" bIns="0" rtlCol="0" anchor="ctr"/>
          <a:lstStyle/>
          <a:p>
            <a:pPr algn="l" indent="0" marL="0">
              <a:buNone/>
            </a:pPr>
            <a:r>
              <a:rPr lang="en-US" sz="3000" b="1" dirty="0">
                <a:solidFill>
                  <a:srgbClr val="1E2761"/>
                </a:solidFill>
                <a:latin typeface="Calibri" pitchFamily="34" charset="0"/>
                <a:ea typeface="Calibri" pitchFamily="34" charset="-122"/>
                <a:cs typeface="Calibri" pitchFamily="34" charset="-120"/>
              </a:rPr>
              <a:t>What is Single-Cell Multi-Omics?</a:t>
            </a:r>
            <a:endParaRPr lang="en-US" sz="3000" dirty="0"/>
          </a:p>
        </p:txBody>
      </p:sp>
      <p:sp>
        <p:nvSpPr>
          <p:cNvPr id="4" name="Shape 2"/>
          <p:cNvSpPr/>
          <p:nvPr/>
        </p:nvSpPr>
        <p:spPr>
          <a:xfrm>
            <a:off x="274320" y="960120"/>
            <a:ext cx="2743200" cy="3474720"/>
          </a:xfrm>
          <a:prstGeom prst="rect">
            <a:avLst/>
          </a:prstGeom>
          <a:solidFill>
            <a:srgbClr val="F4F7FC"/>
          </a:solidFill>
          <a:ln/>
          <a:effectLst>
            <a:outerShdw sx="100000" sy="100000" kx="0" ky="0" algn="bl" rotWithShape="0" blurRad="101600" dist="25400" dir="8100000">
              <a:srgbClr val="000000">
                <a:alpha val="10000"/>
              </a:srgbClr>
            </a:outerShdw>
          </a:effectLst>
        </p:spPr>
      </p:sp>
      <p:sp>
        <p:nvSpPr>
          <p:cNvPr id="5" name="Text 3"/>
          <p:cNvSpPr/>
          <p:nvPr/>
        </p:nvSpPr>
        <p:spPr>
          <a:xfrm>
            <a:off x="1280160" y="1097280"/>
            <a:ext cx="731520" cy="731520"/>
          </a:xfrm>
          <a:prstGeom prst="rect">
            <a:avLst/>
          </a:prstGeom>
          <a:noFill/>
          <a:ln/>
        </p:spPr>
        <p:txBody>
          <a:bodyPr wrap="square" rtlCol="0" anchor="ctr"/>
          <a:lstStyle/>
          <a:p>
            <a:pPr algn="ctr" indent="0" marL="0">
              <a:buNone/>
            </a:pPr>
            <a:r>
              <a:rPr lang="en-US" sz="3200" dirty="0">
                <a:solidFill>
                  <a:srgbClr val="000000"/>
                </a:solidFill>
              </a:rPr>
              <a:t>🧬</a:t>
            </a:r>
            <a:endParaRPr lang="en-US" sz="3200" dirty="0"/>
          </a:p>
        </p:txBody>
      </p:sp>
      <p:sp>
        <p:nvSpPr>
          <p:cNvPr id="6" name="Text 4"/>
          <p:cNvSpPr/>
          <p:nvPr/>
        </p:nvSpPr>
        <p:spPr>
          <a:xfrm>
            <a:off x="411480" y="1920240"/>
            <a:ext cx="2468880" cy="457200"/>
          </a:xfrm>
          <a:prstGeom prst="rect">
            <a:avLst/>
          </a:prstGeom>
          <a:noFill/>
          <a:ln/>
        </p:spPr>
        <p:txBody>
          <a:bodyPr wrap="square" rtlCol="0" anchor="ctr"/>
          <a:lstStyle/>
          <a:p>
            <a:pPr algn="ctr" indent="0" marL="0">
              <a:buNone/>
            </a:pPr>
            <a:r>
              <a:rPr lang="en-US" sz="1700" b="1" dirty="0">
                <a:solidFill>
                  <a:srgbClr val="1E2761"/>
                </a:solidFill>
                <a:latin typeface="Calibri" pitchFamily="34" charset="0"/>
                <a:ea typeface="Calibri" pitchFamily="34" charset="-122"/>
                <a:cs typeface="Calibri" pitchFamily="34" charset="-120"/>
              </a:rPr>
              <a:t>RNA-seq</a:t>
            </a:r>
            <a:endParaRPr lang="en-US" sz="1700" dirty="0"/>
          </a:p>
        </p:txBody>
      </p:sp>
      <p:sp>
        <p:nvSpPr>
          <p:cNvPr id="7" name="Text 5"/>
          <p:cNvSpPr/>
          <p:nvPr/>
        </p:nvSpPr>
        <p:spPr>
          <a:xfrm>
            <a:off x="411480" y="2423160"/>
            <a:ext cx="2468880" cy="1828800"/>
          </a:xfrm>
          <a:prstGeom prst="rect">
            <a:avLst/>
          </a:prstGeom>
          <a:noFill/>
          <a:ln/>
        </p:spPr>
        <p:txBody>
          <a:bodyPr wrap="square" rtlCol="0" anchor="ctr"/>
          <a:lstStyle/>
          <a:p>
            <a:pPr algn="l" indent="0" marL="0">
              <a:buNone/>
            </a:pPr>
            <a:r>
              <a:rPr lang="en-US" sz="1300" dirty="0">
                <a:solidFill>
                  <a:srgbClr val="1E293B"/>
                </a:solidFill>
                <a:latin typeface="Calibri" pitchFamily="34" charset="0"/>
                <a:ea typeface="Calibri" pitchFamily="34" charset="-122"/>
                <a:cs typeface="Calibri" pitchFamily="34" charset="-120"/>
              </a:rPr>
              <a:t>Measures which genes are active in each cell — a snapshot of gene expression at one moment in time.</a:t>
            </a:r>
            <a:endParaRPr lang="en-US" sz="1300" dirty="0"/>
          </a:p>
        </p:txBody>
      </p:sp>
      <p:sp>
        <p:nvSpPr>
          <p:cNvPr id="8" name="Shape 6"/>
          <p:cNvSpPr/>
          <p:nvPr/>
        </p:nvSpPr>
        <p:spPr>
          <a:xfrm>
            <a:off x="3291840" y="960120"/>
            <a:ext cx="2743200" cy="3474720"/>
          </a:xfrm>
          <a:prstGeom prst="rect">
            <a:avLst/>
          </a:prstGeom>
          <a:solidFill>
            <a:srgbClr val="F4F7FC"/>
          </a:solidFill>
          <a:ln/>
          <a:effectLst>
            <a:outerShdw sx="100000" sy="100000" kx="0" ky="0" algn="bl" rotWithShape="0" blurRad="101600" dist="25400" dir="8100000">
              <a:srgbClr val="000000">
                <a:alpha val="10000"/>
              </a:srgbClr>
            </a:outerShdw>
          </a:effectLst>
        </p:spPr>
      </p:sp>
      <p:sp>
        <p:nvSpPr>
          <p:cNvPr id="9" name="Text 7"/>
          <p:cNvSpPr/>
          <p:nvPr/>
        </p:nvSpPr>
        <p:spPr>
          <a:xfrm>
            <a:off x="4297680" y="1097280"/>
            <a:ext cx="731520" cy="731520"/>
          </a:xfrm>
          <a:prstGeom prst="rect">
            <a:avLst/>
          </a:prstGeom>
          <a:noFill/>
          <a:ln/>
        </p:spPr>
        <p:txBody>
          <a:bodyPr wrap="square" rtlCol="0" anchor="ctr"/>
          <a:lstStyle/>
          <a:p>
            <a:pPr algn="ctr" indent="0" marL="0">
              <a:buNone/>
            </a:pPr>
            <a:r>
              <a:rPr lang="en-US" sz="3200" dirty="0">
                <a:solidFill>
                  <a:srgbClr val="000000"/>
                </a:solidFill>
              </a:rPr>
              <a:t>🔬</a:t>
            </a:r>
            <a:endParaRPr lang="en-US" sz="3200" dirty="0"/>
          </a:p>
        </p:txBody>
      </p:sp>
      <p:sp>
        <p:nvSpPr>
          <p:cNvPr id="10" name="Text 8"/>
          <p:cNvSpPr/>
          <p:nvPr/>
        </p:nvSpPr>
        <p:spPr>
          <a:xfrm>
            <a:off x="3429000" y="1920240"/>
            <a:ext cx="2468880" cy="457200"/>
          </a:xfrm>
          <a:prstGeom prst="rect">
            <a:avLst/>
          </a:prstGeom>
          <a:noFill/>
          <a:ln/>
        </p:spPr>
        <p:txBody>
          <a:bodyPr wrap="square" rtlCol="0" anchor="ctr"/>
          <a:lstStyle/>
          <a:p>
            <a:pPr algn="ctr" indent="0" marL="0">
              <a:buNone/>
            </a:pPr>
            <a:r>
              <a:rPr lang="en-US" sz="1700" b="1" dirty="0">
                <a:solidFill>
                  <a:srgbClr val="1E2761"/>
                </a:solidFill>
                <a:latin typeface="Calibri" pitchFamily="34" charset="0"/>
                <a:ea typeface="Calibri" pitchFamily="34" charset="-122"/>
                <a:cs typeface="Calibri" pitchFamily="34" charset="-120"/>
              </a:rPr>
              <a:t>CITE-seq</a:t>
            </a:r>
            <a:endParaRPr lang="en-US" sz="1700" dirty="0"/>
          </a:p>
        </p:txBody>
      </p:sp>
      <p:sp>
        <p:nvSpPr>
          <p:cNvPr id="11" name="Text 9"/>
          <p:cNvSpPr/>
          <p:nvPr/>
        </p:nvSpPr>
        <p:spPr>
          <a:xfrm>
            <a:off x="3429000" y="2423160"/>
            <a:ext cx="2468880" cy="1828800"/>
          </a:xfrm>
          <a:prstGeom prst="rect">
            <a:avLst/>
          </a:prstGeom>
          <a:noFill/>
          <a:ln/>
        </p:spPr>
        <p:txBody>
          <a:bodyPr wrap="square" rtlCol="0" anchor="ctr"/>
          <a:lstStyle/>
          <a:p>
            <a:pPr algn="l" indent="0" marL="0">
              <a:buNone/>
            </a:pPr>
            <a:r>
              <a:rPr lang="en-US" sz="1300" dirty="0">
                <a:solidFill>
                  <a:srgbClr val="1E293B"/>
                </a:solidFill>
                <a:latin typeface="Calibri" pitchFamily="34" charset="0"/>
                <a:ea typeface="Calibri" pitchFamily="34" charset="-122"/>
                <a:cs typeface="Calibri" pitchFamily="34" charset="-120"/>
              </a:rPr>
              <a:t>Simultaneously measures gene expression AND surface proteins on the same cell using antibody tags.</a:t>
            </a:r>
            <a:endParaRPr lang="en-US" sz="1300" dirty="0"/>
          </a:p>
        </p:txBody>
      </p:sp>
      <p:sp>
        <p:nvSpPr>
          <p:cNvPr id="12" name="Shape 10"/>
          <p:cNvSpPr/>
          <p:nvPr/>
        </p:nvSpPr>
        <p:spPr>
          <a:xfrm>
            <a:off x="6309360" y="960120"/>
            <a:ext cx="2743200" cy="3474720"/>
          </a:xfrm>
          <a:prstGeom prst="rect">
            <a:avLst/>
          </a:prstGeom>
          <a:solidFill>
            <a:srgbClr val="F4F7FC"/>
          </a:solidFill>
          <a:ln/>
          <a:effectLst>
            <a:outerShdw sx="100000" sy="100000" kx="0" ky="0" algn="bl" rotWithShape="0" blurRad="101600" dist="25400" dir="8100000">
              <a:srgbClr val="000000">
                <a:alpha val="10000"/>
              </a:srgbClr>
            </a:outerShdw>
          </a:effectLst>
        </p:spPr>
      </p:sp>
      <p:sp>
        <p:nvSpPr>
          <p:cNvPr id="13" name="Text 11"/>
          <p:cNvSpPr/>
          <p:nvPr/>
        </p:nvSpPr>
        <p:spPr>
          <a:xfrm>
            <a:off x="7315200" y="1097280"/>
            <a:ext cx="731520" cy="731520"/>
          </a:xfrm>
          <a:prstGeom prst="rect">
            <a:avLst/>
          </a:prstGeom>
          <a:noFill/>
          <a:ln/>
        </p:spPr>
        <p:txBody>
          <a:bodyPr wrap="square" rtlCol="0" anchor="ctr"/>
          <a:lstStyle/>
          <a:p>
            <a:pPr algn="ctr" indent="0" marL="0">
              <a:buNone/>
            </a:pPr>
            <a:r>
              <a:rPr lang="en-US" sz="3200" dirty="0">
                <a:solidFill>
                  <a:srgbClr val="000000"/>
                </a:solidFill>
              </a:rPr>
              <a:t>🔓</a:t>
            </a:r>
            <a:endParaRPr lang="en-US" sz="3200" dirty="0"/>
          </a:p>
        </p:txBody>
      </p:sp>
      <p:sp>
        <p:nvSpPr>
          <p:cNvPr id="14" name="Text 12"/>
          <p:cNvSpPr/>
          <p:nvPr/>
        </p:nvSpPr>
        <p:spPr>
          <a:xfrm>
            <a:off x="6446520" y="1920240"/>
            <a:ext cx="2468880" cy="457200"/>
          </a:xfrm>
          <a:prstGeom prst="rect">
            <a:avLst/>
          </a:prstGeom>
          <a:noFill/>
          <a:ln/>
        </p:spPr>
        <p:txBody>
          <a:bodyPr wrap="square" rtlCol="0" anchor="ctr"/>
          <a:lstStyle/>
          <a:p>
            <a:pPr algn="ctr" indent="0" marL="0">
              <a:buNone/>
            </a:pPr>
            <a:r>
              <a:rPr lang="en-US" sz="1700" b="1" dirty="0">
                <a:solidFill>
                  <a:srgbClr val="1E2761"/>
                </a:solidFill>
                <a:latin typeface="Calibri" pitchFamily="34" charset="0"/>
                <a:ea typeface="Calibri" pitchFamily="34" charset="-122"/>
                <a:cs typeface="Calibri" pitchFamily="34" charset="-120"/>
              </a:rPr>
              <a:t>ATAC-seq</a:t>
            </a:r>
            <a:endParaRPr lang="en-US" sz="1700" dirty="0"/>
          </a:p>
        </p:txBody>
      </p:sp>
      <p:sp>
        <p:nvSpPr>
          <p:cNvPr id="15" name="Text 13"/>
          <p:cNvSpPr/>
          <p:nvPr/>
        </p:nvSpPr>
        <p:spPr>
          <a:xfrm>
            <a:off x="6446520" y="2423160"/>
            <a:ext cx="2468880" cy="1828800"/>
          </a:xfrm>
          <a:prstGeom prst="rect">
            <a:avLst/>
          </a:prstGeom>
          <a:noFill/>
          <a:ln/>
        </p:spPr>
        <p:txBody>
          <a:bodyPr wrap="square" rtlCol="0" anchor="ctr"/>
          <a:lstStyle/>
          <a:p>
            <a:pPr algn="l" indent="0" marL="0">
              <a:buNone/>
            </a:pPr>
            <a:r>
              <a:rPr lang="en-US" sz="1300" dirty="0">
                <a:solidFill>
                  <a:srgbClr val="1E293B"/>
                </a:solidFill>
                <a:latin typeface="Calibri" pitchFamily="34" charset="0"/>
                <a:ea typeface="Calibri" pitchFamily="34" charset="-122"/>
                <a:cs typeface="Calibri" pitchFamily="34" charset="-120"/>
              </a:rPr>
              <a:t>Measures chromatin accessibility — which DNA regions are open for transcription factor binding.</a:t>
            </a:r>
            <a:endParaRPr lang="en-US" sz="1300" dirty="0"/>
          </a:p>
        </p:txBody>
      </p:sp>
      <p:sp>
        <p:nvSpPr>
          <p:cNvPr id="16" name="Shape 14"/>
          <p:cNvSpPr/>
          <p:nvPr/>
        </p:nvSpPr>
        <p:spPr>
          <a:xfrm>
            <a:off x="274320" y="4617720"/>
            <a:ext cx="8595360" cy="384048"/>
          </a:xfrm>
          <a:prstGeom prst="rect">
            <a:avLst/>
          </a:prstGeom>
          <a:solidFill>
            <a:srgbClr val="1E2761"/>
          </a:solidFill>
          <a:ln/>
        </p:spPr>
      </p:sp>
      <p:sp>
        <p:nvSpPr>
          <p:cNvPr id="17" name="Text 15"/>
          <p:cNvSpPr/>
          <p:nvPr/>
        </p:nvSpPr>
        <p:spPr>
          <a:xfrm>
            <a:off x="274320" y="4617720"/>
            <a:ext cx="8595360" cy="384048"/>
          </a:xfrm>
          <a:prstGeom prst="rect">
            <a:avLst/>
          </a:prstGeom>
          <a:noFill/>
          <a:ln/>
        </p:spPr>
        <p:txBody>
          <a:bodyPr wrap="square"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  Multi-omics gives a holistic view of cells — but combining these datasets computationally is a major challenge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1E2761"/>
          </a:solidFill>
          <a:ln/>
        </p:spPr>
      </p:sp>
      <p:sp>
        <p:nvSpPr>
          <p:cNvPr id="3" name="Text 1"/>
          <p:cNvSpPr/>
          <p:nvPr/>
        </p:nvSpPr>
        <p:spPr>
          <a:xfrm>
            <a:off x="457200" y="164592"/>
            <a:ext cx="8229600" cy="594360"/>
          </a:xfrm>
          <a:prstGeom prst="rect">
            <a:avLst/>
          </a:prstGeom>
          <a:noFill/>
          <a:ln/>
        </p:spPr>
        <p:txBody>
          <a:bodyPr wrap="square" lIns="0" tIns="0" rIns="0" bIns="0" rtlCol="0" anchor="ctr"/>
          <a:lstStyle/>
          <a:p>
            <a:pPr algn="l" indent="0" marL="0">
              <a:buNone/>
            </a:pPr>
            <a:r>
              <a:rPr lang="en-US" sz="3000" b="1" dirty="0">
                <a:solidFill>
                  <a:srgbClr val="1E2761"/>
                </a:solidFill>
                <a:latin typeface="Calibri" pitchFamily="34" charset="0"/>
                <a:ea typeface="Calibri" pitchFamily="34" charset="-122"/>
                <a:cs typeface="Calibri" pitchFamily="34" charset="-120"/>
              </a:rPr>
              <a:t>The Core Challenges</a:t>
            </a:r>
            <a:endParaRPr lang="en-US" sz="3000" dirty="0"/>
          </a:p>
        </p:txBody>
      </p:sp>
      <p:sp>
        <p:nvSpPr>
          <p:cNvPr id="4" name="Shape 2"/>
          <p:cNvSpPr/>
          <p:nvPr/>
        </p:nvSpPr>
        <p:spPr>
          <a:xfrm>
            <a:off x="274320" y="914400"/>
            <a:ext cx="502920" cy="1097280"/>
          </a:xfrm>
          <a:prstGeom prst="rect">
            <a:avLst/>
          </a:prstGeom>
          <a:solidFill>
            <a:srgbClr val="4472C4"/>
          </a:solidFill>
          <a:ln/>
        </p:spPr>
      </p:sp>
      <p:sp>
        <p:nvSpPr>
          <p:cNvPr id="5" name="Text 3"/>
          <p:cNvSpPr/>
          <p:nvPr/>
        </p:nvSpPr>
        <p:spPr>
          <a:xfrm>
            <a:off x="274320" y="914400"/>
            <a:ext cx="502920" cy="1097280"/>
          </a:xfrm>
          <a:prstGeom prst="rect">
            <a:avLst/>
          </a:prstGeom>
          <a:noFill/>
          <a:ln/>
        </p:spPr>
        <p:txBody>
          <a:bodyPr wrap="square" rtlCol="0" anchor="ctr"/>
          <a:lstStyle/>
          <a:p>
            <a:pPr algn="ctr" indent="0" marL="0">
              <a:buNone/>
            </a:pPr>
            <a:r>
              <a:rPr lang="en-US" sz="2200" b="1" dirty="0">
                <a:solidFill>
                  <a:srgbClr val="FFFFFF"/>
                </a:solidFill>
              </a:rPr>
              <a:t>01</a:t>
            </a:r>
            <a:endParaRPr lang="en-US" sz="2200" dirty="0"/>
          </a:p>
        </p:txBody>
      </p:sp>
      <p:sp>
        <p:nvSpPr>
          <p:cNvPr id="6" name="Shape 4"/>
          <p:cNvSpPr/>
          <p:nvPr/>
        </p:nvSpPr>
        <p:spPr>
          <a:xfrm>
            <a:off x="804672" y="914400"/>
            <a:ext cx="8046720" cy="1097280"/>
          </a:xfrm>
          <a:prstGeom prst="rect">
            <a:avLst/>
          </a:prstGeom>
          <a:solidFill>
            <a:srgbClr val="F4F7FC"/>
          </a:solidFill>
          <a:ln/>
        </p:spPr>
      </p:sp>
      <p:sp>
        <p:nvSpPr>
          <p:cNvPr id="7" name="Text 5"/>
          <p:cNvSpPr/>
          <p:nvPr/>
        </p:nvSpPr>
        <p:spPr>
          <a:xfrm>
            <a:off x="914400" y="987552"/>
            <a:ext cx="7772400" cy="32004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Batch Effects</a:t>
            </a:r>
            <a:endParaRPr lang="en-US" sz="1600" dirty="0"/>
          </a:p>
        </p:txBody>
      </p:sp>
      <p:sp>
        <p:nvSpPr>
          <p:cNvPr id="8" name="Text 6"/>
          <p:cNvSpPr/>
          <p:nvPr/>
        </p:nvSpPr>
        <p:spPr>
          <a:xfrm>
            <a:off x="914400" y="1298448"/>
            <a:ext cx="7772400" cy="457200"/>
          </a:xfrm>
          <a:prstGeom prst="rect">
            <a:avLst/>
          </a:prstGeom>
          <a:noFill/>
          <a:ln/>
        </p:spPr>
        <p:txBody>
          <a:bodyPr wrap="square" rtlCol="0" anchor="ctr"/>
          <a:lstStyle/>
          <a:p>
            <a:pPr indent="0" marL="0">
              <a:buNone/>
            </a:pPr>
            <a:r>
              <a:rPr lang="en-US" sz="1200" dirty="0">
                <a:solidFill>
                  <a:srgbClr val="1E293B"/>
                </a:solidFill>
                <a:latin typeface="Calibri" pitchFamily="34" charset="0"/>
                <a:ea typeface="Calibri" pitchFamily="34" charset="-122"/>
                <a:cs typeface="Calibri" pitchFamily="34" charset="-120"/>
              </a:rPr>
              <a:t>The same cell type measured in two different labs produces slightly different numbers due to differences in reagents, machines, and protocols. These technical differences must be removed without destroying real biology.</a:t>
            </a:r>
            <a:endParaRPr lang="en-US" sz="1200" dirty="0"/>
          </a:p>
        </p:txBody>
      </p:sp>
      <p:sp>
        <p:nvSpPr>
          <p:cNvPr id="9" name="Text 7"/>
          <p:cNvSpPr/>
          <p:nvPr/>
        </p:nvSpPr>
        <p:spPr>
          <a:xfrm>
            <a:off x="914400" y="1719072"/>
            <a:ext cx="7772400" cy="256032"/>
          </a:xfrm>
          <a:prstGeom prst="rect">
            <a:avLst/>
          </a:prstGeom>
          <a:noFill/>
          <a:ln/>
        </p:spPr>
        <p:txBody>
          <a:bodyPr wrap="square"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eg: Site A T-cell ≠ Site B T-cell numerically — even though biologically identical</a:t>
            </a:r>
            <a:endParaRPr lang="en-US" sz="1050" dirty="0"/>
          </a:p>
        </p:txBody>
      </p:sp>
      <p:sp>
        <p:nvSpPr>
          <p:cNvPr id="10" name="Shape 8"/>
          <p:cNvSpPr/>
          <p:nvPr/>
        </p:nvSpPr>
        <p:spPr>
          <a:xfrm>
            <a:off x="274320" y="2212848"/>
            <a:ext cx="502920" cy="1097280"/>
          </a:xfrm>
          <a:prstGeom prst="rect">
            <a:avLst/>
          </a:prstGeom>
          <a:solidFill>
            <a:srgbClr val="E05252"/>
          </a:solidFill>
          <a:ln/>
        </p:spPr>
      </p:sp>
      <p:sp>
        <p:nvSpPr>
          <p:cNvPr id="11" name="Text 9"/>
          <p:cNvSpPr/>
          <p:nvPr/>
        </p:nvSpPr>
        <p:spPr>
          <a:xfrm>
            <a:off x="274320" y="2212848"/>
            <a:ext cx="502920" cy="1097280"/>
          </a:xfrm>
          <a:prstGeom prst="rect">
            <a:avLst/>
          </a:prstGeom>
          <a:noFill/>
          <a:ln/>
        </p:spPr>
        <p:txBody>
          <a:bodyPr wrap="square" rtlCol="0" anchor="ctr"/>
          <a:lstStyle/>
          <a:p>
            <a:pPr algn="ctr" indent="0" marL="0">
              <a:buNone/>
            </a:pPr>
            <a:r>
              <a:rPr lang="en-US" sz="2200" b="1" dirty="0">
                <a:solidFill>
                  <a:srgbClr val="FFFFFF"/>
                </a:solidFill>
              </a:rPr>
              <a:t>02</a:t>
            </a:r>
            <a:endParaRPr lang="en-US" sz="2200" dirty="0"/>
          </a:p>
        </p:txBody>
      </p:sp>
      <p:sp>
        <p:nvSpPr>
          <p:cNvPr id="12" name="Shape 10"/>
          <p:cNvSpPr/>
          <p:nvPr/>
        </p:nvSpPr>
        <p:spPr>
          <a:xfrm>
            <a:off x="804672" y="2212848"/>
            <a:ext cx="8046720" cy="1097280"/>
          </a:xfrm>
          <a:prstGeom prst="rect">
            <a:avLst/>
          </a:prstGeom>
          <a:solidFill>
            <a:srgbClr val="F4F7FC"/>
          </a:solidFill>
          <a:ln/>
        </p:spPr>
      </p:sp>
      <p:sp>
        <p:nvSpPr>
          <p:cNvPr id="13" name="Text 11"/>
          <p:cNvSpPr/>
          <p:nvPr/>
        </p:nvSpPr>
        <p:spPr>
          <a:xfrm>
            <a:off x="914400" y="2286000"/>
            <a:ext cx="7772400" cy="32004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Missing Modalities</a:t>
            </a:r>
            <a:endParaRPr lang="en-US" sz="1600" dirty="0"/>
          </a:p>
        </p:txBody>
      </p:sp>
      <p:sp>
        <p:nvSpPr>
          <p:cNvPr id="14" name="Text 12"/>
          <p:cNvSpPr/>
          <p:nvPr/>
        </p:nvSpPr>
        <p:spPr>
          <a:xfrm>
            <a:off x="914400" y="2596896"/>
            <a:ext cx="7772400" cy="457200"/>
          </a:xfrm>
          <a:prstGeom prst="rect">
            <a:avLst/>
          </a:prstGeom>
          <a:noFill/>
          <a:ln/>
        </p:spPr>
        <p:txBody>
          <a:bodyPr wrap="square" rtlCol="0" anchor="ctr"/>
          <a:lstStyle/>
          <a:p>
            <a:pPr indent="0" marL="0">
              <a:buNone/>
            </a:pPr>
            <a:r>
              <a:rPr lang="en-US" sz="1200" dirty="0">
                <a:solidFill>
                  <a:srgbClr val="1E293B"/>
                </a:solidFill>
                <a:latin typeface="Calibri" pitchFamily="34" charset="0"/>
                <a:ea typeface="Calibri" pitchFamily="34" charset="-122"/>
                <a:cs typeface="Calibri" pitchFamily="34" charset="-120"/>
              </a:rPr>
              <a:t>Not every cell has every measurement. One dataset may have RNA + protein; another only RNA. Methods that require complete data across all modalities throw away most real-world datasets.</a:t>
            </a:r>
            <a:endParaRPr lang="en-US" sz="1200" dirty="0"/>
          </a:p>
        </p:txBody>
      </p:sp>
      <p:sp>
        <p:nvSpPr>
          <p:cNvPr id="15" name="Text 13"/>
          <p:cNvSpPr/>
          <p:nvPr/>
        </p:nvSpPr>
        <p:spPr>
          <a:xfrm>
            <a:off x="914400" y="3017520"/>
            <a:ext cx="7772400" cy="256032"/>
          </a:xfrm>
          <a:prstGeom prst="rect">
            <a:avLst/>
          </a:prstGeom>
          <a:noFill/>
          <a:ln/>
        </p:spPr>
        <p:txBody>
          <a:bodyPr wrap="square"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eg: 10,000 cells with RNA only + 5,000 cells with RNA &amp; protein = integration challenge</a:t>
            </a:r>
            <a:endParaRPr lang="en-US" sz="1050" dirty="0"/>
          </a:p>
        </p:txBody>
      </p:sp>
      <p:sp>
        <p:nvSpPr>
          <p:cNvPr id="16" name="Shape 14"/>
          <p:cNvSpPr/>
          <p:nvPr/>
        </p:nvSpPr>
        <p:spPr>
          <a:xfrm>
            <a:off x="274320" y="3511296"/>
            <a:ext cx="502920" cy="1097280"/>
          </a:xfrm>
          <a:prstGeom prst="rect">
            <a:avLst/>
          </a:prstGeom>
          <a:solidFill>
            <a:srgbClr val="16A34A"/>
          </a:solidFill>
          <a:ln/>
        </p:spPr>
      </p:sp>
      <p:sp>
        <p:nvSpPr>
          <p:cNvPr id="17" name="Text 15"/>
          <p:cNvSpPr/>
          <p:nvPr/>
        </p:nvSpPr>
        <p:spPr>
          <a:xfrm>
            <a:off x="274320" y="3511296"/>
            <a:ext cx="502920" cy="1097280"/>
          </a:xfrm>
          <a:prstGeom prst="rect">
            <a:avLst/>
          </a:prstGeom>
          <a:noFill/>
          <a:ln/>
        </p:spPr>
        <p:txBody>
          <a:bodyPr wrap="square" rtlCol="0" anchor="ctr"/>
          <a:lstStyle/>
          <a:p>
            <a:pPr algn="ctr" indent="0" marL="0">
              <a:buNone/>
            </a:pPr>
            <a:r>
              <a:rPr lang="en-US" sz="2200" b="1" dirty="0">
                <a:solidFill>
                  <a:srgbClr val="FFFFFF"/>
                </a:solidFill>
              </a:rPr>
              <a:t>03</a:t>
            </a:r>
            <a:endParaRPr lang="en-US" sz="2200" dirty="0"/>
          </a:p>
        </p:txBody>
      </p:sp>
      <p:sp>
        <p:nvSpPr>
          <p:cNvPr id="18" name="Shape 16"/>
          <p:cNvSpPr/>
          <p:nvPr/>
        </p:nvSpPr>
        <p:spPr>
          <a:xfrm>
            <a:off x="804672" y="3511296"/>
            <a:ext cx="8046720" cy="1097280"/>
          </a:xfrm>
          <a:prstGeom prst="rect">
            <a:avLst/>
          </a:prstGeom>
          <a:solidFill>
            <a:srgbClr val="F4F7FC"/>
          </a:solidFill>
          <a:ln/>
        </p:spPr>
      </p:sp>
      <p:sp>
        <p:nvSpPr>
          <p:cNvPr id="19" name="Text 17"/>
          <p:cNvSpPr/>
          <p:nvPr/>
        </p:nvSpPr>
        <p:spPr>
          <a:xfrm>
            <a:off x="914400" y="3584448"/>
            <a:ext cx="7772400" cy="320040"/>
          </a:xfrm>
          <a:prstGeom prst="rect">
            <a:avLst/>
          </a:prstGeom>
          <a:noFill/>
          <a:ln/>
        </p:spPr>
        <p:txBody>
          <a:bodyPr wrap="square" lIns="0" tIns="0" rIns="0" bIns="0"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Non-overlapping Features</a:t>
            </a:r>
            <a:endParaRPr lang="en-US" sz="1600" dirty="0"/>
          </a:p>
        </p:txBody>
      </p:sp>
      <p:sp>
        <p:nvSpPr>
          <p:cNvPr id="20" name="Text 18"/>
          <p:cNvSpPr/>
          <p:nvPr/>
        </p:nvSpPr>
        <p:spPr>
          <a:xfrm>
            <a:off x="914400" y="3895344"/>
            <a:ext cx="7772400" cy="457200"/>
          </a:xfrm>
          <a:prstGeom prst="rect">
            <a:avLst/>
          </a:prstGeom>
          <a:noFill/>
          <a:ln/>
        </p:spPr>
        <p:txBody>
          <a:bodyPr wrap="square" rtlCol="0" anchor="ctr"/>
          <a:lstStyle/>
          <a:p>
            <a:pPr indent="0" marL="0">
              <a:buNone/>
            </a:pPr>
            <a:r>
              <a:rPr lang="en-US" sz="1200" dirty="0">
                <a:solidFill>
                  <a:srgbClr val="1E293B"/>
                </a:solidFill>
                <a:latin typeface="Calibri" pitchFamily="34" charset="0"/>
                <a:ea typeface="Calibri" pitchFamily="34" charset="-122"/>
                <a:cs typeface="Calibri" pitchFamily="34" charset="-120"/>
              </a:rPr>
              <a:t>Different experiments may measure different genes or proteins. A method that assumes all datasets share exactly the same features cannot handle the diversity of real multi-omic studies.</a:t>
            </a:r>
            <a:endParaRPr lang="en-US" sz="1200" dirty="0"/>
          </a:p>
        </p:txBody>
      </p:sp>
      <p:sp>
        <p:nvSpPr>
          <p:cNvPr id="21" name="Text 19"/>
          <p:cNvSpPr/>
          <p:nvPr/>
        </p:nvSpPr>
        <p:spPr>
          <a:xfrm>
            <a:off x="914400" y="4315968"/>
            <a:ext cx="7772400" cy="256032"/>
          </a:xfrm>
          <a:prstGeom prst="rect">
            <a:avLst/>
          </a:prstGeom>
          <a:noFill/>
          <a:ln/>
        </p:spPr>
        <p:txBody>
          <a:bodyPr wrap="square" rtlCol="0" anchor="ctr"/>
          <a:lstStyle/>
          <a:p>
            <a:pPr indent="0" marL="0">
              <a:buNone/>
            </a:pPr>
            <a:r>
              <a:rPr lang="en-US" sz="1050" i="1" dirty="0">
                <a:solidFill>
                  <a:srgbClr val="64748B"/>
                </a:solidFill>
                <a:latin typeface="Calibri" pitchFamily="34" charset="0"/>
                <a:ea typeface="Calibri" pitchFamily="34" charset="-122"/>
                <a:cs typeface="Calibri" pitchFamily="34" charset="-120"/>
              </a:rPr>
              <a:t>eg: Lab A measures 134 proteins; Lab B measures 50 different proteins — no direct match</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1E2761"/>
          </a:solidFill>
          <a:ln/>
        </p:spPr>
      </p:sp>
      <p:sp>
        <p:nvSpPr>
          <p:cNvPr id="3" name="Text 1"/>
          <p:cNvSpPr/>
          <p:nvPr/>
        </p:nvSpPr>
        <p:spPr>
          <a:xfrm>
            <a:off x="457200" y="164592"/>
            <a:ext cx="8229600" cy="594360"/>
          </a:xfrm>
          <a:prstGeom prst="rect">
            <a:avLst/>
          </a:prstGeom>
          <a:noFill/>
          <a:ln/>
        </p:spPr>
        <p:txBody>
          <a:bodyPr wrap="square" lIns="0" tIns="0" rIns="0" bIns="0" rtlCol="0" anchor="ctr"/>
          <a:lstStyle/>
          <a:p>
            <a:pPr algn="l" indent="0" marL="0">
              <a:buNone/>
            </a:pPr>
            <a:r>
              <a:rPr lang="en-US" sz="2800" b="1" dirty="0">
                <a:solidFill>
                  <a:srgbClr val="1E2761"/>
                </a:solidFill>
                <a:latin typeface="Calibri" pitchFamily="34" charset="0"/>
                <a:ea typeface="Calibri" pitchFamily="34" charset="-122"/>
                <a:cs typeface="Calibri" pitchFamily="34" charset="-120"/>
              </a:rPr>
              <a:t>Existing Methods and Their Limitations</a:t>
            </a:r>
            <a:endParaRPr lang="en-US" sz="2800" dirty="0"/>
          </a:p>
        </p:txBody>
      </p:sp>
      <p:sp>
        <p:nvSpPr>
          <p:cNvPr id="4" name="Shape 2"/>
          <p:cNvSpPr/>
          <p:nvPr/>
        </p:nvSpPr>
        <p:spPr>
          <a:xfrm>
            <a:off x="274320" y="914400"/>
            <a:ext cx="2286000" cy="411480"/>
          </a:xfrm>
          <a:prstGeom prst="rect">
            <a:avLst/>
          </a:prstGeom>
          <a:solidFill>
            <a:srgbClr val="1E2761"/>
          </a:solidFill>
          <a:ln/>
        </p:spPr>
      </p:sp>
      <p:sp>
        <p:nvSpPr>
          <p:cNvPr id="5" name="Text 3"/>
          <p:cNvSpPr/>
          <p:nvPr/>
        </p:nvSpPr>
        <p:spPr>
          <a:xfrm>
            <a:off x="320040" y="914400"/>
            <a:ext cx="2194560" cy="411480"/>
          </a:xfrm>
          <a:prstGeom prst="rect">
            <a:avLst/>
          </a:prstGeom>
          <a:noFill/>
          <a:ln/>
        </p:spPr>
        <p:txBody>
          <a:bodyPr wrap="square" rtlCol="0" anchor="ctr"/>
          <a:lstStyle/>
          <a:p>
            <a:pPr algn="ctr" indent="0" marL="0">
              <a:buNone/>
            </a:pPr>
            <a:r>
              <a:rPr lang="en-US" sz="1200" b="1" dirty="0">
                <a:solidFill>
                  <a:srgbClr val="FFFFFF"/>
                </a:solidFill>
              </a:rPr>
              <a:t>Method</a:t>
            </a:r>
            <a:endParaRPr lang="en-US" sz="1200" dirty="0"/>
          </a:p>
        </p:txBody>
      </p:sp>
      <p:sp>
        <p:nvSpPr>
          <p:cNvPr id="6" name="Shape 4"/>
          <p:cNvSpPr/>
          <p:nvPr/>
        </p:nvSpPr>
        <p:spPr>
          <a:xfrm>
            <a:off x="2560320" y="914400"/>
            <a:ext cx="2743200" cy="411480"/>
          </a:xfrm>
          <a:prstGeom prst="rect">
            <a:avLst/>
          </a:prstGeom>
          <a:solidFill>
            <a:srgbClr val="1E2761"/>
          </a:solidFill>
          <a:ln/>
        </p:spPr>
      </p:sp>
      <p:sp>
        <p:nvSpPr>
          <p:cNvPr id="7" name="Text 5"/>
          <p:cNvSpPr/>
          <p:nvPr/>
        </p:nvSpPr>
        <p:spPr>
          <a:xfrm>
            <a:off x="2606040" y="914400"/>
            <a:ext cx="2651760" cy="411480"/>
          </a:xfrm>
          <a:prstGeom prst="rect">
            <a:avLst/>
          </a:prstGeom>
          <a:noFill/>
          <a:ln/>
        </p:spPr>
        <p:txBody>
          <a:bodyPr wrap="square" rtlCol="0" anchor="ctr"/>
          <a:lstStyle/>
          <a:p>
            <a:pPr algn="ctr" indent="0" marL="0">
              <a:buNone/>
            </a:pPr>
            <a:r>
              <a:rPr lang="en-US" sz="1200" b="1" dirty="0">
                <a:solidFill>
                  <a:srgbClr val="FFFFFF"/>
                </a:solidFill>
              </a:rPr>
              <a:t>Approach</a:t>
            </a:r>
            <a:endParaRPr lang="en-US" sz="1200" dirty="0"/>
          </a:p>
        </p:txBody>
      </p:sp>
      <p:sp>
        <p:nvSpPr>
          <p:cNvPr id="8" name="Shape 6"/>
          <p:cNvSpPr/>
          <p:nvPr/>
        </p:nvSpPr>
        <p:spPr>
          <a:xfrm>
            <a:off x="5303520" y="914400"/>
            <a:ext cx="1097280" cy="411480"/>
          </a:xfrm>
          <a:prstGeom prst="rect">
            <a:avLst/>
          </a:prstGeom>
          <a:solidFill>
            <a:srgbClr val="1E2761"/>
          </a:solidFill>
          <a:ln/>
        </p:spPr>
      </p:sp>
      <p:sp>
        <p:nvSpPr>
          <p:cNvPr id="9" name="Text 7"/>
          <p:cNvSpPr/>
          <p:nvPr/>
        </p:nvSpPr>
        <p:spPr>
          <a:xfrm>
            <a:off x="5349240" y="914400"/>
            <a:ext cx="1005840" cy="411480"/>
          </a:xfrm>
          <a:prstGeom prst="rect">
            <a:avLst/>
          </a:prstGeom>
          <a:noFill/>
          <a:ln/>
        </p:spPr>
        <p:txBody>
          <a:bodyPr wrap="square" rtlCol="0" anchor="ctr"/>
          <a:lstStyle/>
          <a:p>
            <a:pPr algn="ctr" indent="0" marL="0">
              <a:buNone/>
            </a:pPr>
            <a:r>
              <a:rPr lang="en-US" sz="1200" b="1" dirty="0">
                <a:solidFill>
                  <a:srgbClr val="FFFFFF"/>
                </a:solidFill>
              </a:rPr>
              <a:t>Non-linear</a:t>
            </a:r>
            <a:endParaRPr lang="en-US" sz="1200" dirty="0"/>
          </a:p>
        </p:txBody>
      </p:sp>
      <p:sp>
        <p:nvSpPr>
          <p:cNvPr id="10" name="Shape 8"/>
          <p:cNvSpPr/>
          <p:nvPr/>
        </p:nvSpPr>
        <p:spPr>
          <a:xfrm>
            <a:off x="6400800" y="914400"/>
            <a:ext cx="1097280" cy="411480"/>
          </a:xfrm>
          <a:prstGeom prst="rect">
            <a:avLst/>
          </a:prstGeom>
          <a:solidFill>
            <a:srgbClr val="1E2761"/>
          </a:solidFill>
          <a:ln/>
        </p:spPr>
      </p:sp>
      <p:sp>
        <p:nvSpPr>
          <p:cNvPr id="11" name="Text 9"/>
          <p:cNvSpPr/>
          <p:nvPr/>
        </p:nvSpPr>
        <p:spPr>
          <a:xfrm>
            <a:off x="6446520" y="914400"/>
            <a:ext cx="1005840" cy="411480"/>
          </a:xfrm>
          <a:prstGeom prst="rect">
            <a:avLst/>
          </a:prstGeom>
          <a:noFill/>
          <a:ln/>
        </p:spPr>
        <p:txBody>
          <a:bodyPr wrap="square" rtlCol="0" anchor="ctr"/>
          <a:lstStyle/>
          <a:p>
            <a:pPr algn="ctr" indent="0" marL="0">
              <a:buNone/>
            </a:pPr>
            <a:r>
              <a:rPr lang="en-US" sz="1200" b="1" dirty="0">
                <a:solidFill>
                  <a:srgbClr val="FFFFFF"/>
                </a:solidFill>
              </a:rPr>
              <a:t>Imputation</a:t>
            </a:r>
            <a:endParaRPr lang="en-US" sz="1200" dirty="0"/>
          </a:p>
        </p:txBody>
      </p:sp>
      <p:sp>
        <p:nvSpPr>
          <p:cNvPr id="12" name="Shape 10"/>
          <p:cNvSpPr/>
          <p:nvPr/>
        </p:nvSpPr>
        <p:spPr>
          <a:xfrm>
            <a:off x="7498080" y="914400"/>
            <a:ext cx="1097280" cy="411480"/>
          </a:xfrm>
          <a:prstGeom prst="rect">
            <a:avLst/>
          </a:prstGeom>
          <a:solidFill>
            <a:srgbClr val="1E2761"/>
          </a:solidFill>
          <a:ln/>
        </p:spPr>
      </p:sp>
      <p:sp>
        <p:nvSpPr>
          <p:cNvPr id="13" name="Text 11"/>
          <p:cNvSpPr/>
          <p:nvPr/>
        </p:nvSpPr>
        <p:spPr>
          <a:xfrm>
            <a:off x="7543800" y="914400"/>
            <a:ext cx="1005840" cy="411480"/>
          </a:xfrm>
          <a:prstGeom prst="rect">
            <a:avLst/>
          </a:prstGeom>
          <a:noFill/>
          <a:ln/>
        </p:spPr>
        <p:txBody>
          <a:bodyPr wrap="square" rtlCol="0" anchor="ctr"/>
          <a:lstStyle/>
          <a:p>
            <a:pPr algn="ctr" indent="0" marL="0">
              <a:buNone/>
            </a:pPr>
            <a:r>
              <a:rPr lang="en-US" sz="1200" b="1" dirty="0">
                <a:solidFill>
                  <a:srgbClr val="FFFFFF"/>
                </a:solidFill>
              </a:rPr>
              <a:t>Any Modality</a:t>
            </a:r>
            <a:endParaRPr lang="en-US" sz="1200" dirty="0"/>
          </a:p>
        </p:txBody>
      </p:sp>
      <p:sp>
        <p:nvSpPr>
          <p:cNvPr id="14" name="Shape 12"/>
          <p:cNvSpPr/>
          <p:nvPr/>
        </p:nvSpPr>
        <p:spPr>
          <a:xfrm>
            <a:off x="274320" y="1325880"/>
            <a:ext cx="2286000" cy="621792"/>
          </a:xfrm>
          <a:prstGeom prst="rect">
            <a:avLst/>
          </a:prstGeom>
          <a:solidFill>
            <a:srgbClr val="FFFFFF"/>
          </a:solidFill>
          <a:ln w="6350">
            <a:solidFill>
              <a:srgbClr val="D1D5DB"/>
            </a:solidFill>
            <a:prstDash val="solid"/>
          </a:ln>
        </p:spPr>
      </p:sp>
      <p:sp>
        <p:nvSpPr>
          <p:cNvPr id="15" name="Text 13"/>
          <p:cNvSpPr/>
          <p:nvPr/>
        </p:nvSpPr>
        <p:spPr>
          <a:xfrm>
            <a:off x="320040" y="1325880"/>
            <a:ext cx="2194560" cy="621792"/>
          </a:xfrm>
          <a:prstGeom prst="rect">
            <a:avLst/>
          </a:prstGeom>
          <a:noFill/>
          <a:ln/>
        </p:spPr>
        <p:txBody>
          <a:bodyPr wrap="square" rtlCol="0" anchor="ctr"/>
          <a:lstStyle/>
          <a:p>
            <a:pPr algn="ctr" indent="0" marL="0">
              <a:buNone/>
            </a:pPr>
            <a:r>
              <a:rPr lang="en-US" sz="1100" dirty="0">
                <a:solidFill>
                  <a:srgbClr val="1E293B"/>
                </a:solidFill>
                <a:latin typeface="Calibri" pitchFamily="34" charset="0"/>
                <a:ea typeface="Calibri" pitchFamily="34" charset="-122"/>
                <a:cs typeface="Calibri" pitchFamily="34" charset="-120"/>
              </a:rPr>
              <a:t>MOFA+</a:t>
            </a:r>
            <a:endParaRPr lang="en-US" sz="1100" dirty="0"/>
          </a:p>
        </p:txBody>
      </p:sp>
      <p:sp>
        <p:nvSpPr>
          <p:cNvPr id="16" name="Shape 14"/>
          <p:cNvSpPr/>
          <p:nvPr/>
        </p:nvSpPr>
        <p:spPr>
          <a:xfrm>
            <a:off x="2560320" y="1325880"/>
            <a:ext cx="2743200" cy="621792"/>
          </a:xfrm>
          <a:prstGeom prst="rect">
            <a:avLst/>
          </a:prstGeom>
          <a:solidFill>
            <a:srgbClr val="FFFFFF"/>
          </a:solidFill>
          <a:ln w="6350">
            <a:solidFill>
              <a:srgbClr val="D1D5DB"/>
            </a:solidFill>
            <a:prstDash val="solid"/>
          </a:ln>
        </p:spPr>
      </p:sp>
      <p:sp>
        <p:nvSpPr>
          <p:cNvPr id="17" name="Text 15"/>
          <p:cNvSpPr/>
          <p:nvPr/>
        </p:nvSpPr>
        <p:spPr>
          <a:xfrm>
            <a:off x="2606040" y="1325880"/>
            <a:ext cx="2651760" cy="621792"/>
          </a:xfrm>
          <a:prstGeom prst="rect">
            <a:avLst/>
          </a:prstGeom>
          <a:noFill/>
          <a:ln/>
        </p:spPr>
        <p:txBody>
          <a:bodyPr wrap="square" rtlCol="0" anchor="ctr"/>
          <a:lstStyle/>
          <a:p>
            <a:pPr algn="ctr" indent="0" marL="0">
              <a:buNone/>
            </a:pPr>
            <a:r>
              <a:rPr lang="en-US" sz="1100" dirty="0">
                <a:solidFill>
                  <a:srgbClr val="1E293B"/>
                </a:solidFill>
                <a:latin typeface="Calibri" pitchFamily="34" charset="0"/>
                <a:ea typeface="Calibri" pitchFamily="34" charset="-122"/>
                <a:cs typeface="Calibri" pitchFamily="34" charset="-120"/>
              </a:rPr>
              <a:t>Linear factor model — decomposes multi-omic data into shared factors</a:t>
            </a:r>
            <a:endParaRPr lang="en-US" sz="1100" dirty="0"/>
          </a:p>
        </p:txBody>
      </p:sp>
      <p:sp>
        <p:nvSpPr>
          <p:cNvPr id="18" name="Shape 16"/>
          <p:cNvSpPr/>
          <p:nvPr/>
        </p:nvSpPr>
        <p:spPr>
          <a:xfrm>
            <a:off x="5303520" y="1325880"/>
            <a:ext cx="1097280" cy="621792"/>
          </a:xfrm>
          <a:prstGeom prst="rect">
            <a:avLst/>
          </a:prstGeom>
          <a:solidFill>
            <a:srgbClr val="FFFFFF"/>
          </a:solidFill>
          <a:ln w="6350">
            <a:solidFill>
              <a:srgbClr val="D1D5DB"/>
            </a:solidFill>
            <a:prstDash val="solid"/>
          </a:ln>
        </p:spPr>
      </p:sp>
      <p:sp>
        <p:nvSpPr>
          <p:cNvPr id="19" name="Text 17"/>
          <p:cNvSpPr/>
          <p:nvPr/>
        </p:nvSpPr>
        <p:spPr>
          <a:xfrm>
            <a:off x="5349240" y="1325880"/>
            <a:ext cx="1005840" cy="621792"/>
          </a:xfrm>
          <a:prstGeom prst="rect">
            <a:avLst/>
          </a:prstGeom>
          <a:noFill/>
          <a:ln/>
        </p:spPr>
        <p:txBody>
          <a:bodyPr wrap="square" rtlCol="0" anchor="ctr"/>
          <a:lstStyle/>
          <a:p>
            <a:pPr algn="ctr" indent="0" marL="0">
              <a:buNone/>
            </a:pPr>
            <a:r>
              <a:rPr lang="en-US" sz="1400" dirty="0">
                <a:solidFill>
                  <a:srgbClr val="E05252"/>
                </a:solidFill>
                <a:latin typeface="Calibri" pitchFamily="34" charset="0"/>
                <a:ea typeface="Calibri" pitchFamily="34" charset="-122"/>
                <a:cs typeface="Calibri" pitchFamily="34" charset="-120"/>
              </a:rPr>
              <a:t>✗</a:t>
            </a:r>
            <a:endParaRPr lang="en-US" sz="1400" dirty="0"/>
          </a:p>
        </p:txBody>
      </p:sp>
      <p:sp>
        <p:nvSpPr>
          <p:cNvPr id="20" name="Shape 18"/>
          <p:cNvSpPr/>
          <p:nvPr/>
        </p:nvSpPr>
        <p:spPr>
          <a:xfrm>
            <a:off x="6400800" y="1325880"/>
            <a:ext cx="1097280" cy="621792"/>
          </a:xfrm>
          <a:prstGeom prst="rect">
            <a:avLst/>
          </a:prstGeom>
          <a:solidFill>
            <a:srgbClr val="FFFFFF"/>
          </a:solidFill>
          <a:ln w="6350">
            <a:solidFill>
              <a:srgbClr val="D1D5DB"/>
            </a:solidFill>
            <a:prstDash val="solid"/>
          </a:ln>
        </p:spPr>
      </p:sp>
      <p:sp>
        <p:nvSpPr>
          <p:cNvPr id="21" name="Text 19"/>
          <p:cNvSpPr/>
          <p:nvPr/>
        </p:nvSpPr>
        <p:spPr>
          <a:xfrm>
            <a:off x="6446520" y="1325880"/>
            <a:ext cx="1005840" cy="621792"/>
          </a:xfrm>
          <a:prstGeom prst="rect">
            <a:avLst/>
          </a:prstGeom>
          <a:noFill/>
          <a:ln/>
        </p:spPr>
        <p:txBody>
          <a:bodyPr wrap="square" rtlCol="0" anchor="ctr"/>
          <a:lstStyle/>
          <a:p>
            <a:pPr algn="ctr" indent="0" marL="0">
              <a:buNone/>
            </a:pPr>
            <a:r>
              <a:rPr lang="en-US" sz="1400" dirty="0">
                <a:solidFill>
                  <a:srgbClr val="E05252"/>
                </a:solidFill>
                <a:latin typeface="Calibri" pitchFamily="34" charset="0"/>
                <a:ea typeface="Calibri" pitchFamily="34" charset="-122"/>
                <a:cs typeface="Calibri" pitchFamily="34" charset="-120"/>
              </a:rPr>
              <a:t>✗</a:t>
            </a:r>
            <a:endParaRPr lang="en-US" sz="1400" dirty="0"/>
          </a:p>
        </p:txBody>
      </p:sp>
      <p:sp>
        <p:nvSpPr>
          <p:cNvPr id="22" name="Shape 20"/>
          <p:cNvSpPr/>
          <p:nvPr/>
        </p:nvSpPr>
        <p:spPr>
          <a:xfrm>
            <a:off x="7498080" y="1325880"/>
            <a:ext cx="1097280" cy="621792"/>
          </a:xfrm>
          <a:prstGeom prst="rect">
            <a:avLst/>
          </a:prstGeom>
          <a:solidFill>
            <a:srgbClr val="FFFFFF"/>
          </a:solidFill>
          <a:ln w="6350">
            <a:solidFill>
              <a:srgbClr val="D1D5DB"/>
            </a:solidFill>
            <a:prstDash val="solid"/>
          </a:ln>
        </p:spPr>
      </p:sp>
      <p:sp>
        <p:nvSpPr>
          <p:cNvPr id="23" name="Text 21"/>
          <p:cNvSpPr/>
          <p:nvPr/>
        </p:nvSpPr>
        <p:spPr>
          <a:xfrm>
            <a:off x="7543800" y="1325880"/>
            <a:ext cx="1005840" cy="621792"/>
          </a:xfrm>
          <a:prstGeom prst="rect">
            <a:avLst/>
          </a:prstGeom>
          <a:noFill/>
          <a:ln/>
        </p:spPr>
        <p:txBody>
          <a:bodyPr wrap="square" rtlCol="0" anchor="ctr"/>
          <a:lstStyle/>
          <a:p>
            <a:pPr algn="ctr" indent="0" marL="0">
              <a:buNone/>
            </a:pPr>
            <a:r>
              <a:rPr lang="en-US" sz="1400" dirty="0">
                <a:solidFill>
                  <a:srgbClr val="E05252"/>
                </a:solidFill>
                <a:latin typeface="Calibri" pitchFamily="34" charset="0"/>
                <a:ea typeface="Calibri" pitchFamily="34" charset="-122"/>
                <a:cs typeface="Calibri" pitchFamily="34" charset="-120"/>
              </a:rPr>
              <a:t>✗</a:t>
            </a:r>
            <a:endParaRPr lang="en-US" sz="1400" dirty="0"/>
          </a:p>
        </p:txBody>
      </p:sp>
      <p:sp>
        <p:nvSpPr>
          <p:cNvPr id="24" name="Shape 22"/>
          <p:cNvSpPr/>
          <p:nvPr/>
        </p:nvSpPr>
        <p:spPr>
          <a:xfrm>
            <a:off x="274320" y="1984248"/>
            <a:ext cx="2286000" cy="621792"/>
          </a:xfrm>
          <a:prstGeom prst="rect">
            <a:avLst/>
          </a:prstGeom>
          <a:solidFill>
            <a:srgbClr val="F8FAFF"/>
          </a:solidFill>
          <a:ln w="6350">
            <a:solidFill>
              <a:srgbClr val="D1D5DB"/>
            </a:solidFill>
            <a:prstDash val="solid"/>
          </a:ln>
        </p:spPr>
      </p:sp>
      <p:sp>
        <p:nvSpPr>
          <p:cNvPr id="25" name="Text 23"/>
          <p:cNvSpPr/>
          <p:nvPr/>
        </p:nvSpPr>
        <p:spPr>
          <a:xfrm>
            <a:off x="320040" y="1984248"/>
            <a:ext cx="2194560" cy="621792"/>
          </a:xfrm>
          <a:prstGeom prst="rect">
            <a:avLst/>
          </a:prstGeom>
          <a:noFill/>
          <a:ln/>
        </p:spPr>
        <p:txBody>
          <a:bodyPr wrap="square" rtlCol="0" anchor="ctr"/>
          <a:lstStyle/>
          <a:p>
            <a:pPr algn="ctr" indent="0" marL="0">
              <a:buNone/>
            </a:pPr>
            <a:r>
              <a:rPr lang="en-US" sz="1100" dirty="0">
                <a:solidFill>
                  <a:srgbClr val="1E293B"/>
                </a:solidFill>
                <a:latin typeface="Calibri" pitchFamily="34" charset="0"/>
                <a:ea typeface="Calibri" pitchFamily="34" charset="-122"/>
                <a:cs typeface="Calibri" pitchFamily="34" charset="-120"/>
              </a:rPr>
              <a:t>Seurat v4</a:t>
            </a:r>
            <a:endParaRPr lang="en-US" sz="1100" dirty="0"/>
          </a:p>
        </p:txBody>
      </p:sp>
      <p:sp>
        <p:nvSpPr>
          <p:cNvPr id="26" name="Shape 24"/>
          <p:cNvSpPr/>
          <p:nvPr/>
        </p:nvSpPr>
        <p:spPr>
          <a:xfrm>
            <a:off x="2560320" y="1984248"/>
            <a:ext cx="2743200" cy="621792"/>
          </a:xfrm>
          <a:prstGeom prst="rect">
            <a:avLst/>
          </a:prstGeom>
          <a:solidFill>
            <a:srgbClr val="F8FAFF"/>
          </a:solidFill>
          <a:ln w="6350">
            <a:solidFill>
              <a:srgbClr val="D1D5DB"/>
            </a:solidFill>
            <a:prstDash val="solid"/>
          </a:ln>
        </p:spPr>
      </p:sp>
      <p:sp>
        <p:nvSpPr>
          <p:cNvPr id="27" name="Text 25"/>
          <p:cNvSpPr/>
          <p:nvPr/>
        </p:nvSpPr>
        <p:spPr>
          <a:xfrm>
            <a:off x="2606040" y="1984248"/>
            <a:ext cx="2651760" cy="621792"/>
          </a:xfrm>
          <a:prstGeom prst="rect">
            <a:avLst/>
          </a:prstGeom>
          <a:noFill/>
          <a:ln/>
        </p:spPr>
        <p:txBody>
          <a:bodyPr wrap="square" rtlCol="0" anchor="ctr"/>
          <a:lstStyle/>
          <a:p>
            <a:pPr algn="ctr" indent="0" marL="0">
              <a:buNone/>
            </a:pPr>
            <a:r>
              <a:rPr lang="en-US" sz="1100" dirty="0">
                <a:solidFill>
                  <a:srgbClr val="1E293B"/>
                </a:solidFill>
                <a:latin typeface="Calibri" pitchFamily="34" charset="0"/>
                <a:ea typeface="Calibri" pitchFamily="34" charset="-122"/>
                <a:cs typeface="Calibri" pitchFamily="34" charset="-120"/>
              </a:rPr>
              <a:t>Weighted nearest-neighbour graph — each modality processed separately</a:t>
            </a:r>
            <a:endParaRPr lang="en-US" sz="1100" dirty="0"/>
          </a:p>
        </p:txBody>
      </p:sp>
      <p:sp>
        <p:nvSpPr>
          <p:cNvPr id="28" name="Shape 26"/>
          <p:cNvSpPr/>
          <p:nvPr/>
        </p:nvSpPr>
        <p:spPr>
          <a:xfrm>
            <a:off x="5303520" y="1984248"/>
            <a:ext cx="1097280" cy="621792"/>
          </a:xfrm>
          <a:prstGeom prst="rect">
            <a:avLst/>
          </a:prstGeom>
          <a:solidFill>
            <a:srgbClr val="F8FAFF"/>
          </a:solidFill>
          <a:ln w="6350">
            <a:solidFill>
              <a:srgbClr val="D1D5DB"/>
            </a:solidFill>
            <a:prstDash val="solid"/>
          </a:ln>
        </p:spPr>
      </p:sp>
      <p:sp>
        <p:nvSpPr>
          <p:cNvPr id="29" name="Text 27"/>
          <p:cNvSpPr/>
          <p:nvPr/>
        </p:nvSpPr>
        <p:spPr>
          <a:xfrm>
            <a:off x="5349240" y="1984248"/>
            <a:ext cx="1005840" cy="621792"/>
          </a:xfrm>
          <a:prstGeom prst="rect">
            <a:avLst/>
          </a:prstGeom>
          <a:noFill/>
          <a:ln/>
        </p:spPr>
        <p:txBody>
          <a:bodyPr wrap="square" rtlCol="0" anchor="ctr"/>
          <a:lstStyle/>
          <a:p>
            <a:pPr algn="ctr" indent="0" marL="0">
              <a:buNone/>
            </a:pPr>
            <a:r>
              <a:rPr lang="en-US" sz="1400" dirty="0">
                <a:solidFill>
                  <a:srgbClr val="EA580C"/>
                </a:solidFill>
                <a:latin typeface="Calibri" pitchFamily="34" charset="0"/>
                <a:ea typeface="Calibri" pitchFamily="34" charset="-122"/>
                <a:cs typeface="Calibri" pitchFamily="34" charset="-120"/>
              </a:rPr>
              <a:t>Partial</a:t>
            </a:r>
            <a:endParaRPr lang="en-US" sz="1400" dirty="0"/>
          </a:p>
        </p:txBody>
      </p:sp>
      <p:sp>
        <p:nvSpPr>
          <p:cNvPr id="30" name="Shape 28"/>
          <p:cNvSpPr/>
          <p:nvPr/>
        </p:nvSpPr>
        <p:spPr>
          <a:xfrm>
            <a:off x="6400800" y="1984248"/>
            <a:ext cx="1097280" cy="621792"/>
          </a:xfrm>
          <a:prstGeom prst="rect">
            <a:avLst/>
          </a:prstGeom>
          <a:solidFill>
            <a:srgbClr val="F8FAFF"/>
          </a:solidFill>
          <a:ln w="6350">
            <a:solidFill>
              <a:srgbClr val="D1D5DB"/>
            </a:solidFill>
            <a:prstDash val="solid"/>
          </a:ln>
        </p:spPr>
      </p:sp>
      <p:sp>
        <p:nvSpPr>
          <p:cNvPr id="31" name="Text 29"/>
          <p:cNvSpPr/>
          <p:nvPr/>
        </p:nvSpPr>
        <p:spPr>
          <a:xfrm>
            <a:off x="6446520" y="1984248"/>
            <a:ext cx="1005840" cy="621792"/>
          </a:xfrm>
          <a:prstGeom prst="rect">
            <a:avLst/>
          </a:prstGeom>
          <a:noFill/>
          <a:ln/>
        </p:spPr>
        <p:txBody>
          <a:bodyPr wrap="square" rtlCol="0" anchor="ctr"/>
          <a:lstStyle/>
          <a:p>
            <a:pPr algn="ctr" indent="0" marL="0">
              <a:buNone/>
            </a:pPr>
            <a:r>
              <a:rPr lang="en-US" sz="1400" dirty="0">
                <a:solidFill>
                  <a:srgbClr val="E05252"/>
                </a:solidFill>
                <a:latin typeface="Calibri" pitchFamily="34" charset="0"/>
                <a:ea typeface="Calibri" pitchFamily="34" charset="-122"/>
                <a:cs typeface="Calibri" pitchFamily="34" charset="-120"/>
              </a:rPr>
              <a:t>✗</a:t>
            </a:r>
            <a:endParaRPr lang="en-US" sz="1400" dirty="0"/>
          </a:p>
        </p:txBody>
      </p:sp>
      <p:sp>
        <p:nvSpPr>
          <p:cNvPr id="32" name="Shape 30"/>
          <p:cNvSpPr/>
          <p:nvPr/>
        </p:nvSpPr>
        <p:spPr>
          <a:xfrm>
            <a:off x="7498080" y="1984248"/>
            <a:ext cx="1097280" cy="621792"/>
          </a:xfrm>
          <a:prstGeom prst="rect">
            <a:avLst/>
          </a:prstGeom>
          <a:solidFill>
            <a:srgbClr val="F8FAFF"/>
          </a:solidFill>
          <a:ln w="6350">
            <a:solidFill>
              <a:srgbClr val="D1D5DB"/>
            </a:solidFill>
            <a:prstDash val="solid"/>
          </a:ln>
        </p:spPr>
      </p:sp>
      <p:sp>
        <p:nvSpPr>
          <p:cNvPr id="33" name="Text 31"/>
          <p:cNvSpPr/>
          <p:nvPr/>
        </p:nvSpPr>
        <p:spPr>
          <a:xfrm>
            <a:off x="7543800" y="1984248"/>
            <a:ext cx="1005840" cy="621792"/>
          </a:xfrm>
          <a:prstGeom prst="rect">
            <a:avLst/>
          </a:prstGeom>
          <a:noFill/>
          <a:ln/>
        </p:spPr>
        <p:txBody>
          <a:bodyPr wrap="square" rtlCol="0" anchor="ctr"/>
          <a:lstStyle/>
          <a:p>
            <a:pPr algn="ctr" indent="0" marL="0">
              <a:buNone/>
            </a:pPr>
            <a:r>
              <a:rPr lang="en-US" sz="1400" dirty="0">
                <a:solidFill>
                  <a:srgbClr val="E05252"/>
                </a:solidFill>
                <a:latin typeface="Calibri" pitchFamily="34" charset="0"/>
                <a:ea typeface="Calibri" pitchFamily="34" charset="-122"/>
                <a:cs typeface="Calibri" pitchFamily="34" charset="-120"/>
              </a:rPr>
              <a:t>✗</a:t>
            </a:r>
            <a:endParaRPr lang="en-US" sz="1400" dirty="0"/>
          </a:p>
        </p:txBody>
      </p:sp>
      <p:sp>
        <p:nvSpPr>
          <p:cNvPr id="34" name="Shape 32"/>
          <p:cNvSpPr/>
          <p:nvPr/>
        </p:nvSpPr>
        <p:spPr>
          <a:xfrm>
            <a:off x="274320" y="2642616"/>
            <a:ext cx="2286000" cy="621792"/>
          </a:xfrm>
          <a:prstGeom prst="rect">
            <a:avLst/>
          </a:prstGeom>
          <a:solidFill>
            <a:srgbClr val="FFFFFF"/>
          </a:solidFill>
          <a:ln w="6350">
            <a:solidFill>
              <a:srgbClr val="D1D5DB"/>
            </a:solidFill>
            <a:prstDash val="solid"/>
          </a:ln>
        </p:spPr>
      </p:sp>
      <p:sp>
        <p:nvSpPr>
          <p:cNvPr id="35" name="Text 33"/>
          <p:cNvSpPr/>
          <p:nvPr/>
        </p:nvSpPr>
        <p:spPr>
          <a:xfrm>
            <a:off x="320040" y="2642616"/>
            <a:ext cx="2194560" cy="621792"/>
          </a:xfrm>
          <a:prstGeom prst="rect">
            <a:avLst/>
          </a:prstGeom>
          <a:noFill/>
          <a:ln/>
        </p:spPr>
        <p:txBody>
          <a:bodyPr wrap="square" rtlCol="0" anchor="ctr"/>
          <a:lstStyle/>
          <a:p>
            <a:pPr algn="ctr" indent="0" marL="0">
              <a:buNone/>
            </a:pPr>
            <a:r>
              <a:rPr lang="en-US" sz="1100" dirty="0">
                <a:solidFill>
                  <a:srgbClr val="1E293B"/>
                </a:solidFill>
                <a:latin typeface="Calibri" pitchFamily="34" charset="0"/>
                <a:ea typeface="Calibri" pitchFamily="34" charset="-122"/>
                <a:cs typeface="Calibri" pitchFamily="34" charset="-120"/>
              </a:rPr>
              <a:t>totalVI</a:t>
            </a:r>
            <a:endParaRPr lang="en-US" sz="1100" dirty="0"/>
          </a:p>
        </p:txBody>
      </p:sp>
      <p:sp>
        <p:nvSpPr>
          <p:cNvPr id="36" name="Shape 34"/>
          <p:cNvSpPr/>
          <p:nvPr/>
        </p:nvSpPr>
        <p:spPr>
          <a:xfrm>
            <a:off x="2560320" y="2642616"/>
            <a:ext cx="2743200" cy="621792"/>
          </a:xfrm>
          <a:prstGeom prst="rect">
            <a:avLst/>
          </a:prstGeom>
          <a:solidFill>
            <a:srgbClr val="FFFFFF"/>
          </a:solidFill>
          <a:ln w="6350">
            <a:solidFill>
              <a:srgbClr val="D1D5DB"/>
            </a:solidFill>
            <a:prstDash val="solid"/>
          </a:ln>
        </p:spPr>
      </p:sp>
      <p:sp>
        <p:nvSpPr>
          <p:cNvPr id="37" name="Text 35"/>
          <p:cNvSpPr/>
          <p:nvPr/>
        </p:nvSpPr>
        <p:spPr>
          <a:xfrm>
            <a:off x="2606040" y="2642616"/>
            <a:ext cx="2651760" cy="621792"/>
          </a:xfrm>
          <a:prstGeom prst="rect">
            <a:avLst/>
          </a:prstGeom>
          <a:noFill/>
          <a:ln/>
        </p:spPr>
        <p:txBody>
          <a:bodyPr wrap="square" rtlCol="0" anchor="ctr"/>
          <a:lstStyle/>
          <a:p>
            <a:pPr algn="ctr" indent="0" marL="0">
              <a:buNone/>
            </a:pPr>
            <a:r>
              <a:rPr lang="en-US" sz="1100" dirty="0">
                <a:solidFill>
                  <a:srgbClr val="1E293B"/>
                </a:solidFill>
                <a:latin typeface="Calibri" pitchFamily="34" charset="0"/>
                <a:ea typeface="Calibri" pitchFamily="34" charset="-122"/>
                <a:cs typeface="Calibri" pitchFamily="34" charset="-120"/>
              </a:rPr>
              <a:t>Probabilistic VAE — jointly models RNA and protein counts</a:t>
            </a:r>
            <a:endParaRPr lang="en-US" sz="1100" dirty="0"/>
          </a:p>
        </p:txBody>
      </p:sp>
      <p:sp>
        <p:nvSpPr>
          <p:cNvPr id="38" name="Shape 36"/>
          <p:cNvSpPr/>
          <p:nvPr/>
        </p:nvSpPr>
        <p:spPr>
          <a:xfrm>
            <a:off x="5303520" y="2642616"/>
            <a:ext cx="1097280" cy="621792"/>
          </a:xfrm>
          <a:prstGeom prst="rect">
            <a:avLst/>
          </a:prstGeom>
          <a:solidFill>
            <a:srgbClr val="FFFFFF"/>
          </a:solidFill>
          <a:ln w="6350">
            <a:solidFill>
              <a:srgbClr val="D1D5DB"/>
            </a:solidFill>
            <a:prstDash val="solid"/>
          </a:ln>
        </p:spPr>
      </p:sp>
      <p:sp>
        <p:nvSpPr>
          <p:cNvPr id="39" name="Text 37"/>
          <p:cNvSpPr/>
          <p:nvPr/>
        </p:nvSpPr>
        <p:spPr>
          <a:xfrm>
            <a:off x="5349240" y="2642616"/>
            <a:ext cx="1005840" cy="621792"/>
          </a:xfrm>
          <a:prstGeom prst="rect">
            <a:avLst/>
          </a:prstGeom>
          <a:noFill/>
          <a:ln/>
        </p:spPr>
        <p:txBody>
          <a:bodyPr wrap="square" rtlCol="0" anchor="ctr"/>
          <a:lstStyle/>
          <a:p>
            <a:pPr algn="ctr" indent="0" marL="0">
              <a:buNone/>
            </a:pPr>
            <a:r>
              <a:rPr lang="en-US" sz="1400" dirty="0">
                <a:solidFill>
                  <a:srgbClr val="16A34A"/>
                </a:solidFill>
                <a:latin typeface="Calibri" pitchFamily="34" charset="0"/>
                <a:ea typeface="Calibri" pitchFamily="34" charset="-122"/>
                <a:cs typeface="Calibri" pitchFamily="34" charset="-120"/>
              </a:rPr>
              <a:t>✓</a:t>
            </a:r>
            <a:endParaRPr lang="en-US" sz="1400" dirty="0"/>
          </a:p>
        </p:txBody>
      </p:sp>
      <p:sp>
        <p:nvSpPr>
          <p:cNvPr id="40" name="Shape 38"/>
          <p:cNvSpPr/>
          <p:nvPr/>
        </p:nvSpPr>
        <p:spPr>
          <a:xfrm>
            <a:off x="6400800" y="2642616"/>
            <a:ext cx="1097280" cy="621792"/>
          </a:xfrm>
          <a:prstGeom prst="rect">
            <a:avLst/>
          </a:prstGeom>
          <a:solidFill>
            <a:srgbClr val="FFFFFF"/>
          </a:solidFill>
          <a:ln w="6350">
            <a:solidFill>
              <a:srgbClr val="D1D5DB"/>
            </a:solidFill>
            <a:prstDash val="solid"/>
          </a:ln>
        </p:spPr>
      </p:sp>
      <p:sp>
        <p:nvSpPr>
          <p:cNvPr id="41" name="Text 39"/>
          <p:cNvSpPr/>
          <p:nvPr/>
        </p:nvSpPr>
        <p:spPr>
          <a:xfrm>
            <a:off x="6446520" y="2642616"/>
            <a:ext cx="1005840" cy="621792"/>
          </a:xfrm>
          <a:prstGeom prst="rect">
            <a:avLst/>
          </a:prstGeom>
          <a:noFill/>
          <a:ln/>
        </p:spPr>
        <p:txBody>
          <a:bodyPr wrap="square" rtlCol="0" anchor="ctr"/>
          <a:lstStyle/>
          <a:p>
            <a:pPr algn="ctr" indent="0" marL="0">
              <a:buNone/>
            </a:pPr>
            <a:r>
              <a:rPr lang="en-US" sz="1400" dirty="0">
                <a:solidFill>
                  <a:srgbClr val="16A34A"/>
                </a:solidFill>
                <a:latin typeface="Calibri" pitchFamily="34" charset="0"/>
                <a:ea typeface="Calibri" pitchFamily="34" charset="-122"/>
                <a:cs typeface="Calibri" pitchFamily="34" charset="-120"/>
              </a:rPr>
              <a:t>✓</a:t>
            </a:r>
            <a:endParaRPr lang="en-US" sz="1400" dirty="0"/>
          </a:p>
        </p:txBody>
      </p:sp>
      <p:sp>
        <p:nvSpPr>
          <p:cNvPr id="42" name="Shape 40"/>
          <p:cNvSpPr/>
          <p:nvPr/>
        </p:nvSpPr>
        <p:spPr>
          <a:xfrm>
            <a:off x="7498080" y="2642616"/>
            <a:ext cx="1097280" cy="621792"/>
          </a:xfrm>
          <a:prstGeom prst="rect">
            <a:avLst/>
          </a:prstGeom>
          <a:solidFill>
            <a:srgbClr val="FFFFFF"/>
          </a:solidFill>
          <a:ln w="6350">
            <a:solidFill>
              <a:srgbClr val="D1D5DB"/>
            </a:solidFill>
            <a:prstDash val="solid"/>
          </a:ln>
        </p:spPr>
      </p:sp>
      <p:sp>
        <p:nvSpPr>
          <p:cNvPr id="43" name="Text 41"/>
          <p:cNvSpPr/>
          <p:nvPr/>
        </p:nvSpPr>
        <p:spPr>
          <a:xfrm>
            <a:off x="7543800" y="2642616"/>
            <a:ext cx="1005840" cy="621792"/>
          </a:xfrm>
          <a:prstGeom prst="rect">
            <a:avLst/>
          </a:prstGeom>
          <a:noFill/>
          <a:ln/>
        </p:spPr>
        <p:txBody>
          <a:bodyPr wrap="square" rtlCol="0" anchor="ctr"/>
          <a:lstStyle/>
          <a:p>
            <a:pPr algn="ctr" indent="0" marL="0">
              <a:buNone/>
            </a:pPr>
            <a:r>
              <a:rPr lang="en-US" sz="1400" dirty="0">
                <a:solidFill>
                  <a:srgbClr val="E05252"/>
                </a:solidFill>
                <a:latin typeface="Calibri" pitchFamily="34" charset="0"/>
                <a:ea typeface="Calibri" pitchFamily="34" charset="-122"/>
                <a:cs typeface="Calibri" pitchFamily="34" charset="-120"/>
              </a:rPr>
              <a:t>✗</a:t>
            </a:r>
            <a:endParaRPr lang="en-US" sz="1400" dirty="0"/>
          </a:p>
        </p:txBody>
      </p:sp>
      <p:sp>
        <p:nvSpPr>
          <p:cNvPr id="44" name="Shape 42"/>
          <p:cNvSpPr/>
          <p:nvPr/>
        </p:nvSpPr>
        <p:spPr>
          <a:xfrm>
            <a:off x="274320" y="3300984"/>
            <a:ext cx="2286000" cy="621792"/>
          </a:xfrm>
          <a:prstGeom prst="rect">
            <a:avLst/>
          </a:prstGeom>
          <a:solidFill>
            <a:srgbClr val="F8FAFF"/>
          </a:solidFill>
          <a:ln w="6350">
            <a:solidFill>
              <a:srgbClr val="D1D5DB"/>
            </a:solidFill>
            <a:prstDash val="solid"/>
          </a:ln>
        </p:spPr>
      </p:sp>
      <p:sp>
        <p:nvSpPr>
          <p:cNvPr id="45" name="Text 43"/>
          <p:cNvSpPr/>
          <p:nvPr/>
        </p:nvSpPr>
        <p:spPr>
          <a:xfrm>
            <a:off x="320040" y="3300984"/>
            <a:ext cx="2194560" cy="621792"/>
          </a:xfrm>
          <a:prstGeom prst="rect">
            <a:avLst/>
          </a:prstGeom>
          <a:noFill/>
          <a:ln/>
        </p:spPr>
        <p:txBody>
          <a:bodyPr wrap="square" rtlCol="0" anchor="ctr"/>
          <a:lstStyle/>
          <a:p>
            <a:pPr algn="ctr" indent="0" marL="0">
              <a:buNone/>
            </a:pPr>
            <a:r>
              <a:rPr lang="en-US" sz="1100" dirty="0">
                <a:solidFill>
                  <a:srgbClr val="1E293B"/>
                </a:solidFill>
                <a:latin typeface="Calibri" pitchFamily="34" charset="0"/>
                <a:ea typeface="Calibri" pitchFamily="34" charset="-122"/>
                <a:cs typeface="Calibri" pitchFamily="34" charset="-120"/>
              </a:rPr>
              <a:t>scVI</a:t>
            </a:r>
            <a:endParaRPr lang="en-US" sz="1100" dirty="0"/>
          </a:p>
        </p:txBody>
      </p:sp>
      <p:sp>
        <p:nvSpPr>
          <p:cNvPr id="46" name="Shape 44"/>
          <p:cNvSpPr/>
          <p:nvPr/>
        </p:nvSpPr>
        <p:spPr>
          <a:xfrm>
            <a:off x="2560320" y="3300984"/>
            <a:ext cx="2743200" cy="621792"/>
          </a:xfrm>
          <a:prstGeom prst="rect">
            <a:avLst/>
          </a:prstGeom>
          <a:solidFill>
            <a:srgbClr val="F8FAFF"/>
          </a:solidFill>
          <a:ln w="6350">
            <a:solidFill>
              <a:srgbClr val="D1D5DB"/>
            </a:solidFill>
            <a:prstDash val="solid"/>
          </a:ln>
        </p:spPr>
      </p:sp>
      <p:sp>
        <p:nvSpPr>
          <p:cNvPr id="47" name="Text 45"/>
          <p:cNvSpPr/>
          <p:nvPr/>
        </p:nvSpPr>
        <p:spPr>
          <a:xfrm>
            <a:off x="2606040" y="3300984"/>
            <a:ext cx="2651760" cy="621792"/>
          </a:xfrm>
          <a:prstGeom prst="rect">
            <a:avLst/>
          </a:prstGeom>
          <a:noFill/>
          <a:ln/>
        </p:spPr>
        <p:txBody>
          <a:bodyPr wrap="square" rtlCol="0" anchor="ctr"/>
          <a:lstStyle/>
          <a:p>
            <a:pPr algn="ctr" indent="0" marL="0">
              <a:buNone/>
            </a:pPr>
            <a:r>
              <a:rPr lang="en-US" sz="1100" dirty="0">
                <a:solidFill>
                  <a:srgbClr val="1E293B"/>
                </a:solidFill>
                <a:latin typeface="Calibri" pitchFamily="34" charset="0"/>
                <a:ea typeface="Calibri" pitchFamily="34" charset="-122"/>
                <a:cs typeface="Calibri" pitchFamily="34" charset="-120"/>
              </a:rPr>
              <a:t>VAE for single-modality RNA-seq data only</a:t>
            </a:r>
            <a:endParaRPr lang="en-US" sz="1100" dirty="0"/>
          </a:p>
        </p:txBody>
      </p:sp>
      <p:sp>
        <p:nvSpPr>
          <p:cNvPr id="48" name="Shape 46"/>
          <p:cNvSpPr/>
          <p:nvPr/>
        </p:nvSpPr>
        <p:spPr>
          <a:xfrm>
            <a:off x="5303520" y="3300984"/>
            <a:ext cx="1097280" cy="621792"/>
          </a:xfrm>
          <a:prstGeom prst="rect">
            <a:avLst/>
          </a:prstGeom>
          <a:solidFill>
            <a:srgbClr val="F8FAFF"/>
          </a:solidFill>
          <a:ln w="6350">
            <a:solidFill>
              <a:srgbClr val="D1D5DB"/>
            </a:solidFill>
            <a:prstDash val="solid"/>
          </a:ln>
        </p:spPr>
      </p:sp>
      <p:sp>
        <p:nvSpPr>
          <p:cNvPr id="49" name="Text 47"/>
          <p:cNvSpPr/>
          <p:nvPr/>
        </p:nvSpPr>
        <p:spPr>
          <a:xfrm>
            <a:off x="5349240" y="3300984"/>
            <a:ext cx="1005840" cy="621792"/>
          </a:xfrm>
          <a:prstGeom prst="rect">
            <a:avLst/>
          </a:prstGeom>
          <a:noFill/>
          <a:ln/>
        </p:spPr>
        <p:txBody>
          <a:bodyPr wrap="square" rtlCol="0" anchor="ctr"/>
          <a:lstStyle/>
          <a:p>
            <a:pPr algn="ctr" indent="0" marL="0">
              <a:buNone/>
            </a:pPr>
            <a:r>
              <a:rPr lang="en-US" sz="1400" dirty="0">
                <a:solidFill>
                  <a:srgbClr val="16A34A"/>
                </a:solidFill>
                <a:latin typeface="Calibri" pitchFamily="34" charset="0"/>
                <a:ea typeface="Calibri" pitchFamily="34" charset="-122"/>
                <a:cs typeface="Calibri" pitchFamily="34" charset="-120"/>
              </a:rPr>
              <a:t>✓</a:t>
            </a:r>
            <a:endParaRPr lang="en-US" sz="1400" dirty="0"/>
          </a:p>
        </p:txBody>
      </p:sp>
      <p:sp>
        <p:nvSpPr>
          <p:cNvPr id="50" name="Shape 48"/>
          <p:cNvSpPr/>
          <p:nvPr/>
        </p:nvSpPr>
        <p:spPr>
          <a:xfrm>
            <a:off x="6400800" y="3300984"/>
            <a:ext cx="1097280" cy="621792"/>
          </a:xfrm>
          <a:prstGeom prst="rect">
            <a:avLst/>
          </a:prstGeom>
          <a:solidFill>
            <a:srgbClr val="F8FAFF"/>
          </a:solidFill>
          <a:ln w="6350">
            <a:solidFill>
              <a:srgbClr val="D1D5DB"/>
            </a:solidFill>
            <a:prstDash val="solid"/>
          </a:ln>
        </p:spPr>
      </p:sp>
      <p:sp>
        <p:nvSpPr>
          <p:cNvPr id="51" name="Text 49"/>
          <p:cNvSpPr/>
          <p:nvPr/>
        </p:nvSpPr>
        <p:spPr>
          <a:xfrm>
            <a:off x="6446520" y="3300984"/>
            <a:ext cx="1005840" cy="621792"/>
          </a:xfrm>
          <a:prstGeom prst="rect">
            <a:avLst/>
          </a:prstGeom>
          <a:noFill/>
          <a:ln/>
        </p:spPr>
        <p:txBody>
          <a:bodyPr wrap="square" rtlCol="0" anchor="ctr"/>
          <a:lstStyle/>
          <a:p>
            <a:pPr algn="ctr" indent="0" marL="0">
              <a:buNone/>
            </a:pPr>
            <a:r>
              <a:rPr lang="en-US" sz="1400" dirty="0">
                <a:solidFill>
                  <a:srgbClr val="E05252"/>
                </a:solidFill>
                <a:latin typeface="Calibri" pitchFamily="34" charset="0"/>
                <a:ea typeface="Calibri" pitchFamily="34" charset="-122"/>
                <a:cs typeface="Calibri" pitchFamily="34" charset="-120"/>
              </a:rPr>
              <a:t>✗</a:t>
            </a:r>
            <a:endParaRPr lang="en-US" sz="1400" dirty="0"/>
          </a:p>
        </p:txBody>
      </p:sp>
      <p:sp>
        <p:nvSpPr>
          <p:cNvPr id="52" name="Shape 50"/>
          <p:cNvSpPr/>
          <p:nvPr/>
        </p:nvSpPr>
        <p:spPr>
          <a:xfrm>
            <a:off x="7498080" y="3300984"/>
            <a:ext cx="1097280" cy="621792"/>
          </a:xfrm>
          <a:prstGeom prst="rect">
            <a:avLst/>
          </a:prstGeom>
          <a:solidFill>
            <a:srgbClr val="F8FAFF"/>
          </a:solidFill>
          <a:ln w="6350">
            <a:solidFill>
              <a:srgbClr val="D1D5DB"/>
            </a:solidFill>
            <a:prstDash val="solid"/>
          </a:ln>
        </p:spPr>
      </p:sp>
      <p:sp>
        <p:nvSpPr>
          <p:cNvPr id="53" name="Text 51"/>
          <p:cNvSpPr/>
          <p:nvPr/>
        </p:nvSpPr>
        <p:spPr>
          <a:xfrm>
            <a:off x="7543800" y="3300984"/>
            <a:ext cx="1005840" cy="621792"/>
          </a:xfrm>
          <a:prstGeom prst="rect">
            <a:avLst/>
          </a:prstGeom>
          <a:noFill/>
          <a:ln/>
        </p:spPr>
        <p:txBody>
          <a:bodyPr wrap="square" rtlCol="0" anchor="ctr"/>
          <a:lstStyle/>
          <a:p>
            <a:pPr algn="ctr" indent="0" marL="0">
              <a:buNone/>
            </a:pPr>
            <a:r>
              <a:rPr lang="en-US" sz="1400" dirty="0">
                <a:solidFill>
                  <a:srgbClr val="E05252"/>
                </a:solidFill>
                <a:latin typeface="Calibri" pitchFamily="34" charset="0"/>
                <a:ea typeface="Calibri" pitchFamily="34" charset="-122"/>
                <a:cs typeface="Calibri" pitchFamily="34" charset="-120"/>
              </a:rPr>
              <a:t>✗</a:t>
            </a:r>
            <a:endParaRPr lang="en-US" sz="1400" dirty="0"/>
          </a:p>
        </p:txBody>
      </p:sp>
      <p:sp>
        <p:nvSpPr>
          <p:cNvPr id="54" name="Shape 52"/>
          <p:cNvSpPr/>
          <p:nvPr/>
        </p:nvSpPr>
        <p:spPr>
          <a:xfrm>
            <a:off x="274320" y="3959352"/>
            <a:ext cx="2286000" cy="621792"/>
          </a:xfrm>
          <a:prstGeom prst="rect">
            <a:avLst/>
          </a:prstGeom>
          <a:solidFill>
            <a:srgbClr val="CADCFC"/>
          </a:solidFill>
          <a:ln w="6350">
            <a:solidFill>
              <a:srgbClr val="D1D5DB"/>
            </a:solidFill>
            <a:prstDash val="solid"/>
          </a:ln>
        </p:spPr>
      </p:sp>
      <p:sp>
        <p:nvSpPr>
          <p:cNvPr id="55" name="Text 53"/>
          <p:cNvSpPr/>
          <p:nvPr/>
        </p:nvSpPr>
        <p:spPr>
          <a:xfrm>
            <a:off x="320040" y="3959352"/>
            <a:ext cx="2194560" cy="621792"/>
          </a:xfrm>
          <a:prstGeom prst="rect">
            <a:avLst/>
          </a:prstGeom>
          <a:noFill/>
          <a:ln/>
        </p:spPr>
        <p:txBody>
          <a:bodyPr wrap="square"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Multigrate ★</a:t>
            </a:r>
            <a:endParaRPr lang="en-US" sz="1100" dirty="0"/>
          </a:p>
        </p:txBody>
      </p:sp>
      <p:sp>
        <p:nvSpPr>
          <p:cNvPr id="56" name="Shape 54"/>
          <p:cNvSpPr/>
          <p:nvPr/>
        </p:nvSpPr>
        <p:spPr>
          <a:xfrm>
            <a:off x="2560320" y="3959352"/>
            <a:ext cx="2743200" cy="621792"/>
          </a:xfrm>
          <a:prstGeom prst="rect">
            <a:avLst/>
          </a:prstGeom>
          <a:solidFill>
            <a:srgbClr val="CADCFC"/>
          </a:solidFill>
          <a:ln w="6350">
            <a:solidFill>
              <a:srgbClr val="D1D5DB"/>
            </a:solidFill>
            <a:prstDash val="solid"/>
          </a:ln>
        </p:spPr>
      </p:sp>
      <p:sp>
        <p:nvSpPr>
          <p:cNvPr id="57" name="Text 55"/>
          <p:cNvSpPr/>
          <p:nvPr/>
        </p:nvSpPr>
        <p:spPr>
          <a:xfrm>
            <a:off x="2606040" y="3959352"/>
            <a:ext cx="2651760" cy="621792"/>
          </a:xfrm>
          <a:prstGeom prst="rect">
            <a:avLst/>
          </a:prstGeom>
          <a:noFill/>
          <a:ln/>
        </p:spPr>
        <p:txBody>
          <a:bodyPr wrap="square"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Multi-view VAE with Product of Experts — handles any modality pair</a:t>
            </a:r>
            <a:endParaRPr lang="en-US" sz="1100" dirty="0"/>
          </a:p>
        </p:txBody>
      </p:sp>
      <p:sp>
        <p:nvSpPr>
          <p:cNvPr id="58" name="Shape 56"/>
          <p:cNvSpPr/>
          <p:nvPr/>
        </p:nvSpPr>
        <p:spPr>
          <a:xfrm>
            <a:off x="5303520" y="3959352"/>
            <a:ext cx="1097280" cy="621792"/>
          </a:xfrm>
          <a:prstGeom prst="rect">
            <a:avLst/>
          </a:prstGeom>
          <a:solidFill>
            <a:srgbClr val="CADCFC"/>
          </a:solidFill>
          <a:ln w="6350">
            <a:solidFill>
              <a:srgbClr val="D1D5DB"/>
            </a:solidFill>
            <a:prstDash val="solid"/>
          </a:ln>
        </p:spPr>
      </p:sp>
      <p:sp>
        <p:nvSpPr>
          <p:cNvPr id="59" name="Text 57"/>
          <p:cNvSpPr/>
          <p:nvPr/>
        </p:nvSpPr>
        <p:spPr>
          <a:xfrm>
            <a:off x="5349240" y="3959352"/>
            <a:ext cx="1005840" cy="621792"/>
          </a:xfrm>
          <a:prstGeom prst="rect">
            <a:avLst/>
          </a:prstGeom>
          <a:noFill/>
          <a:ln/>
        </p:spPr>
        <p:txBody>
          <a:bodyPr wrap="square" rtlCol="0" anchor="ctr"/>
          <a:lstStyle/>
          <a:p>
            <a:pPr algn="ctr" indent="0" marL="0">
              <a:buNone/>
            </a:pPr>
            <a:r>
              <a:rPr lang="en-US" sz="1400" b="1" dirty="0">
                <a:solidFill>
                  <a:srgbClr val="16A34A"/>
                </a:solidFill>
                <a:latin typeface="Calibri" pitchFamily="34" charset="0"/>
                <a:ea typeface="Calibri" pitchFamily="34" charset="-122"/>
                <a:cs typeface="Calibri" pitchFamily="34" charset="-120"/>
              </a:rPr>
              <a:t>✓</a:t>
            </a:r>
            <a:endParaRPr lang="en-US" sz="1400" dirty="0"/>
          </a:p>
        </p:txBody>
      </p:sp>
      <p:sp>
        <p:nvSpPr>
          <p:cNvPr id="60" name="Shape 58"/>
          <p:cNvSpPr/>
          <p:nvPr/>
        </p:nvSpPr>
        <p:spPr>
          <a:xfrm>
            <a:off x="6400800" y="3959352"/>
            <a:ext cx="1097280" cy="621792"/>
          </a:xfrm>
          <a:prstGeom prst="rect">
            <a:avLst/>
          </a:prstGeom>
          <a:solidFill>
            <a:srgbClr val="CADCFC"/>
          </a:solidFill>
          <a:ln w="6350">
            <a:solidFill>
              <a:srgbClr val="D1D5DB"/>
            </a:solidFill>
            <a:prstDash val="solid"/>
          </a:ln>
        </p:spPr>
      </p:sp>
      <p:sp>
        <p:nvSpPr>
          <p:cNvPr id="61" name="Text 59"/>
          <p:cNvSpPr/>
          <p:nvPr/>
        </p:nvSpPr>
        <p:spPr>
          <a:xfrm>
            <a:off x="6446520" y="3959352"/>
            <a:ext cx="1005840" cy="621792"/>
          </a:xfrm>
          <a:prstGeom prst="rect">
            <a:avLst/>
          </a:prstGeom>
          <a:noFill/>
          <a:ln/>
        </p:spPr>
        <p:txBody>
          <a:bodyPr wrap="square" rtlCol="0" anchor="ctr"/>
          <a:lstStyle/>
          <a:p>
            <a:pPr algn="ctr" indent="0" marL="0">
              <a:buNone/>
            </a:pPr>
            <a:r>
              <a:rPr lang="en-US" sz="1400" b="1" dirty="0">
                <a:solidFill>
                  <a:srgbClr val="16A34A"/>
                </a:solidFill>
                <a:latin typeface="Calibri" pitchFamily="34" charset="0"/>
                <a:ea typeface="Calibri" pitchFamily="34" charset="-122"/>
                <a:cs typeface="Calibri" pitchFamily="34" charset="-120"/>
              </a:rPr>
              <a:t>✓</a:t>
            </a:r>
            <a:endParaRPr lang="en-US" sz="1400" dirty="0"/>
          </a:p>
        </p:txBody>
      </p:sp>
      <p:sp>
        <p:nvSpPr>
          <p:cNvPr id="62" name="Shape 60"/>
          <p:cNvSpPr/>
          <p:nvPr/>
        </p:nvSpPr>
        <p:spPr>
          <a:xfrm>
            <a:off x="7498080" y="3959352"/>
            <a:ext cx="1097280" cy="621792"/>
          </a:xfrm>
          <a:prstGeom prst="rect">
            <a:avLst/>
          </a:prstGeom>
          <a:solidFill>
            <a:srgbClr val="CADCFC"/>
          </a:solidFill>
          <a:ln w="6350">
            <a:solidFill>
              <a:srgbClr val="D1D5DB"/>
            </a:solidFill>
            <a:prstDash val="solid"/>
          </a:ln>
        </p:spPr>
      </p:sp>
      <p:sp>
        <p:nvSpPr>
          <p:cNvPr id="63" name="Text 61"/>
          <p:cNvSpPr/>
          <p:nvPr/>
        </p:nvSpPr>
        <p:spPr>
          <a:xfrm>
            <a:off x="7543800" y="3959352"/>
            <a:ext cx="1005840" cy="621792"/>
          </a:xfrm>
          <a:prstGeom prst="rect">
            <a:avLst/>
          </a:prstGeom>
          <a:noFill/>
          <a:ln/>
        </p:spPr>
        <p:txBody>
          <a:bodyPr wrap="square" rtlCol="0" anchor="ctr"/>
          <a:lstStyle/>
          <a:p>
            <a:pPr algn="ctr" indent="0" marL="0">
              <a:buNone/>
            </a:pPr>
            <a:r>
              <a:rPr lang="en-US" sz="1400" b="1" dirty="0">
                <a:solidFill>
                  <a:srgbClr val="16A34A"/>
                </a:solidFill>
                <a:latin typeface="Calibri" pitchFamily="34" charset="0"/>
                <a:ea typeface="Calibri" pitchFamily="34" charset="-122"/>
                <a:cs typeface="Calibri" pitchFamily="34" charset="-120"/>
              </a:rPr>
              <a:t>✓</a:t>
            </a:r>
            <a:endParaRPr lang="en-US" sz="1400" dirty="0"/>
          </a:p>
        </p:txBody>
      </p:sp>
      <p:sp>
        <p:nvSpPr>
          <p:cNvPr id="64" name="Text 62"/>
          <p:cNvSpPr/>
          <p:nvPr/>
        </p:nvSpPr>
        <p:spPr>
          <a:xfrm>
            <a:off x="274320" y="4663440"/>
            <a:ext cx="8595360" cy="347472"/>
          </a:xfrm>
          <a:prstGeom prst="rect">
            <a:avLst/>
          </a:prstGeom>
          <a:noFill/>
          <a:ln/>
        </p:spPr>
        <p:txBody>
          <a:bodyPr wrap="square" rtlCol="0" anchor="ctr"/>
          <a:lstStyle/>
          <a:p>
            <a:pPr algn="l" indent="0" marL="0">
              <a:buNone/>
            </a:pPr>
            <a:r>
              <a:rPr lang="en-US" sz="1100" i="1" dirty="0">
                <a:solidFill>
                  <a:srgbClr val="64748B"/>
                </a:solidFill>
                <a:latin typeface="Calibri" pitchFamily="34" charset="0"/>
                <a:ea typeface="Calibri" pitchFamily="34" charset="-122"/>
                <a:cs typeface="Calibri" pitchFamily="34" charset="-120"/>
              </a:rPr>
              <a:t>★ Multigrate is the only method that handles non-linear integration, missing modalities, and any multi-omic pairing</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1E2761"/>
          </a:solidFill>
          <a:ln/>
        </p:spPr>
      </p:sp>
      <p:sp>
        <p:nvSpPr>
          <p:cNvPr id="3" name="Text 1"/>
          <p:cNvSpPr/>
          <p:nvPr/>
        </p:nvSpPr>
        <p:spPr>
          <a:xfrm>
            <a:off x="457200" y="164592"/>
            <a:ext cx="8229600" cy="594360"/>
          </a:xfrm>
          <a:prstGeom prst="rect">
            <a:avLst/>
          </a:prstGeom>
          <a:noFill/>
          <a:ln/>
        </p:spPr>
        <p:txBody>
          <a:bodyPr wrap="square" lIns="0" tIns="0" rIns="0" bIns="0" rtlCol="0" anchor="ctr"/>
          <a:lstStyle/>
          <a:p>
            <a:pPr algn="l" indent="0" marL="0">
              <a:buNone/>
            </a:pPr>
            <a:r>
              <a:rPr lang="en-US" sz="3000" b="1" dirty="0">
                <a:solidFill>
                  <a:srgbClr val="1E2761"/>
                </a:solidFill>
                <a:latin typeface="Calibri" pitchFamily="34" charset="0"/>
                <a:ea typeface="Calibri" pitchFamily="34" charset="-122"/>
                <a:cs typeface="Calibri" pitchFamily="34" charset="-120"/>
              </a:rPr>
              <a:t>Multigrate Architecture</a:t>
            </a:r>
            <a:endParaRPr lang="en-US" sz="3000" dirty="0"/>
          </a:p>
        </p:txBody>
      </p:sp>
      <p:pic>
        <p:nvPicPr>
          <p:cNvPr id="4" name="Image 0" descr="preencoded.png">    </p:cNvPr>
          <p:cNvPicPr>
            <a:picLocks noChangeAspect="1"/>
          </p:cNvPicPr>
          <p:nvPr/>
        </p:nvPicPr>
        <p:blipFill>
          <a:blip r:embed="rId1"/>
          <a:srcRect l="0" r="0" t="0" b="0"/>
          <a:stretch/>
        </p:blipFill>
        <p:spPr>
          <a:xfrm>
            <a:off x="274320" y="914400"/>
            <a:ext cx="4114800" cy="2194560"/>
          </a:xfrm>
          <a:prstGeom prst="rect">
            <a:avLst/>
          </a:prstGeom>
        </p:spPr>
      </p:pic>
      <p:pic>
        <p:nvPicPr>
          <p:cNvPr id="5" name="Image 1" descr="preencoded.png">    </p:cNvPr>
          <p:cNvPicPr>
            <a:picLocks noChangeAspect="1"/>
          </p:cNvPicPr>
          <p:nvPr/>
        </p:nvPicPr>
        <p:blipFill>
          <a:blip r:embed="rId2"/>
          <a:srcRect l="0" r="0" t="0" b="0"/>
          <a:stretch/>
        </p:blipFill>
        <p:spPr>
          <a:xfrm>
            <a:off x="274320" y="3200400"/>
            <a:ext cx="4114800" cy="1645920"/>
          </a:xfrm>
          <a:prstGeom prst="rect">
            <a:avLst/>
          </a:prstGeom>
        </p:spPr>
      </p:pic>
      <p:sp>
        <p:nvSpPr>
          <p:cNvPr id="6" name="Text 2"/>
          <p:cNvSpPr/>
          <p:nvPr/>
        </p:nvSpPr>
        <p:spPr>
          <a:xfrm>
            <a:off x="274320" y="4754880"/>
            <a:ext cx="4114800" cy="274320"/>
          </a:xfrm>
          <a:prstGeom prst="rect">
            <a:avLst/>
          </a:prstGeom>
          <a:noFill/>
          <a:ln/>
        </p:spPr>
        <p:txBody>
          <a:bodyPr wrap="square" rtlCol="0" anchor="ctr"/>
          <a:lstStyle/>
          <a:p>
            <a:pPr algn="ctr" indent="0" marL="0">
              <a:buNone/>
            </a:pPr>
            <a:r>
              <a:rPr lang="en-US" sz="900" i="1" dirty="0">
                <a:solidFill>
                  <a:srgbClr val="64748B"/>
                </a:solidFill>
              </a:rPr>
              <a:t>Fig 1: Multigrate architecture (top) and three key applications (bottom)</a:t>
            </a:r>
            <a:endParaRPr lang="en-US" sz="900" dirty="0"/>
          </a:p>
        </p:txBody>
      </p:sp>
      <p:sp>
        <p:nvSpPr>
          <p:cNvPr id="7" name="Shape 3"/>
          <p:cNvSpPr/>
          <p:nvPr/>
        </p:nvSpPr>
        <p:spPr>
          <a:xfrm>
            <a:off x="4663440" y="914400"/>
            <a:ext cx="4206240" cy="914400"/>
          </a:xfrm>
          <a:prstGeom prst="rect">
            <a:avLst/>
          </a:prstGeom>
          <a:solidFill>
            <a:srgbClr val="F4F7FC"/>
          </a:solidFill>
          <a:ln/>
          <a:effectLst>
            <a:outerShdw sx="100000" sy="100000" kx="0" ky="0" algn="bl" rotWithShape="0" blurRad="50800" dist="12700" dir="8100000">
              <a:srgbClr val="000000">
                <a:alpha val="8000"/>
              </a:srgbClr>
            </a:outerShdw>
          </a:effectLst>
        </p:spPr>
      </p:sp>
      <p:sp>
        <p:nvSpPr>
          <p:cNvPr id="8" name="Shape 4"/>
          <p:cNvSpPr/>
          <p:nvPr/>
        </p:nvSpPr>
        <p:spPr>
          <a:xfrm>
            <a:off x="4663440" y="914400"/>
            <a:ext cx="54864" cy="914400"/>
          </a:xfrm>
          <a:prstGeom prst="rect">
            <a:avLst/>
          </a:prstGeom>
          <a:solidFill>
            <a:srgbClr val="4472C4"/>
          </a:solidFill>
          <a:ln/>
        </p:spPr>
      </p:sp>
      <p:sp>
        <p:nvSpPr>
          <p:cNvPr id="9" name="Text 5"/>
          <p:cNvSpPr/>
          <p:nvPr/>
        </p:nvSpPr>
        <p:spPr>
          <a:xfrm>
            <a:off x="4800600" y="969264"/>
            <a:ext cx="397764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Modality Encoders</a:t>
            </a:r>
            <a:endParaRPr lang="en-US" sz="1300" dirty="0"/>
          </a:p>
        </p:txBody>
      </p:sp>
      <p:sp>
        <p:nvSpPr>
          <p:cNvPr id="10" name="Text 6"/>
          <p:cNvSpPr/>
          <p:nvPr/>
        </p:nvSpPr>
        <p:spPr>
          <a:xfrm>
            <a:off x="4800600" y="1261872"/>
            <a:ext cx="3977640" cy="530352"/>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Separate neural network for each modality. Each maps its input into a Gaussian distribution (mean μ, variance σ) over the latent space, conditioned on batch labels.</a:t>
            </a:r>
            <a:endParaRPr lang="en-US" sz="1100" dirty="0"/>
          </a:p>
        </p:txBody>
      </p:sp>
      <p:sp>
        <p:nvSpPr>
          <p:cNvPr id="11" name="Shape 7"/>
          <p:cNvSpPr/>
          <p:nvPr/>
        </p:nvSpPr>
        <p:spPr>
          <a:xfrm>
            <a:off x="4663440" y="1938528"/>
            <a:ext cx="4206240" cy="914400"/>
          </a:xfrm>
          <a:prstGeom prst="rect">
            <a:avLst/>
          </a:prstGeom>
          <a:solidFill>
            <a:srgbClr val="F4F7FC"/>
          </a:solidFill>
          <a:ln/>
          <a:effectLst>
            <a:outerShdw sx="100000" sy="100000" kx="0" ky="0" algn="bl" rotWithShape="0" blurRad="50800" dist="12700" dir="8100000">
              <a:srgbClr val="000000">
                <a:alpha val="8000"/>
              </a:srgbClr>
            </a:outerShdw>
          </a:effectLst>
        </p:spPr>
      </p:sp>
      <p:sp>
        <p:nvSpPr>
          <p:cNvPr id="12" name="Shape 8"/>
          <p:cNvSpPr/>
          <p:nvPr/>
        </p:nvSpPr>
        <p:spPr>
          <a:xfrm>
            <a:off x="4663440" y="1938528"/>
            <a:ext cx="54864" cy="914400"/>
          </a:xfrm>
          <a:prstGeom prst="rect">
            <a:avLst/>
          </a:prstGeom>
          <a:solidFill>
            <a:srgbClr val="4472C4"/>
          </a:solidFill>
          <a:ln/>
        </p:spPr>
      </p:sp>
      <p:sp>
        <p:nvSpPr>
          <p:cNvPr id="13" name="Text 9"/>
          <p:cNvSpPr/>
          <p:nvPr/>
        </p:nvSpPr>
        <p:spPr>
          <a:xfrm>
            <a:off x="4800600" y="1993392"/>
            <a:ext cx="397764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Product of Experts Fusion</a:t>
            </a:r>
            <a:endParaRPr lang="en-US" sz="1300" dirty="0"/>
          </a:p>
        </p:txBody>
      </p:sp>
      <p:sp>
        <p:nvSpPr>
          <p:cNvPr id="14" name="Text 10"/>
          <p:cNvSpPr/>
          <p:nvPr/>
        </p:nvSpPr>
        <p:spPr>
          <a:xfrm>
            <a:off x="4800600" y="2286000"/>
            <a:ext cx="3977640" cy="530352"/>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Multiplies the Gaussian distributions from all encoders. Missing modalities contribute a flat prior (no information). Result: one joint distribution Z_joint.</a:t>
            </a:r>
            <a:endParaRPr lang="en-US" sz="1100" dirty="0"/>
          </a:p>
        </p:txBody>
      </p:sp>
      <p:sp>
        <p:nvSpPr>
          <p:cNvPr id="15" name="Shape 11"/>
          <p:cNvSpPr/>
          <p:nvPr/>
        </p:nvSpPr>
        <p:spPr>
          <a:xfrm>
            <a:off x="4663440" y="2962656"/>
            <a:ext cx="4206240" cy="914400"/>
          </a:xfrm>
          <a:prstGeom prst="rect">
            <a:avLst/>
          </a:prstGeom>
          <a:solidFill>
            <a:srgbClr val="F4F7FC"/>
          </a:solidFill>
          <a:ln/>
          <a:effectLst>
            <a:outerShdw sx="100000" sy="100000" kx="0" ky="0" algn="bl" rotWithShape="0" blurRad="50800" dist="12700" dir="8100000">
              <a:srgbClr val="000000">
                <a:alpha val="8000"/>
              </a:srgbClr>
            </a:outerShdw>
          </a:effectLst>
        </p:spPr>
      </p:sp>
      <p:sp>
        <p:nvSpPr>
          <p:cNvPr id="16" name="Shape 12"/>
          <p:cNvSpPr/>
          <p:nvPr/>
        </p:nvSpPr>
        <p:spPr>
          <a:xfrm>
            <a:off x="4663440" y="2962656"/>
            <a:ext cx="54864" cy="914400"/>
          </a:xfrm>
          <a:prstGeom prst="rect">
            <a:avLst/>
          </a:prstGeom>
          <a:solidFill>
            <a:srgbClr val="4472C4"/>
          </a:solidFill>
          <a:ln/>
        </p:spPr>
      </p:sp>
      <p:sp>
        <p:nvSpPr>
          <p:cNvPr id="17" name="Text 13"/>
          <p:cNvSpPr/>
          <p:nvPr/>
        </p:nvSpPr>
        <p:spPr>
          <a:xfrm>
            <a:off x="4800600" y="3017520"/>
            <a:ext cx="397764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Shared + Modality Decoders</a:t>
            </a:r>
            <a:endParaRPr lang="en-US" sz="1300" dirty="0"/>
          </a:p>
        </p:txBody>
      </p:sp>
      <p:sp>
        <p:nvSpPr>
          <p:cNvPr id="18" name="Text 14"/>
          <p:cNvSpPr/>
          <p:nvPr/>
        </p:nvSpPr>
        <p:spPr>
          <a:xfrm>
            <a:off x="4800600" y="3310128"/>
            <a:ext cx="3977640" cy="530352"/>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Z_joint → shared decoder reintroduces modality variation → per-modality decoders reconstruct RNA (neg. binomial) and ADT (MSE).</a:t>
            </a:r>
            <a:endParaRPr lang="en-US" sz="1100" dirty="0"/>
          </a:p>
        </p:txBody>
      </p:sp>
      <p:sp>
        <p:nvSpPr>
          <p:cNvPr id="19" name="Shape 15"/>
          <p:cNvSpPr/>
          <p:nvPr/>
        </p:nvSpPr>
        <p:spPr>
          <a:xfrm>
            <a:off x="4663440" y="3986784"/>
            <a:ext cx="4206240" cy="914400"/>
          </a:xfrm>
          <a:prstGeom prst="rect">
            <a:avLst/>
          </a:prstGeom>
          <a:solidFill>
            <a:srgbClr val="F4F7FC"/>
          </a:solidFill>
          <a:ln/>
          <a:effectLst>
            <a:outerShdw sx="100000" sy="100000" kx="0" ky="0" algn="bl" rotWithShape="0" blurRad="50800" dist="12700" dir="8100000">
              <a:srgbClr val="000000">
                <a:alpha val="8000"/>
              </a:srgbClr>
            </a:outerShdw>
          </a:effectLst>
        </p:spPr>
      </p:sp>
      <p:sp>
        <p:nvSpPr>
          <p:cNvPr id="20" name="Shape 16"/>
          <p:cNvSpPr/>
          <p:nvPr/>
        </p:nvSpPr>
        <p:spPr>
          <a:xfrm>
            <a:off x="4663440" y="3986784"/>
            <a:ext cx="54864" cy="914400"/>
          </a:xfrm>
          <a:prstGeom prst="rect">
            <a:avLst/>
          </a:prstGeom>
          <a:solidFill>
            <a:srgbClr val="4472C4"/>
          </a:solidFill>
          <a:ln/>
        </p:spPr>
      </p:sp>
      <p:sp>
        <p:nvSpPr>
          <p:cNvPr id="21" name="Text 17"/>
          <p:cNvSpPr/>
          <p:nvPr/>
        </p:nvSpPr>
        <p:spPr>
          <a:xfrm>
            <a:off x="4800600" y="4041648"/>
            <a:ext cx="3977640" cy="292608"/>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MMD Loss</a:t>
            </a:r>
            <a:endParaRPr lang="en-US" sz="1300" dirty="0"/>
          </a:p>
        </p:txBody>
      </p:sp>
      <p:sp>
        <p:nvSpPr>
          <p:cNvPr id="22" name="Text 18"/>
          <p:cNvSpPr/>
          <p:nvPr/>
        </p:nvSpPr>
        <p:spPr>
          <a:xfrm>
            <a:off x="4800600" y="4334256"/>
            <a:ext cx="3977640" cy="530352"/>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Maximum Mean Discrepancy pushes latent distributions of different datasets to overlap, removing batch effects without losing biology.</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1E2761"/>
          </a:solidFill>
          <a:ln/>
        </p:spPr>
      </p:sp>
      <p:sp>
        <p:nvSpPr>
          <p:cNvPr id="3" name="Text 1"/>
          <p:cNvSpPr/>
          <p:nvPr/>
        </p:nvSpPr>
        <p:spPr>
          <a:xfrm>
            <a:off x="457200" y="164592"/>
            <a:ext cx="8229600" cy="594360"/>
          </a:xfrm>
          <a:prstGeom prst="rect">
            <a:avLst/>
          </a:prstGeom>
          <a:noFill/>
          <a:ln/>
        </p:spPr>
        <p:txBody>
          <a:bodyPr wrap="square" lIns="0" tIns="0" rIns="0" bIns="0" rtlCol="0" anchor="ctr"/>
          <a:lstStyle/>
          <a:p>
            <a:pPr algn="l" indent="0" marL="0">
              <a:buNone/>
            </a:pPr>
            <a:r>
              <a:rPr lang="en-US" sz="2800" b="1" dirty="0">
                <a:solidFill>
                  <a:srgbClr val="1E2761"/>
                </a:solidFill>
                <a:latin typeface="Calibri" pitchFamily="34" charset="0"/>
                <a:ea typeface="Calibri" pitchFamily="34" charset="-122"/>
                <a:cs typeface="Calibri" pitchFamily="34" charset="-120"/>
              </a:rPr>
              <a:t>Key Innovation: Product of Experts (PoE)</a:t>
            </a:r>
            <a:endParaRPr lang="en-US" sz="2800" dirty="0"/>
          </a:p>
        </p:txBody>
      </p:sp>
      <p:sp>
        <p:nvSpPr>
          <p:cNvPr id="4" name="Shape 2"/>
          <p:cNvSpPr/>
          <p:nvPr/>
        </p:nvSpPr>
        <p:spPr>
          <a:xfrm>
            <a:off x="274320" y="914400"/>
            <a:ext cx="8595360" cy="960120"/>
          </a:xfrm>
          <a:prstGeom prst="rect">
            <a:avLst/>
          </a:prstGeom>
          <a:solidFill>
            <a:srgbClr val="1E2761"/>
          </a:solidFill>
          <a:ln/>
        </p:spPr>
      </p:sp>
      <p:sp>
        <p:nvSpPr>
          <p:cNvPr id="5" name="Text 3"/>
          <p:cNvSpPr/>
          <p:nvPr/>
        </p:nvSpPr>
        <p:spPr>
          <a:xfrm>
            <a:off x="274320" y="914400"/>
            <a:ext cx="8595360" cy="960120"/>
          </a:xfrm>
          <a:prstGeom prst="rect">
            <a:avLst/>
          </a:prstGeom>
          <a:noFill/>
          <a:ln/>
        </p:spPr>
        <p:txBody>
          <a:bodyPr wrap="square" rtlCol="0" anchor="ctr"/>
          <a:lstStyle/>
          <a:p>
            <a:pPr algn="ctr" indent="0" marL="0">
              <a:buNone/>
            </a:pPr>
            <a:r>
              <a:rPr lang="en-US" sz="1400" dirty="0">
                <a:solidFill>
                  <a:srgbClr val="FFFFFF"/>
                </a:solidFill>
                <a:latin typeface="Calibri" pitchFamily="34" charset="0"/>
                <a:ea typeface="Calibri" pitchFamily="34" charset="-122"/>
                <a:cs typeface="Calibri" pitchFamily="34" charset="-120"/>
              </a:rPr>
              <a:t>Intuition: If RNA says "this is a T cell" and protein says "this is a T cell,"</a:t>
            </a:r>
            <a:endParaRPr lang="en-US" sz="1400" dirty="0"/>
          </a:p>
          <a:p>
            <a:pPr algn="ctr" indent="0" marL="0">
              <a:buNone/>
            </a:pPr>
            <a:r>
              <a:rPr lang="en-US" sz="1400" dirty="0">
                <a:solidFill>
                  <a:srgbClr val="FFFFFF"/>
                </a:solidFill>
                <a:latin typeface="Calibri" pitchFamily="34" charset="0"/>
                <a:ea typeface="Calibri" pitchFamily="34" charset="-122"/>
                <a:cs typeface="Calibri" pitchFamily="34" charset="-120"/>
              </a:rPr>
              <a:t>multiplying those beliefs gives much stronger confidence than either alone.</a:t>
            </a:r>
            <a:endParaRPr lang="en-US" sz="1400" dirty="0"/>
          </a:p>
        </p:txBody>
      </p:sp>
      <p:sp>
        <p:nvSpPr>
          <p:cNvPr id="6" name="Text 4"/>
          <p:cNvSpPr/>
          <p:nvPr/>
        </p:nvSpPr>
        <p:spPr>
          <a:xfrm>
            <a:off x="274320" y="2029968"/>
            <a:ext cx="3657600" cy="365760"/>
          </a:xfrm>
          <a:prstGeom prst="rect">
            <a:avLst/>
          </a:prstGeom>
          <a:noFill/>
          <a:ln/>
        </p:spPr>
        <p:txBody>
          <a:bodyPr wrap="square"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Joint posterior formula:</a:t>
            </a:r>
            <a:endParaRPr lang="en-US" sz="1300" dirty="0"/>
          </a:p>
        </p:txBody>
      </p:sp>
      <p:sp>
        <p:nvSpPr>
          <p:cNvPr id="7" name="Shape 5"/>
          <p:cNvSpPr/>
          <p:nvPr/>
        </p:nvSpPr>
        <p:spPr>
          <a:xfrm>
            <a:off x="274320" y="2377440"/>
            <a:ext cx="8595360" cy="548640"/>
          </a:xfrm>
          <a:prstGeom prst="rect">
            <a:avLst/>
          </a:prstGeom>
          <a:solidFill>
            <a:srgbClr val="F4F7FC"/>
          </a:solidFill>
          <a:ln/>
        </p:spPr>
      </p:sp>
      <p:sp>
        <p:nvSpPr>
          <p:cNvPr id="8" name="Text 6"/>
          <p:cNvSpPr/>
          <p:nvPr/>
        </p:nvSpPr>
        <p:spPr>
          <a:xfrm>
            <a:off x="274320" y="2377440"/>
            <a:ext cx="8595360" cy="54864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q(Z_joint | X, S)  =  ∏ᵢ  q(Zᵢ | Xᵢ, Sᵢ)     where  mᵢ = 1 if modality present, 0 if missing</a:t>
            </a:r>
            <a:endParaRPr lang="en-US" sz="1400" dirty="0"/>
          </a:p>
        </p:txBody>
      </p:sp>
      <p:sp>
        <p:nvSpPr>
          <p:cNvPr id="9" name="Shape 7"/>
          <p:cNvSpPr/>
          <p:nvPr/>
        </p:nvSpPr>
        <p:spPr>
          <a:xfrm>
            <a:off x="274320" y="3127248"/>
            <a:ext cx="2743200" cy="1783080"/>
          </a:xfrm>
          <a:prstGeom prst="rect">
            <a:avLst/>
          </a:prstGeom>
          <a:solidFill>
            <a:srgbClr val="F4F7FC"/>
          </a:solidFill>
          <a:ln/>
          <a:effectLst>
            <a:outerShdw sx="100000" sy="100000" kx="0" ky="0" algn="bl" rotWithShape="0" blurRad="63500" dist="12700" dir="8100000">
              <a:srgbClr val="000000">
                <a:alpha val="9000"/>
              </a:srgbClr>
            </a:outerShdw>
          </a:effectLst>
        </p:spPr>
      </p:sp>
      <p:sp>
        <p:nvSpPr>
          <p:cNvPr id="10" name="Text 8"/>
          <p:cNvSpPr/>
          <p:nvPr/>
        </p:nvSpPr>
        <p:spPr>
          <a:xfrm>
            <a:off x="274320" y="3218688"/>
            <a:ext cx="2743200" cy="45720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1" name="Text 9"/>
          <p:cNvSpPr/>
          <p:nvPr/>
        </p:nvSpPr>
        <p:spPr>
          <a:xfrm>
            <a:off x="365760" y="3703320"/>
            <a:ext cx="2560320" cy="320040"/>
          </a:xfrm>
          <a:prstGeom prst="rect">
            <a:avLst/>
          </a:prstGeom>
          <a:no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Precision-weighted</a:t>
            </a:r>
            <a:endParaRPr lang="en-US" sz="1200" dirty="0"/>
          </a:p>
        </p:txBody>
      </p:sp>
      <p:sp>
        <p:nvSpPr>
          <p:cNvPr id="12" name="Text 10"/>
          <p:cNvSpPr/>
          <p:nvPr/>
        </p:nvSpPr>
        <p:spPr>
          <a:xfrm>
            <a:off x="365760" y="4041648"/>
            <a:ext cx="2560320" cy="822960"/>
          </a:xfrm>
          <a:prstGeom prst="rect">
            <a:avLst/>
          </a:prstGeom>
          <a:noFill/>
          <a:ln/>
        </p:spPr>
        <p:txBody>
          <a:bodyPr wrap="square" rtlCol="0" anchor="ctr"/>
          <a:lstStyle/>
          <a:p>
            <a:pPr algn="l" indent="0" marL="0">
              <a:buNone/>
            </a:pPr>
            <a:r>
              <a:rPr lang="en-US" sz="1100" dirty="0">
                <a:solidFill>
                  <a:srgbClr val="1E293B"/>
                </a:solidFill>
                <a:latin typeface="Calibri" pitchFamily="34" charset="0"/>
                <a:ea typeface="Calibri" pitchFamily="34" charset="-122"/>
                <a:cs typeface="Calibri" pitchFamily="34" charset="-120"/>
              </a:rPr>
              <a:t>Modalities that are more certain (lower variance) automatically contribute more to the joint estimate</a:t>
            </a:r>
            <a:endParaRPr lang="en-US" sz="1100" dirty="0"/>
          </a:p>
        </p:txBody>
      </p:sp>
      <p:sp>
        <p:nvSpPr>
          <p:cNvPr id="13" name="Shape 11"/>
          <p:cNvSpPr/>
          <p:nvPr/>
        </p:nvSpPr>
        <p:spPr>
          <a:xfrm>
            <a:off x="3200400" y="3127248"/>
            <a:ext cx="2743200" cy="1783080"/>
          </a:xfrm>
          <a:prstGeom prst="rect">
            <a:avLst/>
          </a:prstGeom>
          <a:solidFill>
            <a:srgbClr val="F4F7FC"/>
          </a:solidFill>
          <a:ln/>
          <a:effectLst>
            <a:outerShdw sx="100000" sy="100000" kx="0" ky="0" algn="bl" rotWithShape="0" blurRad="63500" dist="12700" dir="8100000">
              <a:srgbClr val="000000">
                <a:alpha val="9000"/>
              </a:srgbClr>
            </a:outerShdw>
          </a:effectLst>
        </p:spPr>
      </p:sp>
      <p:sp>
        <p:nvSpPr>
          <p:cNvPr id="14" name="Text 12"/>
          <p:cNvSpPr/>
          <p:nvPr/>
        </p:nvSpPr>
        <p:spPr>
          <a:xfrm>
            <a:off x="3200400" y="3218688"/>
            <a:ext cx="2743200" cy="45720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5" name="Text 13"/>
          <p:cNvSpPr/>
          <p:nvPr/>
        </p:nvSpPr>
        <p:spPr>
          <a:xfrm>
            <a:off x="3291840" y="3703320"/>
            <a:ext cx="2560320" cy="320040"/>
          </a:xfrm>
          <a:prstGeom prst="rect">
            <a:avLst/>
          </a:prstGeom>
          <a:no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Handles missing data</a:t>
            </a:r>
            <a:endParaRPr lang="en-US" sz="1200" dirty="0"/>
          </a:p>
        </p:txBody>
      </p:sp>
      <p:sp>
        <p:nvSpPr>
          <p:cNvPr id="16" name="Text 14"/>
          <p:cNvSpPr/>
          <p:nvPr/>
        </p:nvSpPr>
        <p:spPr>
          <a:xfrm>
            <a:off x="3291840" y="4041648"/>
            <a:ext cx="2560320" cy="822960"/>
          </a:xfrm>
          <a:prstGeom prst="rect">
            <a:avLst/>
          </a:prstGeom>
          <a:noFill/>
          <a:ln/>
        </p:spPr>
        <p:txBody>
          <a:bodyPr wrap="square" rtlCol="0" anchor="ctr"/>
          <a:lstStyle/>
          <a:p>
            <a:pPr algn="l" indent="0" marL="0">
              <a:buNone/>
            </a:pPr>
            <a:r>
              <a:rPr lang="en-US" sz="1100" dirty="0">
                <a:solidFill>
                  <a:srgbClr val="1E293B"/>
                </a:solidFill>
                <a:latin typeface="Calibri" pitchFamily="34" charset="0"/>
                <a:ea typeface="Calibri" pitchFamily="34" charset="-122"/>
                <a:cs typeface="Calibri" pitchFamily="34" charset="-120"/>
              </a:rPr>
              <a:t>Set mᵢ = 0 for missing modalities — they contribute the prior (no information) rather than noise</a:t>
            </a:r>
            <a:endParaRPr lang="en-US" sz="1100" dirty="0"/>
          </a:p>
        </p:txBody>
      </p:sp>
      <p:sp>
        <p:nvSpPr>
          <p:cNvPr id="17" name="Shape 15"/>
          <p:cNvSpPr/>
          <p:nvPr/>
        </p:nvSpPr>
        <p:spPr>
          <a:xfrm>
            <a:off x="6126480" y="3127248"/>
            <a:ext cx="2743200" cy="1783080"/>
          </a:xfrm>
          <a:prstGeom prst="rect">
            <a:avLst/>
          </a:prstGeom>
          <a:solidFill>
            <a:srgbClr val="F4F7FC"/>
          </a:solidFill>
          <a:ln/>
          <a:effectLst>
            <a:outerShdw sx="100000" sy="100000" kx="0" ky="0" algn="bl" rotWithShape="0" blurRad="63500" dist="12700" dir="8100000">
              <a:srgbClr val="000000">
                <a:alpha val="9000"/>
              </a:srgbClr>
            </a:outerShdw>
          </a:effectLst>
        </p:spPr>
      </p:sp>
      <p:sp>
        <p:nvSpPr>
          <p:cNvPr id="18" name="Text 16"/>
          <p:cNvSpPr/>
          <p:nvPr/>
        </p:nvSpPr>
        <p:spPr>
          <a:xfrm>
            <a:off x="6126480" y="3218688"/>
            <a:ext cx="2743200" cy="457200"/>
          </a:xfrm>
          <a:prstGeom prst="rect">
            <a:avLst/>
          </a:prstGeom>
          <a:noFill/>
          <a:ln/>
        </p:spPr>
        <p:txBody>
          <a:bodyPr wrap="square" rtlCol="0" anchor="ctr"/>
          <a:lstStyle/>
          <a:p>
            <a:pPr algn="ctr" indent="0" marL="0">
              <a:buNone/>
            </a:pPr>
            <a:r>
              <a:rPr lang="en-US" sz="2600" dirty="0">
                <a:solidFill>
                  <a:srgbClr val="000000"/>
                </a:solidFill>
              </a:rPr>
              <a:t>📐</a:t>
            </a:r>
            <a:endParaRPr lang="en-US" sz="2600" dirty="0"/>
          </a:p>
        </p:txBody>
      </p:sp>
      <p:sp>
        <p:nvSpPr>
          <p:cNvPr id="19" name="Text 17"/>
          <p:cNvSpPr/>
          <p:nvPr/>
        </p:nvSpPr>
        <p:spPr>
          <a:xfrm>
            <a:off x="6217920" y="3703320"/>
            <a:ext cx="2560320" cy="320040"/>
          </a:xfrm>
          <a:prstGeom prst="rect">
            <a:avLst/>
          </a:prstGeom>
          <a:noFill/>
          <a:ln/>
        </p:spPr>
        <p:txBody>
          <a:bodyPr wrap="square" rtlCol="0" anchor="ctr"/>
          <a:lstStyle/>
          <a:p>
            <a:pPr algn="ctr" indent="0" marL="0">
              <a:buNone/>
            </a:pPr>
            <a:r>
              <a:rPr lang="en-US" sz="1200" b="1" dirty="0">
                <a:solidFill>
                  <a:srgbClr val="1E2761"/>
                </a:solidFill>
                <a:latin typeface="Calibri" pitchFamily="34" charset="0"/>
                <a:ea typeface="Calibri" pitchFamily="34" charset="-122"/>
                <a:cs typeface="Calibri" pitchFamily="34" charset="-120"/>
              </a:rPr>
              <a:t>Mathematically principled</a:t>
            </a:r>
            <a:endParaRPr lang="en-US" sz="1200" dirty="0"/>
          </a:p>
        </p:txBody>
      </p:sp>
      <p:sp>
        <p:nvSpPr>
          <p:cNvPr id="20" name="Text 18"/>
          <p:cNvSpPr/>
          <p:nvPr/>
        </p:nvSpPr>
        <p:spPr>
          <a:xfrm>
            <a:off x="6217920" y="4041648"/>
            <a:ext cx="2560320" cy="822960"/>
          </a:xfrm>
          <a:prstGeom prst="rect">
            <a:avLst/>
          </a:prstGeom>
          <a:noFill/>
          <a:ln/>
        </p:spPr>
        <p:txBody>
          <a:bodyPr wrap="square" rtlCol="0" anchor="ctr"/>
          <a:lstStyle/>
          <a:p>
            <a:pPr algn="l" indent="0" marL="0">
              <a:buNone/>
            </a:pPr>
            <a:r>
              <a:rPr lang="en-US" sz="1100" dirty="0">
                <a:solidFill>
                  <a:srgbClr val="1E293B"/>
                </a:solidFill>
                <a:latin typeface="Calibri" pitchFamily="34" charset="0"/>
                <a:ea typeface="Calibri" pitchFamily="34" charset="-122"/>
                <a:cs typeface="Calibri" pitchFamily="34" charset="-120"/>
              </a:rPr>
              <a:t>The joint mean and variance have closed-form solutions — no approximate inference needed</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1E2761"/>
          </a:solidFill>
          <a:ln/>
        </p:spPr>
      </p:sp>
      <p:sp>
        <p:nvSpPr>
          <p:cNvPr id="3" name="Text 1"/>
          <p:cNvSpPr/>
          <p:nvPr/>
        </p:nvSpPr>
        <p:spPr>
          <a:xfrm>
            <a:off x="457200" y="164592"/>
            <a:ext cx="8229600" cy="594360"/>
          </a:xfrm>
          <a:prstGeom prst="rect">
            <a:avLst/>
          </a:prstGeom>
          <a:noFill/>
          <a:ln/>
        </p:spPr>
        <p:txBody>
          <a:bodyPr wrap="square" lIns="0" tIns="0" rIns="0" bIns="0" rtlCol="0" anchor="ctr"/>
          <a:lstStyle/>
          <a:p>
            <a:pPr algn="l" indent="0" marL="0">
              <a:buNone/>
            </a:pPr>
            <a:r>
              <a:rPr lang="en-US" sz="3000" b="1" dirty="0">
                <a:solidFill>
                  <a:srgbClr val="1E2761"/>
                </a:solidFill>
                <a:latin typeface="Calibri" pitchFamily="34" charset="0"/>
                <a:ea typeface="Calibri" pitchFamily="34" charset="-122"/>
                <a:cs typeface="Calibri" pitchFamily="34" charset="-120"/>
              </a:rPr>
              <a:t>Training Objective</a:t>
            </a:r>
            <a:endParaRPr lang="en-US" sz="3000" dirty="0"/>
          </a:p>
        </p:txBody>
      </p:sp>
      <p:sp>
        <p:nvSpPr>
          <p:cNvPr id="4" name="Shape 2"/>
          <p:cNvSpPr/>
          <p:nvPr/>
        </p:nvSpPr>
        <p:spPr>
          <a:xfrm>
            <a:off x="274320" y="914400"/>
            <a:ext cx="8595360" cy="685800"/>
          </a:xfrm>
          <a:prstGeom prst="rect">
            <a:avLst/>
          </a:prstGeom>
          <a:solidFill>
            <a:srgbClr val="1E2761"/>
          </a:solidFill>
          <a:ln/>
        </p:spPr>
      </p:sp>
      <p:sp>
        <p:nvSpPr>
          <p:cNvPr id="5" name="Text 3"/>
          <p:cNvSpPr/>
          <p:nvPr/>
        </p:nvSpPr>
        <p:spPr>
          <a:xfrm>
            <a:off x="274320" y="914400"/>
            <a:ext cx="8595360" cy="68580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L_multigrate  =  Σᵢ L_AE(φ, θ, Xᵢ, Sᵢ, α, η)  +  β Σᵢ&lt;ⱼ L_MMD(Z_joint_i, Z_joint_j)</a:t>
            </a:r>
            <a:endParaRPr lang="en-US" sz="1500" dirty="0"/>
          </a:p>
        </p:txBody>
      </p:sp>
      <p:sp>
        <p:nvSpPr>
          <p:cNvPr id="6" name="Shape 4"/>
          <p:cNvSpPr/>
          <p:nvPr/>
        </p:nvSpPr>
        <p:spPr>
          <a:xfrm>
            <a:off x="274320" y="1783080"/>
            <a:ext cx="2834640" cy="3108960"/>
          </a:xfrm>
          <a:prstGeom prst="rect">
            <a:avLst/>
          </a:prstGeom>
          <a:solidFill>
            <a:srgbClr val="F4F7FC"/>
          </a:solidFill>
          <a:ln/>
          <a:effectLst>
            <a:outerShdw sx="100000" sy="100000" kx="0" ky="0" algn="bl" rotWithShape="0" blurRad="63500" dist="12700" dir="8100000">
              <a:srgbClr val="000000">
                <a:alpha val="9000"/>
              </a:srgbClr>
            </a:outerShdw>
          </a:effectLst>
        </p:spPr>
      </p:sp>
      <p:sp>
        <p:nvSpPr>
          <p:cNvPr id="7" name="Shape 5"/>
          <p:cNvSpPr/>
          <p:nvPr/>
        </p:nvSpPr>
        <p:spPr>
          <a:xfrm>
            <a:off x="274320" y="1783080"/>
            <a:ext cx="2834640" cy="73152"/>
          </a:xfrm>
          <a:prstGeom prst="rect">
            <a:avLst/>
          </a:prstGeom>
          <a:solidFill>
            <a:srgbClr val="4472C4"/>
          </a:solidFill>
          <a:ln/>
        </p:spPr>
      </p:sp>
      <p:sp>
        <p:nvSpPr>
          <p:cNvPr id="8" name="Text 6"/>
          <p:cNvSpPr/>
          <p:nvPr/>
        </p:nvSpPr>
        <p:spPr>
          <a:xfrm>
            <a:off x="365760" y="1901952"/>
            <a:ext cx="2651760" cy="365760"/>
          </a:xfrm>
          <a:prstGeom prst="rect">
            <a:avLst/>
          </a:prstGeom>
          <a:noFill/>
          <a:ln/>
        </p:spPr>
        <p:txBody>
          <a:bodyPr wrap="square"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Reconstruction Loss</a:t>
            </a:r>
            <a:endParaRPr lang="en-US" sz="1300" dirty="0"/>
          </a:p>
        </p:txBody>
      </p:sp>
      <p:sp>
        <p:nvSpPr>
          <p:cNvPr id="9" name="Shape 7"/>
          <p:cNvSpPr/>
          <p:nvPr/>
        </p:nvSpPr>
        <p:spPr>
          <a:xfrm>
            <a:off x="365760" y="2304288"/>
            <a:ext cx="2651760" cy="438912"/>
          </a:xfrm>
          <a:prstGeom prst="rect">
            <a:avLst/>
          </a:prstGeom>
          <a:solidFill>
            <a:srgbClr val="FFFFFF"/>
          </a:solidFill>
          <a:ln/>
        </p:spPr>
      </p:sp>
      <p:sp>
        <p:nvSpPr>
          <p:cNvPr id="10" name="Text 8"/>
          <p:cNvSpPr/>
          <p:nvPr/>
        </p:nvSpPr>
        <p:spPr>
          <a:xfrm>
            <a:off x="365760" y="2304288"/>
            <a:ext cx="2651760" cy="438912"/>
          </a:xfrm>
          <a:prstGeom prst="rect">
            <a:avLst/>
          </a:prstGeom>
          <a:noFill/>
          <a:ln/>
        </p:spPr>
        <p:txBody>
          <a:bodyPr wrap="square" rtlCol="0" anchor="ctr"/>
          <a:lstStyle/>
          <a:p>
            <a:pPr algn="ctr" indent="0" marL="0">
              <a:buNone/>
            </a:pPr>
            <a:r>
              <a:rPr lang="en-US" sz="1100" b="1" dirty="0">
                <a:solidFill>
                  <a:srgbClr val="4472C4"/>
                </a:solidFill>
                <a:latin typeface="Calibri" pitchFamily="34" charset="0"/>
                <a:ea typeface="Calibri" pitchFamily="34" charset="-122"/>
                <a:cs typeface="Calibri" pitchFamily="34" charset="-120"/>
              </a:rPr>
              <a:t>α · E[log p(X | Z_joint, S)]</a:t>
            </a:r>
            <a:endParaRPr lang="en-US" sz="1100" dirty="0"/>
          </a:p>
        </p:txBody>
      </p:sp>
      <p:sp>
        <p:nvSpPr>
          <p:cNvPr id="11" name="Text 9"/>
          <p:cNvSpPr/>
          <p:nvPr/>
        </p:nvSpPr>
        <p:spPr>
          <a:xfrm>
            <a:off x="365760" y="2816352"/>
            <a:ext cx="2651760" cy="1965960"/>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How well does the decoder reconstruct the original input?</a:t>
            </a:r>
            <a:endParaRPr lang="en-US" sz="1100" dirty="0"/>
          </a:p>
          <a:p>
            <a:pPr indent="0" marL="0">
              <a:buNone/>
            </a:pPr>
            <a:r>
              <a:rPr lang="en-US" sz="1100" dirty="0">
                <a:solidFill>
                  <a:srgbClr val="1E293B"/>
                </a:solidFill>
                <a:latin typeface="Calibri" pitchFamily="34" charset="0"/>
                <a:ea typeface="Calibri" pitchFamily="34" charset="-122"/>
                <a:cs typeface="Calibri" pitchFamily="34" charset="-120"/>
              </a:rPr>
              <a:t>• RNA: Negative Binomial — respects integer count data</a:t>
            </a:r>
            <a:endParaRPr lang="en-US" sz="1100" dirty="0"/>
          </a:p>
          <a:p>
            <a:pPr indent="0" marL="0">
              <a:buNone/>
            </a:pPr>
            <a:r>
              <a:rPr lang="en-US" sz="1100" dirty="0">
                <a:solidFill>
                  <a:srgbClr val="1E293B"/>
                </a:solidFill>
                <a:latin typeface="Calibri" pitchFamily="34" charset="0"/>
                <a:ea typeface="Calibri" pitchFamily="34" charset="-122"/>
                <a:cs typeface="Calibri" pitchFamily="34" charset="-120"/>
              </a:rPr>
              <a:t>• Protein: MSE — appropriate for CLR-normalised values</a:t>
            </a:r>
            <a:endParaRPr lang="en-US" sz="1100" dirty="0"/>
          </a:p>
          <a:p>
            <a:pPr indent="0" marL="0">
              <a:buNone/>
            </a:pPr>
            <a:r>
              <a:rPr lang="en-US" sz="1100" dirty="0">
                <a:solidFill>
                  <a:srgbClr val="1E293B"/>
                </a:solidFill>
                <a:latin typeface="Calibri" pitchFamily="34" charset="0"/>
                <a:ea typeface="Calibri" pitchFamily="34" charset="-122"/>
                <a:cs typeface="Calibri" pitchFamily="34" charset="-120"/>
              </a:rPr>
              <a:t>• ATAC: MSE — binarised chromatin peaks</a:t>
            </a:r>
            <a:endParaRPr lang="en-US" sz="1100" dirty="0"/>
          </a:p>
        </p:txBody>
      </p:sp>
      <p:sp>
        <p:nvSpPr>
          <p:cNvPr id="12" name="Shape 10"/>
          <p:cNvSpPr/>
          <p:nvPr/>
        </p:nvSpPr>
        <p:spPr>
          <a:xfrm>
            <a:off x="3218688" y="1783080"/>
            <a:ext cx="2834640" cy="3108960"/>
          </a:xfrm>
          <a:prstGeom prst="rect">
            <a:avLst/>
          </a:prstGeom>
          <a:solidFill>
            <a:srgbClr val="F4F7FC"/>
          </a:solidFill>
          <a:ln/>
          <a:effectLst>
            <a:outerShdw sx="100000" sy="100000" kx="0" ky="0" algn="bl" rotWithShape="0" blurRad="63500" dist="12700" dir="8100000">
              <a:srgbClr val="000000">
                <a:alpha val="9000"/>
              </a:srgbClr>
            </a:outerShdw>
          </a:effectLst>
        </p:spPr>
      </p:sp>
      <p:sp>
        <p:nvSpPr>
          <p:cNvPr id="13" name="Shape 11"/>
          <p:cNvSpPr/>
          <p:nvPr/>
        </p:nvSpPr>
        <p:spPr>
          <a:xfrm>
            <a:off x="3218688" y="1783080"/>
            <a:ext cx="2834640" cy="73152"/>
          </a:xfrm>
          <a:prstGeom prst="rect">
            <a:avLst/>
          </a:prstGeom>
          <a:solidFill>
            <a:srgbClr val="E05252"/>
          </a:solidFill>
          <a:ln/>
        </p:spPr>
      </p:sp>
      <p:sp>
        <p:nvSpPr>
          <p:cNvPr id="14" name="Text 12"/>
          <p:cNvSpPr/>
          <p:nvPr/>
        </p:nvSpPr>
        <p:spPr>
          <a:xfrm>
            <a:off x="3310128" y="1901952"/>
            <a:ext cx="2651760" cy="365760"/>
          </a:xfrm>
          <a:prstGeom prst="rect">
            <a:avLst/>
          </a:prstGeom>
          <a:noFill/>
          <a:ln/>
        </p:spPr>
        <p:txBody>
          <a:bodyPr wrap="square"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KL Divergence</a:t>
            </a:r>
            <a:endParaRPr lang="en-US" sz="1300" dirty="0"/>
          </a:p>
        </p:txBody>
      </p:sp>
      <p:sp>
        <p:nvSpPr>
          <p:cNvPr id="15" name="Shape 13"/>
          <p:cNvSpPr/>
          <p:nvPr/>
        </p:nvSpPr>
        <p:spPr>
          <a:xfrm>
            <a:off x="3310128" y="2304288"/>
            <a:ext cx="2651760" cy="438912"/>
          </a:xfrm>
          <a:prstGeom prst="rect">
            <a:avLst/>
          </a:prstGeom>
          <a:solidFill>
            <a:srgbClr val="FFFFFF"/>
          </a:solidFill>
          <a:ln/>
        </p:spPr>
      </p:sp>
      <p:sp>
        <p:nvSpPr>
          <p:cNvPr id="16" name="Text 14"/>
          <p:cNvSpPr/>
          <p:nvPr/>
        </p:nvSpPr>
        <p:spPr>
          <a:xfrm>
            <a:off x="3310128" y="2304288"/>
            <a:ext cx="2651760" cy="438912"/>
          </a:xfrm>
          <a:prstGeom prst="rect">
            <a:avLst/>
          </a:prstGeom>
          <a:noFill/>
          <a:ln/>
        </p:spPr>
        <p:txBody>
          <a:bodyPr wrap="square" rtlCol="0" anchor="ctr"/>
          <a:lstStyle/>
          <a:p>
            <a:pPr algn="ctr" indent="0" marL="0">
              <a:buNone/>
            </a:pPr>
            <a:r>
              <a:rPr lang="en-US" sz="1100" b="1" dirty="0">
                <a:solidFill>
                  <a:srgbClr val="E05252"/>
                </a:solidFill>
                <a:latin typeface="Calibri" pitchFamily="34" charset="0"/>
                <a:ea typeface="Calibri" pitchFamily="34" charset="-122"/>
                <a:cs typeface="Calibri" pitchFamily="34" charset="-120"/>
              </a:rPr>
              <a:t>η · KL( q(Z_joint) || p(Z_joint) )</a:t>
            </a:r>
            <a:endParaRPr lang="en-US" sz="1100" dirty="0"/>
          </a:p>
        </p:txBody>
      </p:sp>
      <p:sp>
        <p:nvSpPr>
          <p:cNvPr id="17" name="Text 15"/>
          <p:cNvSpPr/>
          <p:nvPr/>
        </p:nvSpPr>
        <p:spPr>
          <a:xfrm>
            <a:off x="3310128" y="2816352"/>
            <a:ext cx="2651760" cy="1965960"/>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Forces the latent space to be smooth and continuous — prevents the model from memorising individual cells.</a:t>
            </a:r>
            <a:endParaRPr lang="en-US" sz="1100" dirty="0"/>
          </a:p>
          <a:p>
            <a:pPr indent="0" marL="0">
              <a:buNone/>
            </a:pPr>
            <a:r>
              <a:rPr lang="en-US" sz="1100" dirty="0">
                <a:solidFill>
                  <a:srgbClr val="1E293B"/>
                </a:solidFill>
                <a:latin typeface="Calibri" pitchFamily="34" charset="0"/>
                <a:ea typeface="Calibri" pitchFamily="34" charset="-122"/>
                <a:cs typeface="Calibri" pitchFamily="34" charset="-120"/>
              </a:rPr>
              <a:t>The prior p is a standard normal distribution N(0, I).</a:t>
            </a:r>
            <a:endParaRPr lang="en-US" sz="1100" dirty="0"/>
          </a:p>
        </p:txBody>
      </p:sp>
      <p:sp>
        <p:nvSpPr>
          <p:cNvPr id="18" name="Shape 16"/>
          <p:cNvSpPr/>
          <p:nvPr/>
        </p:nvSpPr>
        <p:spPr>
          <a:xfrm>
            <a:off x="6163056" y="1783080"/>
            <a:ext cx="2834640" cy="3108960"/>
          </a:xfrm>
          <a:prstGeom prst="rect">
            <a:avLst/>
          </a:prstGeom>
          <a:solidFill>
            <a:srgbClr val="F4F7FC"/>
          </a:solidFill>
          <a:ln/>
          <a:effectLst>
            <a:outerShdw sx="100000" sy="100000" kx="0" ky="0" algn="bl" rotWithShape="0" blurRad="63500" dist="12700" dir="8100000">
              <a:srgbClr val="000000">
                <a:alpha val="9000"/>
              </a:srgbClr>
            </a:outerShdw>
          </a:effectLst>
        </p:spPr>
      </p:sp>
      <p:sp>
        <p:nvSpPr>
          <p:cNvPr id="19" name="Shape 17"/>
          <p:cNvSpPr/>
          <p:nvPr/>
        </p:nvSpPr>
        <p:spPr>
          <a:xfrm>
            <a:off x="6163056" y="1783080"/>
            <a:ext cx="2834640" cy="73152"/>
          </a:xfrm>
          <a:prstGeom prst="rect">
            <a:avLst/>
          </a:prstGeom>
          <a:solidFill>
            <a:srgbClr val="16A34A"/>
          </a:solidFill>
          <a:ln/>
        </p:spPr>
      </p:sp>
      <p:sp>
        <p:nvSpPr>
          <p:cNvPr id="20" name="Text 18"/>
          <p:cNvSpPr/>
          <p:nvPr/>
        </p:nvSpPr>
        <p:spPr>
          <a:xfrm>
            <a:off x="6254496" y="1901952"/>
            <a:ext cx="2651760" cy="365760"/>
          </a:xfrm>
          <a:prstGeom prst="rect">
            <a:avLst/>
          </a:prstGeom>
          <a:noFill/>
          <a:ln/>
        </p:spPr>
        <p:txBody>
          <a:bodyPr wrap="square"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MMD Batch Correction</a:t>
            </a:r>
            <a:endParaRPr lang="en-US" sz="1300" dirty="0"/>
          </a:p>
        </p:txBody>
      </p:sp>
      <p:sp>
        <p:nvSpPr>
          <p:cNvPr id="21" name="Shape 19"/>
          <p:cNvSpPr/>
          <p:nvPr/>
        </p:nvSpPr>
        <p:spPr>
          <a:xfrm>
            <a:off x="6254496" y="2304288"/>
            <a:ext cx="2651760" cy="438912"/>
          </a:xfrm>
          <a:prstGeom prst="rect">
            <a:avLst/>
          </a:prstGeom>
          <a:solidFill>
            <a:srgbClr val="FFFFFF"/>
          </a:solidFill>
          <a:ln/>
        </p:spPr>
      </p:sp>
      <p:sp>
        <p:nvSpPr>
          <p:cNvPr id="22" name="Text 20"/>
          <p:cNvSpPr/>
          <p:nvPr/>
        </p:nvSpPr>
        <p:spPr>
          <a:xfrm>
            <a:off x="6254496" y="2304288"/>
            <a:ext cx="2651760" cy="438912"/>
          </a:xfrm>
          <a:prstGeom prst="rect">
            <a:avLst/>
          </a:prstGeom>
          <a:noFill/>
          <a:ln/>
        </p:spPr>
        <p:txBody>
          <a:bodyPr wrap="square" rtlCol="0" anchor="ctr"/>
          <a:lstStyle/>
          <a:p>
            <a:pPr algn="ctr" indent="0" marL="0">
              <a:buNone/>
            </a:pPr>
            <a:r>
              <a:rPr lang="en-US" sz="1100" b="1" dirty="0">
                <a:solidFill>
                  <a:srgbClr val="16A34A"/>
                </a:solidFill>
                <a:latin typeface="Calibri" pitchFamily="34" charset="0"/>
                <a:ea typeface="Calibri" pitchFamily="34" charset="-122"/>
                <a:cs typeface="Calibri" pitchFamily="34" charset="-120"/>
              </a:rPr>
              <a:t>β · MMD(Z_joint_i, Z_joint_j)</a:t>
            </a:r>
            <a:endParaRPr lang="en-US" sz="1100" dirty="0"/>
          </a:p>
        </p:txBody>
      </p:sp>
      <p:sp>
        <p:nvSpPr>
          <p:cNvPr id="23" name="Text 21"/>
          <p:cNvSpPr/>
          <p:nvPr/>
        </p:nvSpPr>
        <p:spPr>
          <a:xfrm>
            <a:off x="6254496" y="2816352"/>
            <a:ext cx="2651760" cy="1965960"/>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Directly minimises the distance between latent distributions of different datasets.</a:t>
            </a:r>
            <a:endParaRPr lang="en-US" sz="1100" dirty="0"/>
          </a:p>
          <a:p>
            <a:pPr indent="0" marL="0">
              <a:buNone/>
            </a:pPr>
            <a:r>
              <a:rPr lang="en-US" sz="1100" dirty="0">
                <a:solidFill>
                  <a:srgbClr val="1E293B"/>
                </a:solidFill>
                <a:latin typeface="Calibri" pitchFamily="34" charset="0"/>
                <a:ea typeface="Calibri" pitchFamily="34" charset="-122"/>
                <a:cs typeface="Calibri" pitchFamily="34" charset="-120"/>
              </a:rPr>
              <a:t>Uses multi-scale Gaussian kernels.</a:t>
            </a:r>
            <a:endParaRPr lang="en-US" sz="1100" dirty="0"/>
          </a:p>
          <a:p>
            <a:pPr indent="0" marL="0">
              <a:buNone/>
            </a:pPr>
            <a:r>
              <a:rPr lang="en-US" sz="1100" dirty="0">
                <a:solidFill>
                  <a:srgbClr val="1E293B"/>
                </a:solidFill>
                <a:latin typeface="Calibri" pitchFamily="34" charset="0"/>
                <a:ea typeface="Calibri" pitchFamily="34" charset="-122"/>
                <a:cs typeface="Calibri" pitchFamily="34" charset="-120"/>
              </a:rPr>
              <a:t>Ensures cells from different batches overlap in latent space.</a:t>
            </a:r>
            <a:endParaRPr lang="en-US" sz="1100" dirty="0"/>
          </a:p>
        </p:txBody>
      </p:sp>
      <p:sp>
        <p:nvSpPr>
          <p:cNvPr id="24" name="Text 22"/>
          <p:cNvSpPr/>
          <p:nvPr/>
        </p:nvSpPr>
        <p:spPr>
          <a:xfrm>
            <a:off x="274320" y="4983480"/>
            <a:ext cx="8595360" cy="274320"/>
          </a:xfrm>
          <a:prstGeom prst="rect">
            <a:avLst/>
          </a:prstGeom>
          <a:noFill/>
          <a:ln/>
        </p:spPr>
        <p:txBody>
          <a:bodyPr wrap="square" rtlCol="0" anchor="ctr"/>
          <a:lstStyle/>
          <a:p>
            <a:pPr algn="ctr" indent="0" marL="0">
              <a:buNone/>
            </a:pPr>
            <a:r>
              <a:rPr lang="en-US" sz="1000" i="1" dirty="0">
                <a:solidFill>
                  <a:srgbClr val="64748B"/>
                </a:solidFill>
                <a:latin typeface="Calibri" pitchFamily="34" charset="0"/>
                <a:ea typeface="Calibri" pitchFamily="34" charset="-122"/>
                <a:cs typeface="Calibri" pitchFamily="34" charset="-120"/>
              </a:rPr>
              <a:t>α, β, η are hyperparameters tuned by grid search.  Higher β = stronger batch correction.  Higher η = smoother latent space.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1E2761"/>
          </a:solidFill>
          <a:ln/>
        </p:spPr>
      </p:sp>
      <p:sp>
        <p:nvSpPr>
          <p:cNvPr id="3" name="Text 1"/>
          <p:cNvSpPr/>
          <p:nvPr/>
        </p:nvSpPr>
        <p:spPr>
          <a:xfrm>
            <a:off x="457200" y="164592"/>
            <a:ext cx="8229600" cy="594360"/>
          </a:xfrm>
          <a:prstGeom prst="rect">
            <a:avLst/>
          </a:prstGeom>
          <a:noFill/>
          <a:ln/>
        </p:spPr>
        <p:txBody>
          <a:bodyPr wrap="square" lIns="0" tIns="0" rIns="0" bIns="0" rtlCol="0" anchor="ctr"/>
          <a:lstStyle/>
          <a:p>
            <a:pPr algn="l" indent="0" marL="0">
              <a:buNone/>
            </a:pPr>
            <a:r>
              <a:rPr lang="en-US" sz="2800" b="1" dirty="0">
                <a:solidFill>
                  <a:srgbClr val="1E2761"/>
                </a:solidFill>
                <a:latin typeface="Calibri" pitchFamily="34" charset="0"/>
                <a:ea typeface="Calibri" pitchFamily="34" charset="-122"/>
                <a:cs typeface="Calibri" pitchFamily="34" charset="-120"/>
              </a:rPr>
              <a:t>Experiment 1 — Paired CITE-seq Integration</a:t>
            </a:r>
            <a:endParaRPr lang="en-US" sz="2800" dirty="0"/>
          </a:p>
        </p:txBody>
      </p:sp>
      <p:sp>
        <p:nvSpPr>
          <p:cNvPr id="4" name="Shape 2"/>
          <p:cNvSpPr/>
          <p:nvPr/>
        </p:nvSpPr>
        <p:spPr>
          <a:xfrm>
            <a:off x="274320" y="914400"/>
            <a:ext cx="8595360" cy="411480"/>
          </a:xfrm>
          <a:prstGeom prst="rect">
            <a:avLst/>
          </a:prstGeom>
          <a:solidFill>
            <a:srgbClr val="CADCFC"/>
          </a:solidFill>
          <a:ln/>
        </p:spPr>
      </p:sp>
      <p:sp>
        <p:nvSpPr>
          <p:cNvPr id="5" name="Text 3"/>
          <p:cNvSpPr/>
          <p:nvPr/>
        </p:nvSpPr>
        <p:spPr>
          <a:xfrm>
            <a:off x="274320" y="914400"/>
            <a:ext cx="8595360" cy="411480"/>
          </a:xfrm>
          <a:prstGeom prst="rect">
            <a:avLst/>
          </a:prstGeom>
          <a:noFill/>
          <a:ln/>
        </p:spPr>
        <p:txBody>
          <a:bodyPr wrap="square" rtlCol="0" anchor="ctr"/>
          <a:lstStyle/>
          <a:p>
            <a:pPr algn="ctr" indent="0" marL="0">
              <a:buNone/>
            </a:pPr>
            <a:r>
              <a:rPr lang="en-US" sz="1200" dirty="0">
                <a:solidFill>
                  <a:srgbClr val="1E2761"/>
                </a:solidFill>
                <a:latin typeface="Calibri" pitchFamily="34" charset="0"/>
                <a:ea typeface="Calibri" pitchFamily="34" charset="-122"/>
                <a:cs typeface="Calibri" pitchFamily="34" charset="-120"/>
              </a:rPr>
              <a:t>Dataset: NeurIPS 2021 CITE-seq BMMCs  |  20,000 cells  |  RNA (4,000 HVGs) + 134 proteins  |  4 collection sites (batch effect)</a:t>
            </a:r>
            <a:endParaRPr lang="en-US" sz="1200" dirty="0"/>
          </a:p>
        </p:txBody>
      </p:sp>
      <p:pic>
        <p:nvPicPr>
          <p:cNvPr id="6" name="Image 0" descr="preencoded.png">    </p:cNvPr>
          <p:cNvPicPr>
            <a:picLocks noChangeAspect="1"/>
          </p:cNvPicPr>
          <p:nvPr/>
        </p:nvPicPr>
        <p:blipFill>
          <a:blip r:embed="rId1"/>
          <a:srcRect l="0" r="0" t="0" b="0"/>
          <a:stretch/>
        </p:blipFill>
        <p:spPr>
          <a:xfrm>
            <a:off x="274320" y="1444752"/>
            <a:ext cx="5303520" cy="2560320"/>
          </a:xfrm>
          <a:prstGeom prst="rect">
            <a:avLst/>
          </a:prstGeom>
        </p:spPr>
      </p:pic>
      <p:sp>
        <p:nvSpPr>
          <p:cNvPr id="7" name="Text 4"/>
          <p:cNvSpPr/>
          <p:nvPr/>
        </p:nvSpPr>
        <p:spPr>
          <a:xfrm>
            <a:off x="274320" y="4005072"/>
            <a:ext cx="5303520" cy="274320"/>
          </a:xfrm>
          <a:prstGeom prst="rect">
            <a:avLst/>
          </a:prstGeom>
          <a:noFill/>
          <a:ln/>
        </p:spPr>
        <p:txBody>
          <a:bodyPr wrap="square" rtlCol="0" anchor="ctr"/>
          <a:lstStyle/>
          <a:p>
            <a:pPr algn="ctr" indent="0" marL="0">
              <a:buNone/>
            </a:pPr>
            <a:r>
              <a:rPr lang="en-US" sz="900" i="1" dirty="0">
                <a:solidFill>
                  <a:srgbClr val="64748B"/>
                </a:solidFill>
              </a:rPr>
              <a:t>Fig 2a: UMAP of Multigrate latent space — cells coloured by batch and cell type</a:t>
            </a:r>
            <a:endParaRPr lang="en-US" sz="900" dirty="0"/>
          </a:p>
        </p:txBody>
      </p:sp>
      <p:sp>
        <p:nvSpPr>
          <p:cNvPr id="8" name="Shape 5"/>
          <p:cNvSpPr/>
          <p:nvPr/>
        </p:nvSpPr>
        <p:spPr>
          <a:xfrm>
            <a:off x="5760720" y="1444752"/>
            <a:ext cx="3108960" cy="594360"/>
          </a:xfrm>
          <a:prstGeom prst="rect">
            <a:avLst/>
          </a:prstGeom>
          <a:solidFill>
            <a:srgbClr val="F4F7FC"/>
          </a:solidFill>
          <a:ln/>
          <a:effectLst>
            <a:outerShdw sx="100000" sy="100000" kx="0" ky="0" algn="bl" rotWithShape="0" blurRad="38100" dist="12700" dir="8100000">
              <a:srgbClr val="000000">
                <a:alpha val="7000"/>
              </a:srgbClr>
            </a:outerShdw>
          </a:effectLst>
        </p:spPr>
      </p:sp>
      <p:sp>
        <p:nvSpPr>
          <p:cNvPr id="9" name="Text 6"/>
          <p:cNvSpPr/>
          <p:nvPr/>
        </p:nvSpPr>
        <p:spPr>
          <a:xfrm>
            <a:off x="5852160" y="1481328"/>
            <a:ext cx="292608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  Batch correction</a:t>
            </a:r>
            <a:endParaRPr lang="en-US" sz="1200" dirty="0"/>
          </a:p>
        </p:txBody>
      </p:sp>
      <p:sp>
        <p:nvSpPr>
          <p:cNvPr id="10" name="Text 7"/>
          <p:cNvSpPr/>
          <p:nvPr/>
        </p:nvSpPr>
        <p:spPr>
          <a:xfrm>
            <a:off x="5852160" y="1737360"/>
            <a:ext cx="2926080" cy="274320"/>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Cells from all 4 sites mix within each cluster — technical differences removed</a:t>
            </a:r>
            <a:endParaRPr lang="en-US" sz="1050" dirty="0"/>
          </a:p>
        </p:txBody>
      </p:sp>
      <p:sp>
        <p:nvSpPr>
          <p:cNvPr id="11" name="Shape 8"/>
          <p:cNvSpPr/>
          <p:nvPr/>
        </p:nvSpPr>
        <p:spPr>
          <a:xfrm>
            <a:off x="5760720" y="2112264"/>
            <a:ext cx="3108960" cy="594360"/>
          </a:xfrm>
          <a:prstGeom prst="rect">
            <a:avLst/>
          </a:prstGeom>
          <a:solidFill>
            <a:srgbClr val="F4F7FC"/>
          </a:solidFill>
          <a:ln/>
          <a:effectLst>
            <a:outerShdw sx="100000" sy="100000" kx="0" ky="0" algn="bl" rotWithShape="0" blurRad="38100" dist="12700" dir="8100000">
              <a:srgbClr val="000000">
                <a:alpha val="7000"/>
              </a:srgbClr>
            </a:outerShdw>
          </a:effectLst>
        </p:spPr>
      </p:sp>
      <p:sp>
        <p:nvSpPr>
          <p:cNvPr id="12" name="Text 9"/>
          <p:cNvSpPr/>
          <p:nvPr/>
        </p:nvSpPr>
        <p:spPr>
          <a:xfrm>
            <a:off x="5852160" y="2148840"/>
            <a:ext cx="292608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  Bio conservation</a:t>
            </a:r>
            <a:endParaRPr lang="en-US" sz="1200" dirty="0"/>
          </a:p>
        </p:txBody>
      </p:sp>
      <p:sp>
        <p:nvSpPr>
          <p:cNvPr id="13" name="Text 10"/>
          <p:cNvSpPr/>
          <p:nvPr/>
        </p:nvSpPr>
        <p:spPr>
          <a:xfrm>
            <a:off x="5852160" y="2404872"/>
            <a:ext cx="2926080" cy="274320"/>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Distinct cell-type clusters — T cells, B cells, monocytes, NK cells clearly separated</a:t>
            </a:r>
            <a:endParaRPr lang="en-US" sz="1050" dirty="0"/>
          </a:p>
        </p:txBody>
      </p:sp>
      <p:sp>
        <p:nvSpPr>
          <p:cNvPr id="14" name="Shape 11"/>
          <p:cNvSpPr/>
          <p:nvPr/>
        </p:nvSpPr>
        <p:spPr>
          <a:xfrm>
            <a:off x="5760720" y="2779776"/>
            <a:ext cx="3108960" cy="594360"/>
          </a:xfrm>
          <a:prstGeom prst="rect">
            <a:avLst/>
          </a:prstGeom>
          <a:solidFill>
            <a:srgbClr val="F4F7FC"/>
          </a:solidFill>
          <a:ln/>
          <a:effectLst>
            <a:outerShdw sx="100000" sy="100000" kx="0" ky="0" algn="bl" rotWithShape="0" blurRad="38100" dist="12700" dir="8100000">
              <a:srgbClr val="000000">
                <a:alpha val="7000"/>
              </a:srgbClr>
            </a:outerShdw>
          </a:effectLst>
        </p:spPr>
      </p:sp>
      <p:sp>
        <p:nvSpPr>
          <p:cNvPr id="15" name="Text 12"/>
          <p:cNvSpPr/>
          <p:nvPr/>
        </p:nvSpPr>
        <p:spPr>
          <a:xfrm>
            <a:off x="5852160" y="2816352"/>
            <a:ext cx="292608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  ARI &gt; 0.5</a:t>
            </a:r>
            <a:endParaRPr lang="en-US" sz="1200" dirty="0"/>
          </a:p>
        </p:txBody>
      </p:sp>
      <p:sp>
        <p:nvSpPr>
          <p:cNvPr id="16" name="Text 13"/>
          <p:cNvSpPr/>
          <p:nvPr/>
        </p:nvSpPr>
        <p:spPr>
          <a:xfrm>
            <a:off x="5852160" y="3072384"/>
            <a:ext cx="2926080" cy="274320"/>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Clusters match true cell type labels — biologically meaningful groupings preserved</a:t>
            </a:r>
            <a:endParaRPr lang="en-US" sz="1050" dirty="0"/>
          </a:p>
        </p:txBody>
      </p:sp>
      <p:sp>
        <p:nvSpPr>
          <p:cNvPr id="17" name="Shape 14"/>
          <p:cNvSpPr/>
          <p:nvPr/>
        </p:nvSpPr>
        <p:spPr>
          <a:xfrm>
            <a:off x="5760720" y="3447288"/>
            <a:ext cx="3108960" cy="594360"/>
          </a:xfrm>
          <a:prstGeom prst="rect">
            <a:avLst/>
          </a:prstGeom>
          <a:solidFill>
            <a:srgbClr val="F4F7FC"/>
          </a:solidFill>
          <a:ln/>
          <a:effectLst>
            <a:outerShdw sx="100000" sy="100000" kx="0" ky="0" algn="bl" rotWithShape="0" blurRad="38100" dist="12700" dir="8100000">
              <a:srgbClr val="000000">
                <a:alpha val="7000"/>
              </a:srgbClr>
            </a:outerShdw>
          </a:effectLst>
        </p:spPr>
      </p:sp>
      <p:sp>
        <p:nvSpPr>
          <p:cNvPr id="18" name="Text 15"/>
          <p:cNvSpPr/>
          <p:nvPr/>
        </p:nvSpPr>
        <p:spPr>
          <a:xfrm>
            <a:off x="5852160" y="3483864"/>
            <a:ext cx="292608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  NMI &gt; 0.5</a:t>
            </a:r>
            <a:endParaRPr lang="en-US" sz="1200" dirty="0"/>
          </a:p>
        </p:txBody>
      </p:sp>
      <p:sp>
        <p:nvSpPr>
          <p:cNvPr id="19" name="Text 16"/>
          <p:cNvSpPr/>
          <p:nvPr/>
        </p:nvSpPr>
        <p:spPr>
          <a:xfrm>
            <a:off x="5852160" y="3739896"/>
            <a:ext cx="2926080" cy="274320"/>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High mutual information between Leiden clusters and annotated cell types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1E2761"/>
          </a:solidFill>
          <a:ln/>
        </p:spPr>
      </p:sp>
      <p:sp>
        <p:nvSpPr>
          <p:cNvPr id="3" name="Text 1"/>
          <p:cNvSpPr/>
          <p:nvPr/>
        </p:nvSpPr>
        <p:spPr>
          <a:xfrm>
            <a:off x="457200" y="164592"/>
            <a:ext cx="8229600" cy="594360"/>
          </a:xfrm>
          <a:prstGeom prst="rect">
            <a:avLst/>
          </a:prstGeom>
          <a:noFill/>
          <a:ln/>
        </p:spPr>
        <p:txBody>
          <a:bodyPr wrap="square" lIns="0" tIns="0" rIns="0" bIns="0" rtlCol="0" anchor="ctr"/>
          <a:lstStyle/>
          <a:p>
            <a:pPr algn="l" indent="0" marL="0">
              <a:buNone/>
            </a:pPr>
            <a:r>
              <a:rPr lang="en-US" sz="2800" b="1" dirty="0">
                <a:solidFill>
                  <a:srgbClr val="1E2761"/>
                </a:solidFill>
                <a:latin typeface="Calibri" pitchFamily="34" charset="0"/>
                <a:ea typeface="Calibri" pitchFamily="34" charset="-122"/>
                <a:cs typeface="Calibri" pitchFamily="34" charset="-120"/>
              </a:rPr>
              <a:t>Benchmarking Against Competing Methods</a:t>
            </a:r>
            <a:endParaRPr lang="en-US" sz="2800" dirty="0"/>
          </a:p>
        </p:txBody>
      </p:sp>
      <p:pic>
        <p:nvPicPr>
          <p:cNvPr id="4" name="Image 0" descr="preencoded.png">    </p:cNvPr>
          <p:cNvPicPr>
            <a:picLocks noChangeAspect="1"/>
          </p:cNvPicPr>
          <p:nvPr/>
        </p:nvPicPr>
        <p:blipFill>
          <a:blip r:embed="rId1"/>
          <a:srcRect l="0" r="0" t="0" b="0"/>
          <a:stretch/>
        </p:blipFill>
        <p:spPr>
          <a:xfrm>
            <a:off x="274320" y="914400"/>
            <a:ext cx="5029200" cy="2926080"/>
          </a:xfrm>
          <a:prstGeom prst="rect">
            <a:avLst/>
          </a:prstGeom>
        </p:spPr>
      </p:pic>
      <p:sp>
        <p:nvSpPr>
          <p:cNvPr id="5" name="Text 2"/>
          <p:cNvSpPr/>
          <p:nvPr/>
        </p:nvSpPr>
        <p:spPr>
          <a:xfrm>
            <a:off x="274320" y="3840480"/>
            <a:ext cx="5029200" cy="274320"/>
          </a:xfrm>
          <a:prstGeom prst="rect">
            <a:avLst/>
          </a:prstGeom>
          <a:noFill/>
          <a:ln/>
        </p:spPr>
        <p:txBody>
          <a:bodyPr wrap="square" rtlCol="0" anchor="ctr"/>
          <a:lstStyle/>
          <a:p>
            <a:pPr algn="ctr" indent="0" marL="0">
              <a:buNone/>
            </a:pPr>
            <a:r>
              <a:rPr lang="en-US" sz="900" i="1" dirty="0">
                <a:solidFill>
                  <a:srgbClr val="64748B"/>
                </a:solidFill>
              </a:rPr>
              <a:t>Fig 2b/c: Integration quality metrics and ranking across 3 datasets</a:t>
            </a:r>
            <a:endParaRPr lang="en-US" sz="900" dirty="0"/>
          </a:p>
        </p:txBody>
      </p:sp>
      <p:sp>
        <p:nvSpPr>
          <p:cNvPr id="6" name="Text 3"/>
          <p:cNvSpPr/>
          <p:nvPr/>
        </p:nvSpPr>
        <p:spPr>
          <a:xfrm>
            <a:off x="5486400" y="914400"/>
            <a:ext cx="3383280" cy="365760"/>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Evaluation Metrics</a:t>
            </a:r>
            <a:endParaRPr lang="en-US" sz="1500" dirty="0"/>
          </a:p>
        </p:txBody>
      </p:sp>
      <p:sp>
        <p:nvSpPr>
          <p:cNvPr id="7" name="Shape 4"/>
          <p:cNvSpPr/>
          <p:nvPr/>
        </p:nvSpPr>
        <p:spPr>
          <a:xfrm>
            <a:off x="5486400" y="1353312"/>
            <a:ext cx="640080" cy="411480"/>
          </a:xfrm>
          <a:prstGeom prst="rect">
            <a:avLst/>
          </a:prstGeom>
          <a:solidFill>
            <a:srgbClr val="16A34A"/>
          </a:solidFill>
          <a:ln/>
        </p:spPr>
      </p:sp>
      <p:sp>
        <p:nvSpPr>
          <p:cNvPr id="8" name="Text 5"/>
          <p:cNvSpPr/>
          <p:nvPr/>
        </p:nvSpPr>
        <p:spPr>
          <a:xfrm>
            <a:off x="5486400" y="1353312"/>
            <a:ext cx="640080" cy="411480"/>
          </a:xfrm>
          <a:prstGeom prst="rect">
            <a:avLst/>
          </a:prstGeom>
          <a:noFill/>
          <a:ln/>
        </p:spPr>
        <p:txBody>
          <a:bodyPr wrap="square" rtlCol="0" anchor="ctr"/>
          <a:lstStyle/>
          <a:p>
            <a:pPr algn="ctr" indent="0" marL="0">
              <a:buNone/>
            </a:pPr>
            <a:r>
              <a:rPr lang="en-US" sz="900" b="1" dirty="0">
                <a:solidFill>
                  <a:srgbClr val="FFFFFF"/>
                </a:solidFill>
              </a:rPr>
              <a:t>Bio</a:t>
            </a:r>
            <a:endParaRPr lang="en-US" sz="900" dirty="0"/>
          </a:p>
        </p:txBody>
      </p:sp>
      <p:sp>
        <p:nvSpPr>
          <p:cNvPr id="9" name="Text 6"/>
          <p:cNvSpPr/>
          <p:nvPr/>
        </p:nvSpPr>
        <p:spPr>
          <a:xfrm>
            <a:off x="6172200" y="1353312"/>
            <a:ext cx="2743200" cy="411480"/>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ARI — Adjusted Rand Index</a:t>
            </a:r>
            <a:endParaRPr lang="en-US" sz="1100" dirty="0"/>
          </a:p>
        </p:txBody>
      </p:sp>
      <p:sp>
        <p:nvSpPr>
          <p:cNvPr id="10" name="Shape 7"/>
          <p:cNvSpPr/>
          <p:nvPr/>
        </p:nvSpPr>
        <p:spPr>
          <a:xfrm>
            <a:off x="5486400" y="1865376"/>
            <a:ext cx="640080" cy="411480"/>
          </a:xfrm>
          <a:prstGeom prst="rect">
            <a:avLst/>
          </a:prstGeom>
          <a:solidFill>
            <a:srgbClr val="16A34A"/>
          </a:solidFill>
          <a:ln/>
        </p:spPr>
      </p:sp>
      <p:sp>
        <p:nvSpPr>
          <p:cNvPr id="11" name="Text 8"/>
          <p:cNvSpPr/>
          <p:nvPr/>
        </p:nvSpPr>
        <p:spPr>
          <a:xfrm>
            <a:off x="5486400" y="1865376"/>
            <a:ext cx="640080" cy="411480"/>
          </a:xfrm>
          <a:prstGeom prst="rect">
            <a:avLst/>
          </a:prstGeom>
          <a:noFill/>
          <a:ln/>
        </p:spPr>
        <p:txBody>
          <a:bodyPr wrap="square" rtlCol="0" anchor="ctr"/>
          <a:lstStyle/>
          <a:p>
            <a:pPr algn="ctr" indent="0" marL="0">
              <a:buNone/>
            </a:pPr>
            <a:r>
              <a:rPr lang="en-US" sz="900" b="1" dirty="0">
                <a:solidFill>
                  <a:srgbClr val="FFFFFF"/>
                </a:solidFill>
              </a:rPr>
              <a:t>Bio</a:t>
            </a:r>
            <a:endParaRPr lang="en-US" sz="900" dirty="0"/>
          </a:p>
        </p:txBody>
      </p:sp>
      <p:sp>
        <p:nvSpPr>
          <p:cNvPr id="12" name="Text 9"/>
          <p:cNvSpPr/>
          <p:nvPr/>
        </p:nvSpPr>
        <p:spPr>
          <a:xfrm>
            <a:off x="6172200" y="1865376"/>
            <a:ext cx="2743200" cy="411480"/>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NMI — Normalised Mutual Info</a:t>
            </a:r>
            <a:endParaRPr lang="en-US" sz="1100" dirty="0"/>
          </a:p>
        </p:txBody>
      </p:sp>
      <p:sp>
        <p:nvSpPr>
          <p:cNvPr id="13" name="Shape 10"/>
          <p:cNvSpPr/>
          <p:nvPr/>
        </p:nvSpPr>
        <p:spPr>
          <a:xfrm>
            <a:off x="5486400" y="2377440"/>
            <a:ext cx="640080" cy="411480"/>
          </a:xfrm>
          <a:prstGeom prst="rect">
            <a:avLst/>
          </a:prstGeom>
          <a:solidFill>
            <a:srgbClr val="16A34A"/>
          </a:solidFill>
          <a:ln/>
        </p:spPr>
      </p:sp>
      <p:sp>
        <p:nvSpPr>
          <p:cNvPr id="14" name="Text 11"/>
          <p:cNvSpPr/>
          <p:nvPr/>
        </p:nvSpPr>
        <p:spPr>
          <a:xfrm>
            <a:off x="5486400" y="2377440"/>
            <a:ext cx="640080" cy="411480"/>
          </a:xfrm>
          <a:prstGeom prst="rect">
            <a:avLst/>
          </a:prstGeom>
          <a:noFill/>
          <a:ln/>
        </p:spPr>
        <p:txBody>
          <a:bodyPr wrap="square" rtlCol="0" anchor="ctr"/>
          <a:lstStyle/>
          <a:p>
            <a:pPr algn="ctr" indent="0" marL="0">
              <a:buNone/>
            </a:pPr>
            <a:r>
              <a:rPr lang="en-US" sz="900" b="1" dirty="0">
                <a:solidFill>
                  <a:srgbClr val="FFFFFF"/>
                </a:solidFill>
              </a:rPr>
              <a:t>Bio</a:t>
            </a:r>
            <a:endParaRPr lang="en-US" sz="900" dirty="0"/>
          </a:p>
        </p:txBody>
      </p:sp>
      <p:sp>
        <p:nvSpPr>
          <p:cNvPr id="15" name="Text 12"/>
          <p:cNvSpPr/>
          <p:nvPr/>
        </p:nvSpPr>
        <p:spPr>
          <a:xfrm>
            <a:off x="6172200" y="2377440"/>
            <a:ext cx="2743200" cy="411480"/>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ASW cell — Silhouette — cell types</a:t>
            </a:r>
            <a:endParaRPr lang="en-US" sz="1100" dirty="0"/>
          </a:p>
        </p:txBody>
      </p:sp>
      <p:sp>
        <p:nvSpPr>
          <p:cNvPr id="16" name="Shape 13"/>
          <p:cNvSpPr/>
          <p:nvPr/>
        </p:nvSpPr>
        <p:spPr>
          <a:xfrm>
            <a:off x="5486400" y="2889504"/>
            <a:ext cx="640080" cy="411480"/>
          </a:xfrm>
          <a:prstGeom prst="rect">
            <a:avLst/>
          </a:prstGeom>
          <a:solidFill>
            <a:srgbClr val="4472C4"/>
          </a:solidFill>
          <a:ln/>
        </p:spPr>
      </p:sp>
      <p:sp>
        <p:nvSpPr>
          <p:cNvPr id="17" name="Text 14"/>
          <p:cNvSpPr/>
          <p:nvPr/>
        </p:nvSpPr>
        <p:spPr>
          <a:xfrm>
            <a:off x="5486400" y="2889504"/>
            <a:ext cx="640080" cy="411480"/>
          </a:xfrm>
          <a:prstGeom prst="rect">
            <a:avLst/>
          </a:prstGeom>
          <a:noFill/>
          <a:ln/>
        </p:spPr>
        <p:txBody>
          <a:bodyPr wrap="square" rtlCol="0" anchor="ctr"/>
          <a:lstStyle/>
          <a:p>
            <a:pPr algn="ctr" indent="0" marL="0">
              <a:buNone/>
            </a:pPr>
            <a:r>
              <a:rPr lang="en-US" sz="900" b="1" dirty="0">
                <a:solidFill>
                  <a:srgbClr val="FFFFFF"/>
                </a:solidFill>
              </a:rPr>
              <a:t>Batch</a:t>
            </a:r>
            <a:endParaRPr lang="en-US" sz="900" dirty="0"/>
          </a:p>
        </p:txBody>
      </p:sp>
      <p:sp>
        <p:nvSpPr>
          <p:cNvPr id="18" name="Text 15"/>
          <p:cNvSpPr/>
          <p:nvPr/>
        </p:nvSpPr>
        <p:spPr>
          <a:xfrm>
            <a:off x="6172200" y="2889504"/>
            <a:ext cx="2743200" cy="411480"/>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ASW batch — Silhouette — batches</a:t>
            </a:r>
            <a:endParaRPr lang="en-US" sz="1100" dirty="0"/>
          </a:p>
        </p:txBody>
      </p:sp>
      <p:sp>
        <p:nvSpPr>
          <p:cNvPr id="19" name="Shape 16"/>
          <p:cNvSpPr/>
          <p:nvPr/>
        </p:nvSpPr>
        <p:spPr>
          <a:xfrm>
            <a:off x="5486400" y="3401568"/>
            <a:ext cx="640080" cy="411480"/>
          </a:xfrm>
          <a:prstGeom prst="rect">
            <a:avLst/>
          </a:prstGeom>
          <a:solidFill>
            <a:srgbClr val="4472C4"/>
          </a:solidFill>
          <a:ln/>
        </p:spPr>
      </p:sp>
      <p:sp>
        <p:nvSpPr>
          <p:cNvPr id="20" name="Text 17"/>
          <p:cNvSpPr/>
          <p:nvPr/>
        </p:nvSpPr>
        <p:spPr>
          <a:xfrm>
            <a:off x="5486400" y="3401568"/>
            <a:ext cx="640080" cy="411480"/>
          </a:xfrm>
          <a:prstGeom prst="rect">
            <a:avLst/>
          </a:prstGeom>
          <a:noFill/>
          <a:ln/>
        </p:spPr>
        <p:txBody>
          <a:bodyPr wrap="square" rtlCol="0" anchor="ctr"/>
          <a:lstStyle/>
          <a:p>
            <a:pPr algn="ctr" indent="0" marL="0">
              <a:buNone/>
            </a:pPr>
            <a:r>
              <a:rPr lang="en-US" sz="900" b="1" dirty="0">
                <a:solidFill>
                  <a:srgbClr val="FFFFFF"/>
                </a:solidFill>
              </a:rPr>
              <a:t>Batch</a:t>
            </a:r>
            <a:endParaRPr lang="en-US" sz="900" dirty="0"/>
          </a:p>
        </p:txBody>
      </p:sp>
      <p:sp>
        <p:nvSpPr>
          <p:cNvPr id="21" name="Text 18"/>
          <p:cNvSpPr/>
          <p:nvPr/>
        </p:nvSpPr>
        <p:spPr>
          <a:xfrm>
            <a:off x="6172200" y="3401568"/>
            <a:ext cx="2743200" cy="411480"/>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Graph conn. — Connectivity per cell type</a:t>
            </a:r>
            <a:endParaRPr lang="en-US" sz="1100" dirty="0"/>
          </a:p>
        </p:txBody>
      </p:sp>
      <p:sp>
        <p:nvSpPr>
          <p:cNvPr id="22" name="Shape 19"/>
          <p:cNvSpPr/>
          <p:nvPr/>
        </p:nvSpPr>
        <p:spPr>
          <a:xfrm>
            <a:off x="5486400" y="4005072"/>
            <a:ext cx="3383280" cy="502920"/>
          </a:xfrm>
          <a:prstGeom prst="rect">
            <a:avLst/>
          </a:prstGeom>
          <a:solidFill>
            <a:srgbClr val="1E2761"/>
          </a:solidFill>
          <a:ln/>
        </p:spPr>
      </p:sp>
      <p:sp>
        <p:nvSpPr>
          <p:cNvPr id="23" name="Text 20"/>
          <p:cNvSpPr/>
          <p:nvPr/>
        </p:nvSpPr>
        <p:spPr>
          <a:xfrm>
            <a:off x="5486400" y="4005072"/>
            <a:ext cx="3383280" cy="50292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Final Score = 0.6 × Bio Conservation + 0.4 × Batch Correction</a:t>
            </a:r>
            <a:endParaRPr lang="en-US" sz="1100" dirty="0"/>
          </a:p>
        </p:txBody>
      </p:sp>
      <p:sp>
        <p:nvSpPr>
          <p:cNvPr id="24" name="Text 21"/>
          <p:cNvSpPr/>
          <p:nvPr/>
        </p:nvSpPr>
        <p:spPr>
          <a:xfrm>
            <a:off x="5486400" y="4572000"/>
            <a:ext cx="3383280" cy="320040"/>
          </a:xfrm>
          <a:prstGeom prst="rect">
            <a:avLst/>
          </a:prstGeom>
          <a:noFill/>
          <a:ln/>
        </p:spPr>
        <p:txBody>
          <a:bodyPr wrap="square" rtlCol="0" anchor="ctr"/>
          <a:lstStyle/>
          <a:p>
            <a:pPr algn="ctr" indent="0" marL="0">
              <a:buNone/>
            </a:pPr>
            <a:r>
              <a:rPr lang="en-US" sz="1200" b="1" dirty="0">
                <a:solidFill>
                  <a:srgbClr val="16A34A"/>
                </a:solidFill>
                <a:latin typeface="Calibri" pitchFamily="34" charset="0"/>
                <a:ea typeface="Calibri" pitchFamily="34" charset="-122"/>
                <a:cs typeface="Calibri" pitchFamily="34" charset="-120"/>
              </a:rPr>
              <a:t>Multigrate ranks #1 overall across all 3 benchmark datasets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1E2761"/>
          </a:solidFill>
          <a:ln/>
        </p:spPr>
      </p:sp>
      <p:sp>
        <p:nvSpPr>
          <p:cNvPr id="3" name="Text 1"/>
          <p:cNvSpPr/>
          <p:nvPr/>
        </p:nvSpPr>
        <p:spPr>
          <a:xfrm>
            <a:off x="457200" y="164592"/>
            <a:ext cx="8229600" cy="594360"/>
          </a:xfrm>
          <a:prstGeom prst="rect">
            <a:avLst/>
          </a:prstGeom>
          <a:noFill/>
          <a:ln/>
        </p:spPr>
        <p:txBody>
          <a:bodyPr wrap="square" lIns="0" tIns="0" rIns="0" bIns="0" rtlCol="0" anchor="ctr"/>
          <a:lstStyle/>
          <a:p>
            <a:pPr algn="l" indent="0" marL="0">
              <a:buNone/>
            </a:pPr>
            <a:r>
              <a:rPr lang="en-US" sz="2800" b="1" dirty="0">
                <a:solidFill>
                  <a:srgbClr val="1E2761"/>
                </a:solidFill>
                <a:latin typeface="Calibri" pitchFamily="34" charset="0"/>
                <a:ea typeface="Calibri" pitchFamily="34" charset="-122"/>
                <a:cs typeface="Calibri" pitchFamily="34" charset="-120"/>
              </a:rPr>
              <a:t>Experiment 2 — Protein Imputation</a:t>
            </a:r>
            <a:endParaRPr lang="en-US" sz="2800" dirty="0"/>
          </a:p>
        </p:txBody>
      </p:sp>
      <p:sp>
        <p:nvSpPr>
          <p:cNvPr id="4" name="Shape 2"/>
          <p:cNvSpPr/>
          <p:nvPr/>
        </p:nvSpPr>
        <p:spPr>
          <a:xfrm>
            <a:off x="274320" y="914400"/>
            <a:ext cx="8595360" cy="411480"/>
          </a:xfrm>
          <a:prstGeom prst="rect">
            <a:avLst/>
          </a:prstGeom>
          <a:solidFill>
            <a:srgbClr val="CADCFC"/>
          </a:solidFill>
          <a:ln/>
        </p:spPr>
      </p:sp>
      <p:sp>
        <p:nvSpPr>
          <p:cNvPr id="5" name="Text 3"/>
          <p:cNvSpPr/>
          <p:nvPr/>
        </p:nvSpPr>
        <p:spPr>
          <a:xfrm>
            <a:off x="274320" y="914400"/>
            <a:ext cx="8595360" cy="411480"/>
          </a:xfrm>
          <a:prstGeom prst="rect">
            <a:avLst/>
          </a:prstGeom>
          <a:noFill/>
          <a:ln/>
        </p:spPr>
        <p:txBody>
          <a:bodyPr wrap="square" rtlCol="0" anchor="ctr"/>
          <a:lstStyle/>
          <a:p>
            <a:pPr algn="ctr" indent="0" marL="0">
              <a:buNone/>
            </a:pPr>
            <a:r>
              <a:rPr lang="en-US" sz="1200" dirty="0">
                <a:solidFill>
                  <a:srgbClr val="1E2761"/>
                </a:solidFill>
                <a:latin typeface="Calibri" pitchFamily="34" charset="0"/>
                <a:ea typeface="Calibri" pitchFamily="34" charset="-122"/>
                <a:cs typeface="Calibri" pitchFamily="34" charset="-120"/>
              </a:rPr>
              <a:t>15,000 PBMC CITE-seq cells  |  75% paired (RNA + protein) for training  |  25% RNA-only (protein withheld as ground truth)</a:t>
            </a:r>
            <a:endParaRPr lang="en-US" sz="1200" dirty="0"/>
          </a:p>
        </p:txBody>
      </p:sp>
      <p:pic>
        <p:nvPicPr>
          <p:cNvPr id="6" name="Image 0" descr="preencoded.png">    </p:cNvPr>
          <p:cNvPicPr>
            <a:picLocks noChangeAspect="1"/>
          </p:cNvPicPr>
          <p:nvPr/>
        </p:nvPicPr>
        <p:blipFill>
          <a:blip r:embed="rId1"/>
          <a:srcRect l="0" r="0" t="0" b="0"/>
          <a:stretch/>
        </p:blipFill>
        <p:spPr>
          <a:xfrm>
            <a:off x="274320" y="1463040"/>
            <a:ext cx="2926080" cy="2286000"/>
          </a:xfrm>
          <a:prstGeom prst="rect">
            <a:avLst/>
          </a:prstGeom>
        </p:spPr>
      </p:pic>
      <p:sp>
        <p:nvSpPr>
          <p:cNvPr id="7" name="Text 4"/>
          <p:cNvSpPr/>
          <p:nvPr/>
        </p:nvSpPr>
        <p:spPr>
          <a:xfrm>
            <a:off x="274320" y="3749040"/>
            <a:ext cx="2926080" cy="457200"/>
          </a:xfrm>
          <a:prstGeom prst="rect">
            <a:avLst/>
          </a:prstGeom>
          <a:noFill/>
          <a:ln/>
        </p:spPr>
        <p:txBody>
          <a:bodyPr wrap="square" rtlCol="0" anchor="ctr"/>
          <a:lstStyle/>
          <a:p>
            <a:pPr algn="ctr" indent="0" marL="0">
              <a:buNone/>
            </a:pPr>
            <a:r>
              <a:rPr lang="en-US" sz="900" i="1" dirty="0">
                <a:solidFill>
                  <a:srgbClr val="64748B"/>
                </a:solidFill>
              </a:rPr>
              <a:t>Fig 4a: CD3 observed (left) vs Multigrate imputed (right)</a:t>
            </a:r>
            <a:endParaRPr lang="en-US" sz="900" dirty="0"/>
          </a:p>
          <a:p>
            <a:pPr algn="ctr" indent="0" marL="0">
              <a:buNone/>
            </a:pPr>
            <a:r>
              <a:rPr lang="en-US" sz="900" i="1" dirty="0">
                <a:solidFill>
                  <a:srgbClr val="64748B"/>
                </a:solidFill>
              </a:rPr>
              <a:t>High-CD3 T cells cluster in identical regions</a:t>
            </a:r>
            <a:endParaRPr lang="en-US" sz="900" dirty="0"/>
          </a:p>
        </p:txBody>
      </p:sp>
      <p:pic>
        <p:nvPicPr>
          <p:cNvPr id="8" name="Image 1" descr="preencoded.png">    </p:cNvPr>
          <p:cNvPicPr>
            <a:picLocks noChangeAspect="1"/>
          </p:cNvPicPr>
          <p:nvPr/>
        </p:nvPicPr>
        <p:blipFill>
          <a:blip r:embed="rId2"/>
          <a:srcRect l="0" r="0" t="0" b="0"/>
          <a:stretch/>
        </p:blipFill>
        <p:spPr>
          <a:xfrm>
            <a:off x="3383280" y="1463040"/>
            <a:ext cx="1828800" cy="2743200"/>
          </a:xfrm>
          <a:prstGeom prst="rect">
            <a:avLst/>
          </a:prstGeom>
        </p:spPr>
      </p:pic>
      <p:sp>
        <p:nvSpPr>
          <p:cNvPr id="9" name="Text 5"/>
          <p:cNvSpPr/>
          <p:nvPr/>
        </p:nvSpPr>
        <p:spPr>
          <a:xfrm>
            <a:off x="3383280" y="4251960"/>
            <a:ext cx="1828800" cy="274320"/>
          </a:xfrm>
          <a:prstGeom prst="rect">
            <a:avLst/>
          </a:prstGeom>
          <a:noFill/>
          <a:ln/>
        </p:spPr>
        <p:txBody>
          <a:bodyPr wrap="square" rtlCol="0" anchor="ctr"/>
          <a:lstStyle/>
          <a:p>
            <a:pPr algn="ctr" indent="0" marL="0">
              <a:buNone/>
            </a:pPr>
            <a:r>
              <a:rPr lang="en-US" sz="900" i="1" dirty="0">
                <a:solidFill>
                  <a:srgbClr val="64748B"/>
                </a:solidFill>
              </a:rPr>
              <a:t>Fig 4b: Pearson r per protein</a:t>
            </a:r>
            <a:endParaRPr lang="en-US" sz="900" dirty="0"/>
          </a:p>
        </p:txBody>
      </p:sp>
      <p:sp>
        <p:nvSpPr>
          <p:cNvPr id="10" name="Shape 6"/>
          <p:cNvSpPr/>
          <p:nvPr/>
        </p:nvSpPr>
        <p:spPr>
          <a:xfrm>
            <a:off x="5440680" y="1463040"/>
            <a:ext cx="1143000" cy="1645920"/>
          </a:xfrm>
          <a:prstGeom prst="rect">
            <a:avLst/>
          </a:prstGeom>
          <a:solidFill>
            <a:srgbClr val="F4F7FC"/>
          </a:solidFill>
          <a:ln/>
          <a:effectLst>
            <a:outerShdw sx="100000" sy="100000" kx="0" ky="0" algn="bl" rotWithShape="0" blurRad="50800" dist="12700" dir="8100000">
              <a:srgbClr val="000000">
                <a:alpha val="9000"/>
              </a:srgbClr>
            </a:outerShdw>
          </a:effectLst>
        </p:spPr>
      </p:sp>
      <p:sp>
        <p:nvSpPr>
          <p:cNvPr id="11" name="Text 7"/>
          <p:cNvSpPr/>
          <p:nvPr/>
        </p:nvSpPr>
        <p:spPr>
          <a:xfrm>
            <a:off x="5440680" y="1572768"/>
            <a:ext cx="1143000" cy="594360"/>
          </a:xfrm>
          <a:prstGeom prst="rect">
            <a:avLst/>
          </a:prstGeom>
          <a:noFill/>
          <a:ln/>
        </p:spPr>
        <p:txBody>
          <a:bodyPr wrap="square" rtlCol="0" anchor="ctr"/>
          <a:lstStyle/>
          <a:p>
            <a:pPr algn="ctr" indent="0" marL="0">
              <a:buNone/>
            </a:pPr>
            <a:r>
              <a:rPr lang="en-US" sz="2800" b="1" dirty="0">
                <a:solidFill>
                  <a:srgbClr val="4472C4"/>
                </a:solidFill>
              </a:rPr>
              <a:t>0.72</a:t>
            </a:r>
            <a:endParaRPr lang="en-US" sz="2800" dirty="0"/>
          </a:p>
        </p:txBody>
      </p:sp>
      <p:sp>
        <p:nvSpPr>
          <p:cNvPr id="12" name="Text 8"/>
          <p:cNvSpPr/>
          <p:nvPr/>
        </p:nvSpPr>
        <p:spPr>
          <a:xfrm>
            <a:off x="5486400" y="2194560"/>
            <a:ext cx="1051560" cy="822960"/>
          </a:xfrm>
          <a:prstGeom prst="rect">
            <a:avLst/>
          </a:prstGeom>
          <a:noFill/>
          <a:ln/>
        </p:spPr>
        <p:txBody>
          <a:bodyPr wrap="square" rtlCol="0" anchor="ctr"/>
          <a:lstStyle/>
          <a:p>
            <a:pPr algn="ctr" indent="0" marL="0">
              <a:buNone/>
            </a:pPr>
            <a:r>
              <a:rPr lang="en-US" sz="1000" dirty="0">
                <a:solidFill>
                  <a:srgbClr val="1E293B"/>
                </a:solidFill>
                <a:latin typeface="Calibri" pitchFamily="34" charset="0"/>
                <a:ea typeface="Calibri" pitchFamily="34" charset="-122"/>
                <a:cs typeface="Calibri" pitchFamily="34" charset="-120"/>
              </a:rPr>
              <a:t>Mean Pearson r</a:t>
            </a:r>
            <a:endParaRPr lang="en-US" sz="1000" dirty="0"/>
          </a:p>
          <a:p>
            <a:pPr algn="ctr" indent="0" marL="0">
              <a:buNone/>
            </a:pPr>
            <a:r>
              <a:rPr lang="en-US" sz="1000" dirty="0">
                <a:solidFill>
                  <a:srgbClr val="1E293B"/>
                </a:solidFill>
                <a:latin typeface="Calibri" pitchFamily="34" charset="0"/>
                <a:ea typeface="Calibri" pitchFamily="34" charset="-122"/>
                <a:cs typeface="Calibri" pitchFamily="34" charset="-120"/>
              </a:rPr>
              <a:t>(our reproduction,</a:t>
            </a:r>
            <a:endParaRPr lang="en-US" sz="1000" dirty="0"/>
          </a:p>
          <a:p>
            <a:pPr algn="ctr" indent="0" marL="0">
              <a:buNone/>
            </a:pPr>
            <a:r>
              <a:rPr lang="en-US" sz="1000" dirty="0">
                <a:solidFill>
                  <a:srgbClr val="1E293B"/>
                </a:solidFill>
                <a:latin typeface="Calibri" pitchFamily="34" charset="0"/>
                <a:ea typeface="Calibri" pitchFamily="34" charset="-122"/>
                <a:cs typeface="Calibri" pitchFamily="34" charset="-120"/>
              </a:rPr>
              <a:t>134 proteins)</a:t>
            </a:r>
            <a:endParaRPr lang="en-US" sz="1000" dirty="0"/>
          </a:p>
        </p:txBody>
      </p:sp>
      <p:sp>
        <p:nvSpPr>
          <p:cNvPr id="13" name="Shape 9"/>
          <p:cNvSpPr/>
          <p:nvPr/>
        </p:nvSpPr>
        <p:spPr>
          <a:xfrm>
            <a:off x="6675120" y="1463040"/>
            <a:ext cx="1143000" cy="1645920"/>
          </a:xfrm>
          <a:prstGeom prst="rect">
            <a:avLst/>
          </a:prstGeom>
          <a:solidFill>
            <a:srgbClr val="F4F7FC"/>
          </a:solidFill>
          <a:ln/>
          <a:effectLst>
            <a:outerShdw sx="100000" sy="100000" kx="0" ky="0" algn="bl" rotWithShape="0" blurRad="50800" dist="12700" dir="8100000">
              <a:srgbClr val="000000">
                <a:alpha val="9000"/>
              </a:srgbClr>
            </a:outerShdw>
          </a:effectLst>
        </p:spPr>
      </p:sp>
      <p:sp>
        <p:nvSpPr>
          <p:cNvPr id="14" name="Text 10"/>
          <p:cNvSpPr/>
          <p:nvPr/>
        </p:nvSpPr>
        <p:spPr>
          <a:xfrm>
            <a:off x="6675120" y="1572768"/>
            <a:ext cx="1143000" cy="594360"/>
          </a:xfrm>
          <a:prstGeom prst="rect">
            <a:avLst/>
          </a:prstGeom>
          <a:noFill/>
          <a:ln/>
        </p:spPr>
        <p:txBody>
          <a:bodyPr wrap="square" rtlCol="0" anchor="ctr"/>
          <a:lstStyle/>
          <a:p>
            <a:pPr algn="ctr" indent="0" marL="0">
              <a:buNone/>
            </a:pPr>
            <a:r>
              <a:rPr lang="en-US" sz="2800" b="1" dirty="0">
                <a:solidFill>
                  <a:srgbClr val="16A34A"/>
                </a:solidFill>
              </a:rPr>
              <a:t>0.94</a:t>
            </a:r>
            <a:endParaRPr lang="en-US" sz="2800" dirty="0"/>
          </a:p>
        </p:txBody>
      </p:sp>
      <p:sp>
        <p:nvSpPr>
          <p:cNvPr id="15" name="Text 11"/>
          <p:cNvSpPr/>
          <p:nvPr/>
        </p:nvSpPr>
        <p:spPr>
          <a:xfrm>
            <a:off x="6720840" y="2194560"/>
            <a:ext cx="1051560" cy="822960"/>
          </a:xfrm>
          <a:prstGeom prst="rect">
            <a:avLst/>
          </a:prstGeom>
          <a:noFill/>
          <a:ln/>
        </p:spPr>
        <p:txBody>
          <a:bodyPr wrap="square" rtlCol="0" anchor="ctr"/>
          <a:lstStyle/>
          <a:p>
            <a:pPr algn="ctr" indent="0" marL="0">
              <a:buNone/>
            </a:pPr>
            <a:r>
              <a:rPr lang="en-US" sz="1000" dirty="0">
                <a:solidFill>
                  <a:srgbClr val="1E293B"/>
                </a:solidFill>
                <a:latin typeface="Calibri" pitchFamily="34" charset="0"/>
                <a:ea typeface="Calibri" pitchFamily="34" charset="-122"/>
                <a:cs typeface="Calibri" pitchFamily="34" charset="-120"/>
              </a:rPr>
              <a:t>CD3 Pearson r</a:t>
            </a:r>
            <a:endParaRPr lang="en-US" sz="1000" dirty="0"/>
          </a:p>
          <a:p>
            <a:pPr algn="ctr" indent="0" marL="0">
              <a:buNone/>
            </a:pPr>
            <a:r>
              <a:rPr lang="en-US" sz="1000" dirty="0">
                <a:solidFill>
                  <a:srgbClr val="1E293B"/>
                </a:solidFill>
                <a:latin typeface="Calibri" pitchFamily="34" charset="0"/>
                <a:ea typeface="Calibri" pitchFamily="34" charset="-122"/>
                <a:cs typeface="Calibri" pitchFamily="34" charset="-120"/>
              </a:rPr>
              <a:t>(T cell marker,</a:t>
            </a:r>
            <a:endParaRPr lang="en-US" sz="1000" dirty="0"/>
          </a:p>
          <a:p>
            <a:pPr algn="ctr" indent="0" marL="0">
              <a:buNone/>
            </a:pPr>
            <a:r>
              <a:rPr lang="en-US" sz="1000" dirty="0">
                <a:solidFill>
                  <a:srgbClr val="1E293B"/>
                </a:solidFill>
                <a:latin typeface="Calibri" pitchFamily="34" charset="0"/>
                <a:ea typeface="Calibri" pitchFamily="34" charset="-122"/>
                <a:cs typeface="Calibri" pitchFamily="34" charset="-120"/>
              </a:rPr>
              <a:t>best result)</a:t>
            </a:r>
            <a:endParaRPr lang="en-US" sz="1000" dirty="0"/>
          </a:p>
        </p:txBody>
      </p:sp>
      <p:sp>
        <p:nvSpPr>
          <p:cNvPr id="16" name="Shape 12"/>
          <p:cNvSpPr/>
          <p:nvPr/>
        </p:nvSpPr>
        <p:spPr>
          <a:xfrm>
            <a:off x="7909560" y="1463040"/>
            <a:ext cx="1143000" cy="1645920"/>
          </a:xfrm>
          <a:prstGeom prst="rect">
            <a:avLst/>
          </a:prstGeom>
          <a:solidFill>
            <a:srgbClr val="F4F7FC"/>
          </a:solidFill>
          <a:ln/>
          <a:effectLst>
            <a:outerShdw sx="100000" sy="100000" kx="0" ky="0" algn="bl" rotWithShape="0" blurRad="50800" dist="12700" dir="8100000">
              <a:srgbClr val="000000">
                <a:alpha val="9000"/>
              </a:srgbClr>
            </a:outerShdw>
          </a:effectLst>
        </p:spPr>
      </p:sp>
      <p:sp>
        <p:nvSpPr>
          <p:cNvPr id="17" name="Text 13"/>
          <p:cNvSpPr/>
          <p:nvPr/>
        </p:nvSpPr>
        <p:spPr>
          <a:xfrm>
            <a:off x="7909560" y="1572768"/>
            <a:ext cx="1143000" cy="594360"/>
          </a:xfrm>
          <a:prstGeom prst="rect">
            <a:avLst/>
          </a:prstGeom>
          <a:noFill/>
          <a:ln/>
        </p:spPr>
        <p:txBody>
          <a:bodyPr wrap="square" rtlCol="0" anchor="ctr"/>
          <a:lstStyle/>
          <a:p>
            <a:pPr algn="ctr" indent="0" marL="0">
              <a:buNone/>
            </a:pPr>
            <a:r>
              <a:rPr lang="en-US" sz="2800" b="1" dirty="0">
                <a:solidFill>
                  <a:srgbClr val="7C3AED"/>
                </a:solidFill>
              </a:rPr>
              <a:t>&gt;0.9</a:t>
            </a:r>
            <a:endParaRPr lang="en-US" sz="2800" dirty="0"/>
          </a:p>
        </p:txBody>
      </p:sp>
      <p:sp>
        <p:nvSpPr>
          <p:cNvPr id="18" name="Text 14"/>
          <p:cNvSpPr/>
          <p:nvPr/>
        </p:nvSpPr>
        <p:spPr>
          <a:xfrm>
            <a:off x="7955280" y="2194560"/>
            <a:ext cx="1051560" cy="822960"/>
          </a:xfrm>
          <a:prstGeom prst="rect">
            <a:avLst/>
          </a:prstGeom>
          <a:noFill/>
          <a:ln/>
        </p:spPr>
        <p:txBody>
          <a:bodyPr wrap="square" rtlCol="0" anchor="ctr"/>
          <a:lstStyle/>
          <a:p>
            <a:pPr algn="ctr" indent="0" marL="0">
              <a:buNone/>
            </a:pPr>
            <a:r>
              <a:rPr lang="en-US" sz="1000" dirty="0">
                <a:solidFill>
                  <a:srgbClr val="1E293B"/>
                </a:solidFill>
                <a:latin typeface="Calibri" pitchFamily="34" charset="0"/>
                <a:ea typeface="Calibri" pitchFamily="34" charset="-122"/>
                <a:cs typeface="Calibri" pitchFamily="34" charset="-120"/>
              </a:rPr>
              <a:t>CD5, CD45,</a:t>
            </a:r>
            <a:endParaRPr lang="en-US" sz="1000" dirty="0"/>
          </a:p>
          <a:p>
            <a:pPr algn="ctr" indent="0" marL="0">
              <a:buNone/>
            </a:pPr>
            <a:r>
              <a:rPr lang="en-US" sz="1000" dirty="0">
                <a:solidFill>
                  <a:srgbClr val="1E293B"/>
                </a:solidFill>
                <a:latin typeface="Calibri" pitchFamily="34" charset="0"/>
                <a:ea typeface="Calibri" pitchFamily="34" charset="-122"/>
                <a:cs typeface="Calibri" pitchFamily="34" charset="-120"/>
              </a:rPr>
              <a:t>CD36, CD2,</a:t>
            </a:r>
            <a:endParaRPr lang="en-US" sz="1000" dirty="0"/>
          </a:p>
          <a:p>
            <a:pPr algn="ctr" indent="0" marL="0">
              <a:buNone/>
            </a:pPr>
            <a:r>
              <a:rPr lang="en-US" sz="1000" dirty="0">
                <a:solidFill>
                  <a:srgbClr val="1E293B"/>
                </a:solidFill>
                <a:latin typeface="Calibri" pitchFamily="34" charset="0"/>
                <a:ea typeface="Calibri" pitchFamily="34" charset="-122"/>
                <a:cs typeface="Calibri" pitchFamily="34" charset="-120"/>
              </a:rPr>
              <a:t>CD3, CD7</a:t>
            </a:r>
            <a:endParaRPr lang="en-US" sz="1000" dirty="0"/>
          </a:p>
        </p:txBody>
      </p:sp>
      <p:sp>
        <p:nvSpPr>
          <p:cNvPr id="19" name="Shape 15"/>
          <p:cNvSpPr/>
          <p:nvPr/>
        </p:nvSpPr>
        <p:spPr>
          <a:xfrm>
            <a:off x="5440680" y="3246120"/>
            <a:ext cx="3401568" cy="1051560"/>
          </a:xfrm>
          <a:prstGeom prst="rect">
            <a:avLst/>
          </a:prstGeom>
          <a:solidFill>
            <a:srgbClr val="1E2761"/>
          </a:solidFill>
          <a:ln/>
        </p:spPr>
      </p:sp>
      <p:sp>
        <p:nvSpPr>
          <p:cNvPr id="20" name="Text 16"/>
          <p:cNvSpPr/>
          <p:nvPr/>
        </p:nvSpPr>
        <p:spPr>
          <a:xfrm>
            <a:off x="5532120" y="3310128"/>
            <a:ext cx="3246120" cy="274320"/>
          </a:xfrm>
          <a:prstGeom prst="rect">
            <a:avLst/>
          </a:prstGeom>
          <a:noFill/>
          <a:ln/>
        </p:spPr>
        <p:txBody>
          <a:bodyPr wrap="square"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Paper comparison (14-protein panel):</a:t>
            </a:r>
            <a:endParaRPr lang="en-US" sz="1100" dirty="0"/>
          </a:p>
        </p:txBody>
      </p:sp>
      <p:sp>
        <p:nvSpPr>
          <p:cNvPr id="21" name="Text 17"/>
          <p:cNvSpPr/>
          <p:nvPr/>
        </p:nvSpPr>
        <p:spPr>
          <a:xfrm>
            <a:off x="5532120" y="3611880"/>
            <a:ext cx="3246120" cy="594360"/>
          </a:xfrm>
          <a:prstGeom prst="rect">
            <a:avLst/>
          </a:prstGeom>
          <a:noFill/>
          <a:ln/>
        </p:spPr>
        <p:txBody>
          <a:bodyPr wrap="square" rtlCol="0" anchor="ctr"/>
          <a:lstStyle/>
          <a:p>
            <a:pPr algn="l" indent="0" marL="0">
              <a:buNone/>
            </a:pPr>
            <a:r>
              <a:rPr lang="en-US" sz="1200" dirty="0">
                <a:solidFill>
                  <a:srgbClr val="7FDBCA"/>
                </a:solidFill>
                <a:latin typeface="Calibri" pitchFamily="34" charset="0"/>
                <a:ea typeface="Calibri" pitchFamily="34" charset="-122"/>
                <a:cs typeface="Calibri" pitchFamily="34" charset="-120"/>
              </a:rPr>
              <a:t>Multigrate: ~0.80   </a:t>
            </a:r>
            <a:pPr algn="l" indent="0" marL="0">
              <a:buNone/>
            </a:pPr>
            <a:r>
              <a:rPr lang="en-US" sz="1200" dirty="0">
                <a:solidFill>
                  <a:srgbClr val="94A3B8"/>
                </a:solidFill>
                <a:latin typeface="Calibri" pitchFamily="34" charset="0"/>
                <a:ea typeface="Calibri" pitchFamily="34" charset="-122"/>
                <a:cs typeface="Calibri" pitchFamily="34" charset="-120"/>
              </a:rPr>
              <a:t>totalVI: ~0.78   </a:t>
            </a:r>
            <a:pPr algn="l" indent="0" marL="0">
              <a:buNone/>
            </a:pPr>
            <a:r>
              <a:rPr lang="en-US" sz="1200" dirty="0">
                <a:solidFill>
                  <a:srgbClr val="94A3B8"/>
                </a:solidFill>
                <a:latin typeface="Calibri" pitchFamily="34" charset="0"/>
                <a:ea typeface="Calibri" pitchFamily="34" charset="-122"/>
                <a:cs typeface="Calibri" pitchFamily="34" charset="-120"/>
              </a:rPr>
              <a:t>Seurat: ~0.77</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1E2761"/>
          </a:solidFill>
          <a:ln/>
        </p:spPr>
      </p:sp>
      <p:sp>
        <p:nvSpPr>
          <p:cNvPr id="3" name="Text 1"/>
          <p:cNvSpPr/>
          <p:nvPr/>
        </p:nvSpPr>
        <p:spPr>
          <a:xfrm>
            <a:off x="457200" y="164592"/>
            <a:ext cx="8229600" cy="594360"/>
          </a:xfrm>
          <a:prstGeom prst="rect">
            <a:avLst/>
          </a:prstGeom>
          <a:noFill/>
          <a:ln/>
        </p:spPr>
        <p:txBody>
          <a:bodyPr wrap="square" lIns="0" tIns="0" rIns="0" bIns="0" rtlCol="0" anchor="ctr"/>
          <a:lstStyle/>
          <a:p>
            <a:pPr algn="l" indent="0" marL="0">
              <a:buNone/>
            </a:pPr>
            <a:r>
              <a:rPr lang="en-US" sz="2600" b="1" dirty="0">
                <a:solidFill>
                  <a:srgbClr val="1E2761"/>
                </a:solidFill>
                <a:latin typeface="Calibri" pitchFamily="34" charset="0"/>
                <a:ea typeface="Calibri" pitchFamily="34" charset="-122"/>
                <a:cs typeface="Calibri" pitchFamily="34" charset="-120"/>
              </a:rPr>
              <a:t>Experiment 3 — Query-to-Reference Mapping (scArches)</a:t>
            </a:r>
            <a:endParaRPr lang="en-US" sz="2600" dirty="0"/>
          </a:p>
        </p:txBody>
      </p:sp>
      <p:pic>
        <p:nvPicPr>
          <p:cNvPr id="4" name="Image 0" descr="preencoded.png">    </p:cNvPr>
          <p:cNvPicPr>
            <a:picLocks noChangeAspect="1"/>
          </p:cNvPicPr>
          <p:nvPr/>
        </p:nvPicPr>
        <p:blipFill>
          <a:blip r:embed="rId1"/>
          <a:srcRect l="0" r="0" t="0" b="0"/>
          <a:stretch/>
        </p:blipFill>
        <p:spPr>
          <a:xfrm>
            <a:off x="274320" y="914400"/>
            <a:ext cx="4114800" cy="2560320"/>
          </a:xfrm>
          <a:prstGeom prst="rect">
            <a:avLst/>
          </a:prstGeom>
        </p:spPr>
      </p:pic>
      <p:sp>
        <p:nvSpPr>
          <p:cNvPr id="5" name="Text 2"/>
          <p:cNvSpPr/>
          <p:nvPr/>
        </p:nvSpPr>
        <p:spPr>
          <a:xfrm>
            <a:off x="274320" y="3493008"/>
            <a:ext cx="4114800" cy="365760"/>
          </a:xfrm>
          <a:prstGeom prst="rect">
            <a:avLst/>
          </a:prstGeom>
          <a:noFill/>
          <a:ln/>
        </p:spPr>
        <p:txBody>
          <a:bodyPr wrap="square" rtlCol="0" anchor="ctr"/>
          <a:lstStyle/>
          <a:p>
            <a:pPr algn="ctr" indent="0" marL="0">
              <a:buNone/>
            </a:pPr>
            <a:r>
              <a:rPr lang="en-US" sz="900" i="1" dirty="0">
                <a:solidFill>
                  <a:srgbClr val="64748B"/>
                </a:solidFill>
              </a:rPr>
              <a:t>Fig 3a-c: Reference + COVID-19 query cells integrated across studies, cell types, conditions</a:t>
            </a:r>
            <a:endParaRPr lang="en-US" sz="900" dirty="0"/>
          </a:p>
        </p:txBody>
      </p:sp>
      <p:pic>
        <p:nvPicPr>
          <p:cNvPr id="6" name="Image 1" descr="preencoded.png">    </p:cNvPr>
          <p:cNvPicPr>
            <a:picLocks noChangeAspect="1"/>
          </p:cNvPicPr>
          <p:nvPr/>
        </p:nvPicPr>
        <p:blipFill>
          <a:blip r:embed="rId2"/>
          <a:srcRect l="0" r="0" t="0" b="0"/>
          <a:stretch/>
        </p:blipFill>
        <p:spPr>
          <a:xfrm>
            <a:off x="274320" y="3886200"/>
            <a:ext cx="4114800" cy="1005840"/>
          </a:xfrm>
          <a:prstGeom prst="rect">
            <a:avLst/>
          </a:prstGeom>
        </p:spPr>
      </p:pic>
      <p:sp>
        <p:nvSpPr>
          <p:cNvPr id="7" name="Text 3"/>
          <p:cNvSpPr/>
          <p:nvPr/>
        </p:nvSpPr>
        <p:spPr>
          <a:xfrm>
            <a:off x="274320" y="4873752"/>
            <a:ext cx="4114800" cy="246888"/>
          </a:xfrm>
          <a:prstGeom prst="rect">
            <a:avLst/>
          </a:prstGeom>
          <a:noFill/>
          <a:ln/>
        </p:spPr>
        <p:txBody>
          <a:bodyPr wrap="square" rtlCol="0" anchor="ctr"/>
          <a:lstStyle/>
          <a:p>
            <a:pPr algn="ctr" indent="0" marL="0">
              <a:buNone/>
            </a:pPr>
            <a:r>
              <a:rPr lang="en-US" sz="900" i="1" dirty="0">
                <a:solidFill>
                  <a:srgbClr val="64748B"/>
                </a:solidFill>
              </a:rPr>
              <a:t>Fig 3d: Confusion matrix — predicted vs true cell types for query</a:t>
            </a:r>
            <a:endParaRPr lang="en-US" sz="900" dirty="0"/>
          </a:p>
        </p:txBody>
      </p:sp>
      <p:sp>
        <p:nvSpPr>
          <p:cNvPr id="8" name="Text 4"/>
          <p:cNvSpPr/>
          <p:nvPr/>
        </p:nvSpPr>
        <p:spPr>
          <a:xfrm>
            <a:off x="4617720" y="914400"/>
            <a:ext cx="4297680" cy="365760"/>
          </a:xfrm>
          <a:prstGeom prst="rect">
            <a:avLst/>
          </a:prstGeom>
          <a:noFill/>
          <a:ln/>
        </p:spPr>
        <p:txBody>
          <a:bodyPr wrap="square" rtlCol="0" anchor="ctr"/>
          <a:lstStyle/>
          <a:p>
            <a:pPr indent="0" marL="0">
              <a:buNone/>
            </a:pPr>
            <a:r>
              <a:rPr lang="en-US" sz="1500" b="1" dirty="0">
                <a:solidFill>
                  <a:srgbClr val="1E2761"/>
                </a:solidFill>
                <a:latin typeface="Calibri" pitchFamily="34" charset="0"/>
                <a:ea typeface="Calibri" pitchFamily="34" charset="-122"/>
                <a:cs typeface="Calibri" pitchFamily="34" charset="-120"/>
              </a:rPr>
              <a:t>How scArches Works</a:t>
            </a:r>
            <a:endParaRPr lang="en-US" sz="1500" dirty="0"/>
          </a:p>
        </p:txBody>
      </p:sp>
      <p:sp>
        <p:nvSpPr>
          <p:cNvPr id="9" name="Shape 5"/>
          <p:cNvSpPr/>
          <p:nvPr/>
        </p:nvSpPr>
        <p:spPr>
          <a:xfrm>
            <a:off x="4617720" y="1389888"/>
            <a:ext cx="438912" cy="749808"/>
          </a:xfrm>
          <a:prstGeom prst="rect">
            <a:avLst/>
          </a:prstGeom>
          <a:solidFill>
            <a:srgbClr val="4472C4"/>
          </a:solidFill>
          <a:ln/>
        </p:spPr>
      </p:sp>
      <p:sp>
        <p:nvSpPr>
          <p:cNvPr id="10" name="Text 6"/>
          <p:cNvSpPr/>
          <p:nvPr/>
        </p:nvSpPr>
        <p:spPr>
          <a:xfrm>
            <a:off x="4617720" y="1389888"/>
            <a:ext cx="438912" cy="749808"/>
          </a:xfrm>
          <a:prstGeom prst="rect">
            <a:avLst/>
          </a:prstGeom>
          <a:noFill/>
          <a:ln/>
        </p:spPr>
        <p:txBody>
          <a:bodyPr wrap="square" rtlCol="0" anchor="ctr"/>
          <a:lstStyle/>
          <a:p>
            <a:pPr algn="ctr" indent="0" marL="0">
              <a:buNone/>
            </a:pPr>
            <a:r>
              <a:rPr lang="en-US" sz="1800" b="1" dirty="0">
                <a:solidFill>
                  <a:srgbClr val="FFFFFF"/>
                </a:solidFill>
              </a:rPr>
              <a:t>1</a:t>
            </a:r>
            <a:endParaRPr lang="en-US" sz="1800" dirty="0"/>
          </a:p>
        </p:txBody>
      </p:sp>
      <p:sp>
        <p:nvSpPr>
          <p:cNvPr id="11" name="Shape 7"/>
          <p:cNvSpPr/>
          <p:nvPr/>
        </p:nvSpPr>
        <p:spPr>
          <a:xfrm>
            <a:off x="5084064" y="1389888"/>
            <a:ext cx="3767328" cy="749808"/>
          </a:xfrm>
          <a:prstGeom prst="rect">
            <a:avLst/>
          </a:prstGeom>
          <a:solidFill>
            <a:srgbClr val="F4F7FC"/>
          </a:solidFill>
          <a:ln/>
        </p:spPr>
      </p:sp>
      <p:sp>
        <p:nvSpPr>
          <p:cNvPr id="12" name="Text 8"/>
          <p:cNvSpPr/>
          <p:nvPr/>
        </p:nvSpPr>
        <p:spPr>
          <a:xfrm>
            <a:off x="5175504" y="1444752"/>
            <a:ext cx="3611880" cy="27432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Build reference atlas</a:t>
            </a:r>
            <a:endParaRPr lang="en-US" sz="1200" dirty="0"/>
          </a:p>
        </p:txBody>
      </p:sp>
      <p:sp>
        <p:nvSpPr>
          <p:cNvPr id="13" name="Text 9"/>
          <p:cNvSpPr/>
          <p:nvPr/>
        </p:nvSpPr>
        <p:spPr>
          <a:xfrm>
            <a:off x="5175504" y="1737360"/>
            <a:ext cx="3611880" cy="347472"/>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Train Multigrate on 160,000 healthy cells from 3 datasets (RNA + protein + ATAC)</a:t>
            </a:r>
            <a:endParaRPr lang="en-US" sz="1100" dirty="0"/>
          </a:p>
        </p:txBody>
      </p:sp>
      <p:sp>
        <p:nvSpPr>
          <p:cNvPr id="14" name="Shape 10"/>
          <p:cNvSpPr/>
          <p:nvPr/>
        </p:nvSpPr>
        <p:spPr>
          <a:xfrm>
            <a:off x="4617720" y="2258568"/>
            <a:ext cx="438912" cy="749808"/>
          </a:xfrm>
          <a:prstGeom prst="rect">
            <a:avLst/>
          </a:prstGeom>
          <a:solidFill>
            <a:srgbClr val="4472C4"/>
          </a:solidFill>
          <a:ln/>
        </p:spPr>
      </p:sp>
      <p:sp>
        <p:nvSpPr>
          <p:cNvPr id="15" name="Text 11"/>
          <p:cNvSpPr/>
          <p:nvPr/>
        </p:nvSpPr>
        <p:spPr>
          <a:xfrm>
            <a:off x="4617720" y="2258568"/>
            <a:ext cx="438912" cy="749808"/>
          </a:xfrm>
          <a:prstGeom prst="rect">
            <a:avLst/>
          </a:prstGeom>
          <a:noFill/>
          <a:ln/>
        </p:spPr>
        <p:txBody>
          <a:bodyPr wrap="square" rtlCol="0" anchor="ctr"/>
          <a:lstStyle/>
          <a:p>
            <a:pPr algn="ctr" indent="0" marL="0">
              <a:buNone/>
            </a:pPr>
            <a:r>
              <a:rPr lang="en-US" sz="1800" b="1" dirty="0">
                <a:solidFill>
                  <a:srgbClr val="FFFFFF"/>
                </a:solidFill>
              </a:rPr>
              <a:t>2</a:t>
            </a:r>
            <a:endParaRPr lang="en-US" sz="1800" dirty="0"/>
          </a:p>
        </p:txBody>
      </p:sp>
      <p:sp>
        <p:nvSpPr>
          <p:cNvPr id="16" name="Shape 12"/>
          <p:cNvSpPr/>
          <p:nvPr/>
        </p:nvSpPr>
        <p:spPr>
          <a:xfrm>
            <a:off x="5084064" y="2258568"/>
            <a:ext cx="3767328" cy="749808"/>
          </a:xfrm>
          <a:prstGeom prst="rect">
            <a:avLst/>
          </a:prstGeom>
          <a:solidFill>
            <a:srgbClr val="F4F7FC"/>
          </a:solidFill>
          <a:ln/>
        </p:spPr>
      </p:sp>
      <p:sp>
        <p:nvSpPr>
          <p:cNvPr id="17" name="Text 13"/>
          <p:cNvSpPr/>
          <p:nvPr/>
        </p:nvSpPr>
        <p:spPr>
          <a:xfrm>
            <a:off x="5175504" y="2313432"/>
            <a:ext cx="3611880" cy="27432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Add query batch weights</a:t>
            </a:r>
            <a:endParaRPr lang="en-US" sz="1200" dirty="0"/>
          </a:p>
        </p:txBody>
      </p:sp>
      <p:sp>
        <p:nvSpPr>
          <p:cNvPr id="18" name="Text 14"/>
          <p:cNvSpPr/>
          <p:nvPr/>
        </p:nvSpPr>
        <p:spPr>
          <a:xfrm>
            <a:off x="5175504" y="2606040"/>
            <a:ext cx="3611880" cy="347472"/>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Extend model with new batch vectors for query — all reference weights FROZEN</a:t>
            </a:r>
            <a:endParaRPr lang="en-US" sz="1100" dirty="0"/>
          </a:p>
        </p:txBody>
      </p:sp>
      <p:sp>
        <p:nvSpPr>
          <p:cNvPr id="19" name="Shape 15"/>
          <p:cNvSpPr/>
          <p:nvPr/>
        </p:nvSpPr>
        <p:spPr>
          <a:xfrm>
            <a:off x="4617720" y="3127248"/>
            <a:ext cx="438912" cy="749808"/>
          </a:xfrm>
          <a:prstGeom prst="rect">
            <a:avLst/>
          </a:prstGeom>
          <a:solidFill>
            <a:srgbClr val="4472C4"/>
          </a:solidFill>
          <a:ln/>
        </p:spPr>
      </p:sp>
      <p:sp>
        <p:nvSpPr>
          <p:cNvPr id="20" name="Text 16"/>
          <p:cNvSpPr/>
          <p:nvPr/>
        </p:nvSpPr>
        <p:spPr>
          <a:xfrm>
            <a:off x="4617720" y="3127248"/>
            <a:ext cx="438912" cy="749808"/>
          </a:xfrm>
          <a:prstGeom prst="rect">
            <a:avLst/>
          </a:prstGeom>
          <a:noFill/>
          <a:ln/>
        </p:spPr>
        <p:txBody>
          <a:bodyPr wrap="square" rtlCol="0" anchor="ctr"/>
          <a:lstStyle/>
          <a:p>
            <a:pPr algn="ctr" indent="0" marL="0">
              <a:buNone/>
            </a:pPr>
            <a:r>
              <a:rPr lang="en-US" sz="1800" b="1" dirty="0">
                <a:solidFill>
                  <a:srgbClr val="FFFFFF"/>
                </a:solidFill>
              </a:rPr>
              <a:t>3</a:t>
            </a:r>
            <a:endParaRPr lang="en-US" sz="1800" dirty="0"/>
          </a:p>
        </p:txBody>
      </p:sp>
      <p:sp>
        <p:nvSpPr>
          <p:cNvPr id="21" name="Shape 17"/>
          <p:cNvSpPr/>
          <p:nvPr/>
        </p:nvSpPr>
        <p:spPr>
          <a:xfrm>
            <a:off x="5084064" y="3127248"/>
            <a:ext cx="3767328" cy="749808"/>
          </a:xfrm>
          <a:prstGeom prst="rect">
            <a:avLst/>
          </a:prstGeom>
          <a:solidFill>
            <a:srgbClr val="F4F7FC"/>
          </a:solidFill>
          <a:ln/>
        </p:spPr>
      </p:sp>
      <p:sp>
        <p:nvSpPr>
          <p:cNvPr id="22" name="Text 18"/>
          <p:cNvSpPr/>
          <p:nvPr/>
        </p:nvSpPr>
        <p:spPr>
          <a:xfrm>
            <a:off x="5175504" y="3182112"/>
            <a:ext cx="3611880" cy="27432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Fine-tune (2-5 min)</a:t>
            </a:r>
            <a:endParaRPr lang="en-US" sz="1200" dirty="0"/>
          </a:p>
        </p:txBody>
      </p:sp>
      <p:sp>
        <p:nvSpPr>
          <p:cNvPr id="23" name="Text 19"/>
          <p:cNvSpPr/>
          <p:nvPr/>
        </p:nvSpPr>
        <p:spPr>
          <a:xfrm>
            <a:off x="5175504" y="3474720"/>
            <a:ext cx="3611880" cy="347472"/>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Only the new batch weights are trained — fast and preserves reference structure</a:t>
            </a:r>
            <a:endParaRPr lang="en-US" sz="1100" dirty="0"/>
          </a:p>
        </p:txBody>
      </p:sp>
      <p:sp>
        <p:nvSpPr>
          <p:cNvPr id="24" name="Shape 20"/>
          <p:cNvSpPr/>
          <p:nvPr/>
        </p:nvSpPr>
        <p:spPr>
          <a:xfrm>
            <a:off x="4617720" y="3995928"/>
            <a:ext cx="438912" cy="749808"/>
          </a:xfrm>
          <a:prstGeom prst="rect">
            <a:avLst/>
          </a:prstGeom>
          <a:solidFill>
            <a:srgbClr val="4472C4"/>
          </a:solidFill>
          <a:ln/>
        </p:spPr>
      </p:sp>
      <p:sp>
        <p:nvSpPr>
          <p:cNvPr id="25" name="Text 21"/>
          <p:cNvSpPr/>
          <p:nvPr/>
        </p:nvSpPr>
        <p:spPr>
          <a:xfrm>
            <a:off x="4617720" y="3995928"/>
            <a:ext cx="438912" cy="749808"/>
          </a:xfrm>
          <a:prstGeom prst="rect">
            <a:avLst/>
          </a:prstGeom>
          <a:noFill/>
          <a:ln/>
        </p:spPr>
        <p:txBody>
          <a:bodyPr wrap="square" rtlCol="0" anchor="ctr"/>
          <a:lstStyle/>
          <a:p>
            <a:pPr algn="ctr" indent="0" marL="0">
              <a:buNone/>
            </a:pPr>
            <a:r>
              <a:rPr lang="en-US" sz="1800" b="1" dirty="0">
                <a:solidFill>
                  <a:srgbClr val="FFFFFF"/>
                </a:solidFill>
              </a:rPr>
              <a:t>4</a:t>
            </a:r>
            <a:endParaRPr lang="en-US" sz="1800" dirty="0"/>
          </a:p>
        </p:txBody>
      </p:sp>
      <p:sp>
        <p:nvSpPr>
          <p:cNvPr id="26" name="Shape 22"/>
          <p:cNvSpPr/>
          <p:nvPr/>
        </p:nvSpPr>
        <p:spPr>
          <a:xfrm>
            <a:off x="5084064" y="3995928"/>
            <a:ext cx="3767328" cy="749808"/>
          </a:xfrm>
          <a:prstGeom prst="rect">
            <a:avLst/>
          </a:prstGeom>
          <a:solidFill>
            <a:srgbClr val="F4F7FC"/>
          </a:solidFill>
          <a:ln/>
        </p:spPr>
      </p:sp>
      <p:sp>
        <p:nvSpPr>
          <p:cNvPr id="27" name="Text 23"/>
          <p:cNvSpPr/>
          <p:nvPr/>
        </p:nvSpPr>
        <p:spPr>
          <a:xfrm>
            <a:off x="5175504" y="4050792"/>
            <a:ext cx="3611880" cy="274320"/>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Transfer cell type labels</a:t>
            </a:r>
            <a:endParaRPr lang="en-US" sz="1200" dirty="0"/>
          </a:p>
        </p:txBody>
      </p:sp>
      <p:sp>
        <p:nvSpPr>
          <p:cNvPr id="28" name="Text 24"/>
          <p:cNvSpPr/>
          <p:nvPr/>
        </p:nvSpPr>
        <p:spPr>
          <a:xfrm>
            <a:off x="5175504" y="4343400"/>
            <a:ext cx="3611880" cy="347472"/>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Random forest classifier trained on reference latent space → 79% accuracy on query</a:t>
            </a:r>
            <a:endParaRPr lang="en-US" sz="1100" dirty="0"/>
          </a:p>
        </p:txBody>
      </p:sp>
      <p:sp>
        <p:nvSpPr>
          <p:cNvPr id="29" name="Shape 25"/>
          <p:cNvSpPr/>
          <p:nvPr/>
        </p:nvSpPr>
        <p:spPr>
          <a:xfrm>
            <a:off x="4617720" y="4864608"/>
            <a:ext cx="4224528" cy="292608"/>
          </a:xfrm>
          <a:prstGeom prst="rect">
            <a:avLst/>
          </a:prstGeom>
          <a:solidFill>
            <a:srgbClr val="16A34A"/>
          </a:solidFill>
          <a:ln/>
        </p:spPr>
      </p:sp>
      <p:sp>
        <p:nvSpPr>
          <p:cNvPr id="30" name="Text 26"/>
          <p:cNvSpPr/>
          <p:nvPr/>
        </p:nvSpPr>
        <p:spPr>
          <a:xfrm>
            <a:off x="4617720" y="4864608"/>
            <a:ext cx="4224528" cy="292608"/>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Result: 79% cell type prediction accuracy on COVID-19 query</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1E2761"/>
          </a:solidFill>
          <a:ln/>
        </p:spPr>
      </p:sp>
      <p:sp>
        <p:nvSpPr>
          <p:cNvPr id="3" name="Text 1"/>
          <p:cNvSpPr/>
          <p:nvPr/>
        </p:nvSpPr>
        <p:spPr>
          <a:xfrm>
            <a:off x="457200" y="164592"/>
            <a:ext cx="8229600" cy="594360"/>
          </a:xfrm>
          <a:prstGeom prst="rect">
            <a:avLst/>
          </a:prstGeom>
          <a:noFill/>
          <a:ln/>
        </p:spPr>
        <p:txBody>
          <a:bodyPr wrap="square" lIns="0" tIns="0" rIns="0" bIns="0" rtlCol="0" anchor="ctr"/>
          <a:lstStyle/>
          <a:p>
            <a:pPr algn="l" indent="0" marL="0">
              <a:buNone/>
            </a:pPr>
            <a:r>
              <a:rPr lang="en-US" sz="3000" b="1" dirty="0">
                <a:solidFill>
                  <a:srgbClr val="1E2761"/>
                </a:solidFill>
                <a:latin typeface="Calibri" pitchFamily="34" charset="0"/>
                <a:ea typeface="Calibri" pitchFamily="34" charset="-122"/>
                <a:cs typeface="Calibri" pitchFamily="34" charset="-120"/>
              </a:rPr>
              <a:t>Results Summary</a:t>
            </a:r>
            <a:endParaRPr lang="en-US" sz="3000" dirty="0"/>
          </a:p>
        </p:txBody>
      </p:sp>
      <p:sp>
        <p:nvSpPr>
          <p:cNvPr id="4" name="Shape 2"/>
          <p:cNvSpPr/>
          <p:nvPr/>
        </p:nvSpPr>
        <p:spPr>
          <a:xfrm>
            <a:off x="274320" y="960120"/>
            <a:ext cx="2834640" cy="3977640"/>
          </a:xfrm>
          <a:prstGeom prst="rect">
            <a:avLst/>
          </a:prstGeom>
          <a:solidFill>
            <a:srgbClr val="F4F7FC"/>
          </a:solidFill>
          <a:ln/>
          <a:effectLst>
            <a:outerShdw sx="100000" sy="100000" kx="0" ky="0" algn="bl" rotWithShape="0" blurRad="76200" dist="25400" dir="8100000">
              <a:srgbClr val="000000">
                <a:alpha val="10000"/>
              </a:srgbClr>
            </a:outerShdw>
          </a:effectLst>
        </p:spPr>
      </p:sp>
      <p:sp>
        <p:nvSpPr>
          <p:cNvPr id="5" name="Shape 3"/>
          <p:cNvSpPr/>
          <p:nvPr/>
        </p:nvSpPr>
        <p:spPr>
          <a:xfrm>
            <a:off x="274320" y="960120"/>
            <a:ext cx="2834640" cy="457200"/>
          </a:xfrm>
          <a:prstGeom prst="rect">
            <a:avLst/>
          </a:prstGeom>
          <a:solidFill>
            <a:srgbClr val="4472C4"/>
          </a:solidFill>
          <a:ln/>
        </p:spPr>
      </p:sp>
      <p:sp>
        <p:nvSpPr>
          <p:cNvPr id="6" name="Text 4"/>
          <p:cNvSpPr/>
          <p:nvPr/>
        </p:nvSpPr>
        <p:spPr>
          <a:xfrm>
            <a:off x="365760" y="960120"/>
            <a:ext cx="2651760" cy="457200"/>
          </a:xfrm>
          <a:prstGeom prst="rect">
            <a:avLst/>
          </a:prstGeom>
          <a:noFill/>
          <a:ln/>
        </p:spPr>
        <p:txBody>
          <a:bodyPr wrap="square" rtlCol="0" anchor="ctr"/>
          <a:lstStyle/>
          <a:p>
            <a:pPr algn="ctr" indent="0" marL="0">
              <a:buNone/>
            </a:pPr>
            <a:r>
              <a:rPr lang="en-US" sz="1600" b="1" dirty="0">
                <a:solidFill>
                  <a:srgbClr val="FFFFFF"/>
                </a:solidFill>
              </a:rPr>
              <a:t>Integration</a:t>
            </a:r>
            <a:endParaRPr lang="en-US" sz="1600" dirty="0"/>
          </a:p>
        </p:txBody>
      </p:sp>
      <p:sp>
        <p:nvSpPr>
          <p:cNvPr id="7" name="Text 5"/>
          <p:cNvSpPr/>
          <p:nvPr/>
        </p:nvSpPr>
        <p:spPr>
          <a:xfrm>
            <a:off x="411480" y="1554480"/>
            <a:ext cx="1188720" cy="548640"/>
          </a:xfrm>
          <a:prstGeom prst="rect">
            <a:avLst/>
          </a:prstGeom>
          <a:noFill/>
          <a:ln/>
        </p:spPr>
        <p:txBody>
          <a:bodyPr wrap="square" rtlCol="0" anchor="ctr"/>
          <a:lstStyle/>
          <a:p>
            <a:pPr algn="ctr" indent="0" marL="0">
              <a:buNone/>
            </a:pPr>
            <a:r>
              <a:rPr lang="en-US" sz="2400" b="1" dirty="0">
                <a:solidFill>
                  <a:srgbClr val="4472C4"/>
                </a:solidFill>
              </a:rPr>
              <a:t>#1</a:t>
            </a:r>
            <a:endParaRPr lang="en-US" sz="2400" dirty="0"/>
          </a:p>
        </p:txBody>
      </p:sp>
      <p:sp>
        <p:nvSpPr>
          <p:cNvPr id="8" name="Text 6"/>
          <p:cNvSpPr/>
          <p:nvPr/>
        </p:nvSpPr>
        <p:spPr>
          <a:xfrm>
            <a:off x="411480" y="2103120"/>
            <a:ext cx="1188720" cy="457200"/>
          </a:xfrm>
          <a:prstGeom prst="rect">
            <a:avLst/>
          </a:prstGeom>
          <a:noFill/>
          <a:ln/>
        </p:spPr>
        <p:txBody>
          <a:bodyPr wrap="square"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Overall ranking</a:t>
            </a:r>
            <a:endParaRPr lang="en-US" sz="950" dirty="0"/>
          </a:p>
          <a:p>
            <a:pPr algn="ctr" indent="0" marL="0">
              <a:buNone/>
            </a:pPr>
            <a:r>
              <a:rPr lang="en-US" sz="950" dirty="0">
                <a:solidFill>
                  <a:srgbClr val="64748B"/>
                </a:solidFill>
                <a:latin typeface="Calibri" pitchFamily="34" charset="0"/>
                <a:ea typeface="Calibri" pitchFamily="34" charset="-122"/>
                <a:cs typeface="Calibri" pitchFamily="34" charset="-120"/>
              </a:rPr>
              <a:t>across 3 datasets</a:t>
            </a:r>
            <a:endParaRPr lang="en-US" sz="950" dirty="0"/>
          </a:p>
        </p:txBody>
      </p:sp>
      <p:sp>
        <p:nvSpPr>
          <p:cNvPr id="9" name="Text 7"/>
          <p:cNvSpPr/>
          <p:nvPr/>
        </p:nvSpPr>
        <p:spPr>
          <a:xfrm>
            <a:off x="1737360" y="1554480"/>
            <a:ext cx="1188720" cy="548640"/>
          </a:xfrm>
          <a:prstGeom prst="rect">
            <a:avLst/>
          </a:prstGeom>
          <a:noFill/>
          <a:ln/>
        </p:spPr>
        <p:txBody>
          <a:bodyPr wrap="square" rtlCol="0" anchor="ctr"/>
          <a:lstStyle/>
          <a:p>
            <a:pPr algn="ctr" indent="0" marL="0">
              <a:buNone/>
            </a:pPr>
            <a:r>
              <a:rPr lang="en-US" sz="2400" b="1" dirty="0">
                <a:solidFill>
                  <a:srgbClr val="4472C4"/>
                </a:solidFill>
              </a:rPr>
              <a:t>✓</a:t>
            </a:r>
            <a:endParaRPr lang="en-US" sz="2400" dirty="0"/>
          </a:p>
        </p:txBody>
      </p:sp>
      <p:sp>
        <p:nvSpPr>
          <p:cNvPr id="10" name="Text 8"/>
          <p:cNvSpPr/>
          <p:nvPr/>
        </p:nvSpPr>
        <p:spPr>
          <a:xfrm>
            <a:off x="1737360" y="2103120"/>
            <a:ext cx="1188720" cy="457200"/>
          </a:xfrm>
          <a:prstGeom prst="rect">
            <a:avLst/>
          </a:prstGeom>
          <a:noFill/>
          <a:ln/>
        </p:spPr>
        <p:txBody>
          <a:bodyPr wrap="square"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Batch correction</a:t>
            </a:r>
            <a:endParaRPr lang="en-US" sz="950" dirty="0"/>
          </a:p>
          <a:p>
            <a:pPr algn="ctr" indent="0" marL="0">
              <a:buNone/>
            </a:pPr>
            <a:r>
              <a:rPr lang="en-US" sz="950" dirty="0">
                <a:solidFill>
                  <a:srgbClr val="64748B"/>
                </a:solidFill>
                <a:latin typeface="Calibri" pitchFamily="34" charset="0"/>
                <a:ea typeface="Calibri" pitchFamily="34" charset="-122"/>
                <a:cs typeface="Calibri" pitchFamily="34" charset="-120"/>
              </a:rPr>
              <a:t>+ bio conservation</a:t>
            </a:r>
            <a:endParaRPr lang="en-US" sz="950" dirty="0"/>
          </a:p>
        </p:txBody>
      </p:sp>
      <p:sp>
        <p:nvSpPr>
          <p:cNvPr id="11" name="Text 9"/>
          <p:cNvSpPr/>
          <p:nvPr/>
        </p:nvSpPr>
        <p:spPr>
          <a:xfrm>
            <a:off x="384048" y="2670048"/>
            <a:ext cx="2615184" cy="2148840"/>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Multigrate outperforms MOFA+, Seurat v4, and totalVI on the combined integration score. It handles both CITE-seq and ATAC+RNA modality pairs with a single model.</a:t>
            </a:r>
            <a:endParaRPr lang="en-US" sz="1100" dirty="0"/>
          </a:p>
        </p:txBody>
      </p:sp>
      <p:sp>
        <p:nvSpPr>
          <p:cNvPr id="12" name="Shape 10"/>
          <p:cNvSpPr/>
          <p:nvPr/>
        </p:nvSpPr>
        <p:spPr>
          <a:xfrm>
            <a:off x="3227832" y="960120"/>
            <a:ext cx="2834640" cy="3977640"/>
          </a:xfrm>
          <a:prstGeom prst="rect">
            <a:avLst/>
          </a:prstGeom>
          <a:solidFill>
            <a:srgbClr val="F4F7FC"/>
          </a:solidFill>
          <a:ln/>
          <a:effectLst>
            <a:outerShdw sx="100000" sy="100000" kx="0" ky="0" algn="bl" rotWithShape="0" blurRad="76200" dist="25400" dir="8100000">
              <a:srgbClr val="000000">
                <a:alpha val="10000"/>
              </a:srgbClr>
            </a:outerShdw>
          </a:effectLst>
        </p:spPr>
      </p:sp>
      <p:sp>
        <p:nvSpPr>
          <p:cNvPr id="13" name="Shape 11"/>
          <p:cNvSpPr/>
          <p:nvPr/>
        </p:nvSpPr>
        <p:spPr>
          <a:xfrm>
            <a:off x="3227832" y="960120"/>
            <a:ext cx="2834640" cy="457200"/>
          </a:xfrm>
          <a:prstGeom prst="rect">
            <a:avLst/>
          </a:prstGeom>
          <a:solidFill>
            <a:srgbClr val="16A34A"/>
          </a:solidFill>
          <a:ln/>
        </p:spPr>
      </p:sp>
      <p:sp>
        <p:nvSpPr>
          <p:cNvPr id="14" name="Text 12"/>
          <p:cNvSpPr/>
          <p:nvPr/>
        </p:nvSpPr>
        <p:spPr>
          <a:xfrm>
            <a:off x="3319272" y="960120"/>
            <a:ext cx="2651760" cy="457200"/>
          </a:xfrm>
          <a:prstGeom prst="rect">
            <a:avLst/>
          </a:prstGeom>
          <a:noFill/>
          <a:ln/>
        </p:spPr>
        <p:txBody>
          <a:bodyPr wrap="square" rtlCol="0" anchor="ctr"/>
          <a:lstStyle/>
          <a:p>
            <a:pPr algn="ctr" indent="0" marL="0">
              <a:buNone/>
            </a:pPr>
            <a:r>
              <a:rPr lang="en-US" sz="1600" b="1" dirty="0">
                <a:solidFill>
                  <a:srgbClr val="FFFFFF"/>
                </a:solidFill>
              </a:rPr>
              <a:t>Imputation</a:t>
            </a:r>
            <a:endParaRPr lang="en-US" sz="1600" dirty="0"/>
          </a:p>
        </p:txBody>
      </p:sp>
      <p:sp>
        <p:nvSpPr>
          <p:cNvPr id="15" name="Text 13"/>
          <p:cNvSpPr/>
          <p:nvPr/>
        </p:nvSpPr>
        <p:spPr>
          <a:xfrm>
            <a:off x="3364992" y="1554480"/>
            <a:ext cx="1188720" cy="548640"/>
          </a:xfrm>
          <a:prstGeom prst="rect">
            <a:avLst/>
          </a:prstGeom>
          <a:noFill/>
          <a:ln/>
        </p:spPr>
        <p:txBody>
          <a:bodyPr wrap="square" rtlCol="0" anchor="ctr"/>
          <a:lstStyle/>
          <a:p>
            <a:pPr algn="ctr" indent="0" marL="0">
              <a:buNone/>
            </a:pPr>
            <a:r>
              <a:rPr lang="en-US" sz="2400" b="1" dirty="0">
                <a:solidFill>
                  <a:srgbClr val="16A34A"/>
                </a:solidFill>
              </a:rPr>
              <a:t>0.72</a:t>
            </a:r>
            <a:endParaRPr lang="en-US" sz="2400" dirty="0"/>
          </a:p>
        </p:txBody>
      </p:sp>
      <p:sp>
        <p:nvSpPr>
          <p:cNvPr id="16" name="Text 14"/>
          <p:cNvSpPr/>
          <p:nvPr/>
        </p:nvSpPr>
        <p:spPr>
          <a:xfrm>
            <a:off x="3364992" y="2103120"/>
            <a:ext cx="1188720" cy="457200"/>
          </a:xfrm>
          <a:prstGeom prst="rect">
            <a:avLst/>
          </a:prstGeom>
          <a:noFill/>
          <a:ln/>
        </p:spPr>
        <p:txBody>
          <a:bodyPr wrap="square"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Mean Pearson r</a:t>
            </a:r>
            <a:endParaRPr lang="en-US" sz="950" dirty="0"/>
          </a:p>
          <a:p>
            <a:pPr algn="ctr" indent="0" marL="0">
              <a:buNone/>
            </a:pPr>
            <a:r>
              <a:rPr lang="en-US" sz="950" dirty="0">
                <a:solidFill>
                  <a:srgbClr val="64748B"/>
                </a:solidFill>
                <a:latin typeface="Calibri" pitchFamily="34" charset="0"/>
                <a:ea typeface="Calibri" pitchFamily="34" charset="-122"/>
                <a:cs typeface="Calibri" pitchFamily="34" charset="-120"/>
              </a:rPr>
              <a:t>(our reproduction)</a:t>
            </a:r>
            <a:endParaRPr lang="en-US" sz="950" dirty="0"/>
          </a:p>
        </p:txBody>
      </p:sp>
      <p:sp>
        <p:nvSpPr>
          <p:cNvPr id="17" name="Text 15"/>
          <p:cNvSpPr/>
          <p:nvPr/>
        </p:nvSpPr>
        <p:spPr>
          <a:xfrm>
            <a:off x="4690872" y="1554480"/>
            <a:ext cx="1188720" cy="548640"/>
          </a:xfrm>
          <a:prstGeom prst="rect">
            <a:avLst/>
          </a:prstGeom>
          <a:noFill/>
          <a:ln/>
        </p:spPr>
        <p:txBody>
          <a:bodyPr wrap="square" rtlCol="0" anchor="ctr"/>
          <a:lstStyle/>
          <a:p>
            <a:pPr algn="ctr" indent="0" marL="0">
              <a:buNone/>
            </a:pPr>
            <a:r>
              <a:rPr lang="en-US" sz="2400" b="1" dirty="0">
                <a:solidFill>
                  <a:srgbClr val="16A34A"/>
                </a:solidFill>
              </a:rPr>
              <a:t>0.80</a:t>
            </a:r>
            <a:endParaRPr lang="en-US" sz="2400" dirty="0"/>
          </a:p>
        </p:txBody>
      </p:sp>
      <p:sp>
        <p:nvSpPr>
          <p:cNvPr id="18" name="Text 16"/>
          <p:cNvSpPr/>
          <p:nvPr/>
        </p:nvSpPr>
        <p:spPr>
          <a:xfrm>
            <a:off x="4690872" y="2103120"/>
            <a:ext cx="1188720" cy="457200"/>
          </a:xfrm>
          <a:prstGeom prst="rect">
            <a:avLst/>
          </a:prstGeom>
          <a:noFill/>
          <a:ln/>
        </p:spPr>
        <p:txBody>
          <a:bodyPr wrap="square"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Paper result</a:t>
            </a:r>
            <a:endParaRPr lang="en-US" sz="950" dirty="0"/>
          </a:p>
          <a:p>
            <a:pPr algn="ctr" indent="0" marL="0">
              <a:buNone/>
            </a:pPr>
            <a:r>
              <a:rPr lang="en-US" sz="950" dirty="0">
                <a:solidFill>
                  <a:srgbClr val="64748B"/>
                </a:solidFill>
                <a:latin typeface="Calibri" pitchFamily="34" charset="0"/>
                <a:ea typeface="Calibri" pitchFamily="34" charset="-122"/>
                <a:cs typeface="Calibri" pitchFamily="34" charset="-120"/>
              </a:rPr>
              <a:t>(14 proteins)</a:t>
            </a:r>
            <a:endParaRPr lang="en-US" sz="950" dirty="0"/>
          </a:p>
        </p:txBody>
      </p:sp>
      <p:sp>
        <p:nvSpPr>
          <p:cNvPr id="19" name="Text 17"/>
          <p:cNvSpPr/>
          <p:nvPr/>
        </p:nvSpPr>
        <p:spPr>
          <a:xfrm>
            <a:off x="3337560" y="2670048"/>
            <a:ext cx="2615184" cy="2148840"/>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Predicts missing protein measurements from RNA alone. Slightly outperforms totalVI (a method specifically designed for this task), demonstrating the power of the general-purpose approach.</a:t>
            </a:r>
            <a:endParaRPr lang="en-US" sz="1100" dirty="0"/>
          </a:p>
        </p:txBody>
      </p:sp>
      <p:sp>
        <p:nvSpPr>
          <p:cNvPr id="20" name="Shape 18"/>
          <p:cNvSpPr/>
          <p:nvPr/>
        </p:nvSpPr>
        <p:spPr>
          <a:xfrm>
            <a:off x="6181344" y="960120"/>
            <a:ext cx="2834640" cy="3977640"/>
          </a:xfrm>
          <a:prstGeom prst="rect">
            <a:avLst/>
          </a:prstGeom>
          <a:solidFill>
            <a:srgbClr val="F4F7FC"/>
          </a:solidFill>
          <a:ln/>
          <a:effectLst>
            <a:outerShdw sx="100000" sy="100000" kx="0" ky="0" algn="bl" rotWithShape="0" blurRad="76200" dist="25400" dir="8100000">
              <a:srgbClr val="000000">
                <a:alpha val="10000"/>
              </a:srgbClr>
            </a:outerShdw>
          </a:effectLst>
        </p:spPr>
      </p:sp>
      <p:sp>
        <p:nvSpPr>
          <p:cNvPr id="21" name="Shape 19"/>
          <p:cNvSpPr/>
          <p:nvPr/>
        </p:nvSpPr>
        <p:spPr>
          <a:xfrm>
            <a:off x="6181344" y="960120"/>
            <a:ext cx="2834640" cy="457200"/>
          </a:xfrm>
          <a:prstGeom prst="rect">
            <a:avLst/>
          </a:prstGeom>
          <a:solidFill>
            <a:srgbClr val="7C3AED"/>
          </a:solidFill>
          <a:ln/>
        </p:spPr>
      </p:sp>
      <p:sp>
        <p:nvSpPr>
          <p:cNvPr id="22" name="Text 20"/>
          <p:cNvSpPr/>
          <p:nvPr/>
        </p:nvSpPr>
        <p:spPr>
          <a:xfrm>
            <a:off x="6272784" y="960120"/>
            <a:ext cx="2651760" cy="457200"/>
          </a:xfrm>
          <a:prstGeom prst="rect">
            <a:avLst/>
          </a:prstGeom>
          <a:noFill/>
          <a:ln/>
        </p:spPr>
        <p:txBody>
          <a:bodyPr wrap="square" rtlCol="0" anchor="ctr"/>
          <a:lstStyle/>
          <a:p>
            <a:pPr algn="ctr" indent="0" marL="0">
              <a:buNone/>
            </a:pPr>
            <a:r>
              <a:rPr lang="en-US" sz="1600" b="1" dirty="0">
                <a:solidFill>
                  <a:srgbClr val="FFFFFF"/>
                </a:solidFill>
              </a:rPr>
              <a:t>Reference Mapping</a:t>
            </a:r>
            <a:endParaRPr lang="en-US" sz="1600" dirty="0"/>
          </a:p>
        </p:txBody>
      </p:sp>
      <p:sp>
        <p:nvSpPr>
          <p:cNvPr id="23" name="Text 21"/>
          <p:cNvSpPr/>
          <p:nvPr/>
        </p:nvSpPr>
        <p:spPr>
          <a:xfrm>
            <a:off x="6318504" y="1554480"/>
            <a:ext cx="1188720" cy="548640"/>
          </a:xfrm>
          <a:prstGeom prst="rect">
            <a:avLst/>
          </a:prstGeom>
          <a:noFill/>
          <a:ln/>
        </p:spPr>
        <p:txBody>
          <a:bodyPr wrap="square" rtlCol="0" anchor="ctr"/>
          <a:lstStyle/>
          <a:p>
            <a:pPr algn="ctr" indent="0" marL="0">
              <a:buNone/>
            </a:pPr>
            <a:r>
              <a:rPr lang="en-US" sz="2400" b="1" dirty="0">
                <a:solidFill>
                  <a:srgbClr val="7C3AED"/>
                </a:solidFill>
              </a:rPr>
              <a:t>79%</a:t>
            </a:r>
            <a:endParaRPr lang="en-US" sz="2400" dirty="0"/>
          </a:p>
        </p:txBody>
      </p:sp>
      <p:sp>
        <p:nvSpPr>
          <p:cNvPr id="24" name="Text 22"/>
          <p:cNvSpPr/>
          <p:nvPr/>
        </p:nvSpPr>
        <p:spPr>
          <a:xfrm>
            <a:off x="6318504" y="2103120"/>
            <a:ext cx="1188720" cy="457200"/>
          </a:xfrm>
          <a:prstGeom prst="rect">
            <a:avLst/>
          </a:prstGeom>
          <a:noFill/>
          <a:ln/>
        </p:spPr>
        <p:txBody>
          <a:bodyPr wrap="square"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Cell type accuracy</a:t>
            </a:r>
            <a:endParaRPr lang="en-US" sz="950" dirty="0"/>
          </a:p>
          <a:p>
            <a:pPr algn="ctr" indent="0" marL="0">
              <a:buNone/>
            </a:pPr>
            <a:r>
              <a:rPr lang="en-US" sz="950" dirty="0">
                <a:solidFill>
                  <a:srgbClr val="64748B"/>
                </a:solidFill>
                <a:latin typeface="Calibri" pitchFamily="34" charset="0"/>
                <a:ea typeface="Calibri" pitchFamily="34" charset="-122"/>
                <a:cs typeface="Calibri" pitchFamily="34" charset="-120"/>
              </a:rPr>
              <a:t>on COVID query</a:t>
            </a:r>
            <a:endParaRPr lang="en-US" sz="950" dirty="0"/>
          </a:p>
        </p:txBody>
      </p:sp>
      <p:sp>
        <p:nvSpPr>
          <p:cNvPr id="25" name="Text 23"/>
          <p:cNvSpPr/>
          <p:nvPr/>
        </p:nvSpPr>
        <p:spPr>
          <a:xfrm>
            <a:off x="7644384" y="1554480"/>
            <a:ext cx="1188720" cy="548640"/>
          </a:xfrm>
          <a:prstGeom prst="rect">
            <a:avLst/>
          </a:prstGeom>
          <a:noFill/>
          <a:ln/>
        </p:spPr>
        <p:txBody>
          <a:bodyPr wrap="square" rtlCol="0" anchor="ctr"/>
          <a:lstStyle/>
          <a:p>
            <a:pPr algn="ctr" indent="0" marL="0">
              <a:buNone/>
            </a:pPr>
            <a:r>
              <a:rPr lang="en-US" sz="2400" b="1" dirty="0">
                <a:solidFill>
                  <a:srgbClr val="7C3AED"/>
                </a:solidFill>
              </a:rPr>
              <a:t>2-5m</a:t>
            </a:r>
            <a:endParaRPr lang="en-US" sz="2400" dirty="0"/>
          </a:p>
        </p:txBody>
      </p:sp>
      <p:sp>
        <p:nvSpPr>
          <p:cNvPr id="26" name="Text 24"/>
          <p:cNvSpPr/>
          <p:nvPr/>
        </p:nvSpPr>
        <p:spPr>
          <a:xfrm>
            <a:off x="7644384" y="2103120"/>
            <a:ext cx="1188720" cy="457200"/>
          </a:xfrm>
          <a:prstGeom prst="rect">
            <a:avLst/>
          </a:prstGeom>
          <a:noFill/>
          <a:ln/>
        </p:spPr>
        <p:txBody>
          <a:bodyPr wrap="square" rtlCol="0" anchor="ctr"/>
          <a:lstStyle/>
          <a:p>
            <a:pPr algn="ctr" indent="0" marL="0">
              <a:buNone/>
            </a:pPr>
            <a:r>
              <a:rPr lang="en-US" sz="950" dirty="0">
                <a:solidFill>
                  <a:srgbClr val="64748B"/>
                </a:solidFill>
                <a:latin typeface="Calibri" pitchFamily="34" charset="0"/>
                <a:ea typeface="Calibri" pitchFamily="34" charset="-122"/>
                <a:cs typeface="Calibri" pitchFamily="34" charset="-120"/>
              </a:rPr>
              <a:t>Fine-tuning time</a:t>
            </a:r>
            <a:endParaRPr lang="en-US" sz="950" dirty="0"/>
          </a:p>
          <a:p>
            <a:pPr algn="ctr" indent="0" marL="0">
              <a:buNone/>
            </a:pPr>
            <a:r>
              <a:rPr lang="en-US" sz="950" dirty="0">
                <a:solidFill>
                  <a:srgbClr val="64748B"/>
                </a:solidFill>
                <a:latin typeface="Calibri" pitchFamily="34" charset="0"/>
                <a:ea typeface="Calibri" pitchFamily="34" charset="-122"/>
                <a:cs typeface="Calibri" pitchFamily="34" charset="-120"/>
              </a:rPr>
              <a:t>vs hours for retrain</a:t>
            </a:r>
            <a:endParaRPr lang="en-US" sz="950" dirty="0"/>
          </a:p>
        </p:txBody>
      </p:sp>
      <p:sp>
        <p:nvSpPr>
          <p:cNvPr id="27" name="Text 25"/>
          <p:cNvSpPr/>
          <p:nvPr/>
        </p:nvSpPr>
        <p:spPr>
          <a:xfrm>
            <a:off x="6291072" y="2670048"/>
            <a:ext cx="2615184" cy="2148840"/>
          </a:xfrm>
          <a:prstGeom prst="rect">
            <a:avLst/>
          </a:prstGeom>
          <a:noFill/>
          <a:ln/>
        </p:spPr>
        <p:txBody>
          <a:bodyPr wrap="square" rtlCol="0" anchor="ctr"/>
          <a:lstStyle/>
          <a:p>
            <a:pPr indent="0" marL="0">
              <a:buNone/>
            </a:pPr>
            <a:r>
              <a:rPr lang="en-US" sz="1100" dirty="0">
                <a:solidFill>
                  <a:srgbClr val="1E293B"/>
                </a:solidFill>
                <a:latin typeface="Calibri" pitchFamily="34" charset="0"/>
                <a:ea typeface="Calibri" pitchFamily="34" charset="-122"/>
                <a:cs typeface="Calibri" pitchFamily="34" charset="-120"/>
              </a:rPr>
              <a:t>scArches fine-tuning maps new query datasets onto existing reference atlases in minutes. Cell type labels transfer successfully — enabling disease vs healthy comparisons.</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4472C4"/>
          </a:solidFill>
          <a:ln/>
        </p:spPr>
      </p:sp>
      <p:sp>
        <p:nvSpPr>
          <p:cNvPr id="3" name="Text 1"/>
          <p:cNvSpPr/>
          <p:nvPr/>
        </p:nvSpPr>
        <p:spPr>
          <a:xfrm>
            <a:off x="457200" y="201168"/>
            <a:ext cx="8229600" cy="594360"/>
          </a:xfrm>
          <a:prstGeom prst="rect">
            <a:avLst/>
          </a:prstGeom>
          <a:noFill/>
          <a:ln/>
        </p:spPr>
        <p:txBody>
          <a:bodyPr wrap="square" lIns="0" tIns="0" rIns="0" bIns="0" rtlCol="0" anchor="ctr"/>
          <a:lstStyle/>
          <a:p>
            <a:pPr algn="l" indent="0" marL="0">
              <a:buNone/>
            </a:pPr>
            <a:r>
              <a:rPr lang="en-US" sz="3000" b="1" dirty="0">
                <a:solidFill>
                  <a:srgbClr val="FFFFFF"/>
                </a:solidFill>
                <a:latin typeface="Calibri" pitchFamily="34" charset="0"/>
                <a:ea typeface="Calibri" pitchFamily="34" charset="-122"/>
                <a:cs typeface="Calibri" pitchFamily="34" charset="-120"/>
              </a:rPr>
              <a:t>Conclusion &amp; Future Work</a:t>
            </a:r>
            <a:endParaRPr lang="en-US" sz="3000" dirty="0"/>
          </a:p>
        </p:txBody>
      </p:sp>
      <p:sp>
        <p:nvSpPr>
          <p:cNvPr id="4" name="Text 2"/>
          <p:cNvSpPr/>
          <p:nvPr/>
        </p:nvSpPr>
        <p:spPr>
          <a:xfrm>
            <a:off x="457200" y="960120"/>
            <a:ext cx="4114800" cy="365760"/>
          </a:xfrm>
          <a:prstGeom prst="rect">
            <a:avLst/>
          </a:prstGeom>
          <a:noFill/>
          <a:ln/>
        </p:spPr>
        <p:txBody>
          <a:bodyPr wrap="square"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Multigrate Achieves</a:t>
            </a:r>
            <a:endParaRPr lang="en-US" sz="1500" dirty="0"/>
          </a:p>
        </p:txBody>
      </p:sp>
      <p:sp>
        <p:nvSpPr>
          <p:cNvPr id="5" name="Text 3"/>
          <p:cNvSpPr/>
          <p:nvPr/>
        </p:nvSpPr>
        <p:spPr>
          <a:xfrm>
            <a:off x="457200" y="1389888"/>
            <a:ext cx="4114800" cy="475488"/>
          </a:xfrm>
          <a:prstGeom prst="rect">
            <a:avLst/>
          </a:prstGeom>
          <a:noFill/>
          <a:ln/>
        </p:spPr>
        <p:txBody>
          <a:bodyPr wrap="square" rtlCol="0" anchor="ctr"/>
          <a:lstStyle/>
          <a:p>
            <a:pPr indent="0" marL="0">
              <a:buNone/>
            </a:pPr>
            <a:r>
              <a:rPr lang="en-US" sz="1200" b="1" dirty="0">
                <a:solidFill>
                  <a:srgbClr val="4472C4"/>
                </a:solidFill>
                <a:latin typeface="Calibri" pitchFamily="34" charset="0"/>
                <a:ea typeface="Calibri" pitchFamily="34" charset="-122"/>
                <a:cs typeface="Calibri" pitchFamily="34" charset="-120"/>
              </a:rPr>
              <a:t>→  </a:t>
            </a:r>
            <a:pPr indent="0" marL="0">
              <a:buNone/>
            </a:pPr>
            <a:r>
              <a:rPr lang="en-US" sz="1200" dirty="0">
                <a:solidFill>
                  <a:srgbClr val="FFFFFF"/>
                </a:solidFill>
                <a:latin typeface="Calibri" pitchFamily="34" charset="0"/>
                <a:ea typeface="Calibri" pitchFamily="34" charset="-122"/>
                <a:cs typeface="Calibri" pitchFamily="34" charset="-120"/>
              </a:rPr>
              <a:t>A single model handles any multi-omic technology — not just CITE-seq or just ATAC</a:t>
            </a:r>
            <a:endParaRPr lang="en-US" sz="1200" dirty="0"/>
          </a:p>
        </p:txBody>
      </p:sp>
      <p:sp>
        <p:nvSpPr>
          <p:cNvPr id="6" name="Text 4"/>
          <p:cNvSpPr/>
          <p:nvPr/>
        </p:nvSpPr>
        <p:spPr>
          <a:xfrm>
            <a:off x="457200" y="1920240"/>
            <a:ext cx="4114800" cy="475488"/>
          </a:xfrm>
          <a:prstGeom prst="rect">
            <a:avLst/>
          </a:prstGeom>
          <a:noFill/>
          <a:ln/>
        </p:spPr>
        <p:txBody>
          <a:bodyPr wrap="square" rtlCol="0" anchor="ctr"/>
          <a:lstStyle/>
          <a:p>
            <a:pPr indent="0" marL="0">
              <a:buNone/>
            </a:pPr>
            <a:r>
              <a:rPr lang="en-US" sz="1200" b="1" dirty="0">
                <a:solidFill>
                  <a:srgbClr val="4472C4"/>
                </a:solidFill>
                <a:latin typeface="Calibri" pitchFamily="34" charset="0"/>
                <a:ea typeface="Calibri" pitchFamily="34" charset="-122"/>
                <a:cs typeface="Calibri" pitchFamily="34" charset="-120"/>
              </a:rPr>
              <a:t>→  </a:t>
            </a:r>
            <a:pPr indent="0" marL="0">
              <a:buNone/>
            </a:pPr>
            <a:r>
              <a:rPr lang="en-US" sz="1200" dirty="0">
                <a:solidFill>
                  <a:srgbClr val="FFFFFF"/>
                </a:solidFill>
                <a:latin typeface="Calibri" pitchFamily="34" charset="0"/>
                <a:ea typeface="Calibri" pitchFamily="34" charset="-122"/>
                <a:cs typeface="Calibri" pitchFamily="34" charset="-120"/>
              </a:rPr>
              <a:t>Product of Experts elegantly handles missing modalities without special-case logic</a:t>
            </a:r>
            <a:endParaRPr lang="en-US" sz="1200" dirty="0"/>
          </a:p>
        </p:txBody>
      </p:sp>
      <p:sp>
        <p:nvSpPr>
          <p:cNvPr id="7" name="Text 5"/>
          <p:cNvSpPr/>
          <p:nvPr/>
        </p:nvSpPr>
        <p:spPr>
          <a:xfrm>
            <a:off x="457200" y="2450592"/>
            <a:ext cx="4114800" cy="475488"/>
          </a:xfrm>
          <a:prstGeom prst="rect">
            <a:avLst/>
          </a:prstGeom>
          <a:noFill/>
          <a:ln/>
        </p:spPr>
        <p:txBody>
          <a:bodyPr wrap="square" rtlCol="0" anchor="ctr"/>
          <a:lstStyle/>
          <a:p>
            <a:pPr indent="0" marL="0">
              <a:buNone/>
            </a:pPr>
            <a:r>
              <a:rPr lang="en-US" sz="1200" b="1" dirty="0">
                <a:solidFill>
                  <a:srgbClr val="4472C4"/>
                </a:solidFill>
                <a:latin typeface="Calibri" pitchFamily="34" charset="0"/>
                <a:ea typeface="Calibri" pitchFamily="34" charset="-122"/>
                <a:cs typeface="Calibri" pitchFamily="34" charset="-120"/>
              </a:rPr>
              <a:t>→  </a:t>
            </a:r>
            <a:pPr indent="0" marL="0">
              <a:buNone/>
            </a:pPr>
            <a:r>
              <a:rPr lang="en-US" sz="1200" dirty="0">
                <a:solidFill>
                  <a:srgbClr val="FFFFFF"/>
                </a:solidFill>
                <a:latin typeface="Calibri" pitchFamily="34" charset="0"/>
                <a:ea typeface="Calibri" pitchFamily="34" charset="-122"/>
                <a:cs typeface="Calibri" pitchFamily="34" charset="-120"/>
              </a:rPr>
              <a:t>MMD loss removes batch effects while preserving biological variation</a:t>
            </a:r>
            <a:endParaRPr lang="en-US" sz="1200" dirty="0"/>
          </a:p>
        </p:txBody>
      </p:sp>
      <p:sp>
        <p:nvSpPr>
          <p:cNvPr id="8" name="Text 6"/>
          <p:cNvSpPr/>
          <p:nvPr/>
        </p:nvSpPr>
        <p:spPr>
          <a:xfrm>
            <a:off x="457200" y="2980944"/>
            <a:ext cx="4114800" cy="475488"/>
          </a:xfrm>
          <a:prstGeom prst="rect">
            <a:avLst/>
          </a:prstGeom>
          <a:noFill/>
          <a:ln/>
        </p:spPr>
        <p:txBody>
          <a:bodyPr wrap="square" rtlCol="0" anchor="ctr"/>
          <a:lstStyle/>
          <a:p>
            <a:pPr indent="0" marL="0">
              <a:buNone/>
            </a:pPr>
            <a:r>
              <a:rPr lang="en-US" sz="1200" b="1" dirty="0">
                <a:solidFill>
                  <a:srgbClr val="4472C4"/>
                </a:solidFill>
                <a:latin typeface="Calibri" pitchFamily="34" charset="0"/>
                <a:ea typeface="Calibri" pitchFamily="34" charset="-122"/>
                <a:cs typeface="Calibri" pitchFamily="34" charset="-120"/>
              </a:rPr>
              <a:t>→  </a:t>
            </a:r>
            <a:pPr indent="0" marL="0">
              <a:buNone/>
            </a:pPr>
            <a:r>
              <a:rPr lang="en-US" sz="1200" dirty="0">
                <a:solidFill>
                  <a:srgbClr val="FFFFFF"/>
                </a:solidFill>
                <a:latin typeface="Calibri" pitchFamily="34" charset="0"/>
                <a:ea typeface="Calibri" pitchFamily="34" charset="-122"/>
                <a:cs typeface="Calibri" pitchFamily="34" charset="-120"/>
              </a:rPr>
              <a:t>scArches enables fast query mapping without full retraining</a:t>
            </a:r>
            <a:endParaRPr lang="en-US" sz="1200" dirty="0"/>
          </a:p>
        </p:txBody>
      </p:sp>
      <p:sp>
        <p:nvSpPr>
          <p:cNvPr id="9" name="Text 7"/>
          <p:cNvSpPr/>
          <p:nvPr/>
        </p:nvSpPr>
        <p:spPr>
          <a:xfrm>
            <a:off x="457200" y="3511296"/>
            <a:ext cx="4114800" cy="475488"/>
          </a:xfrm>
          <a:prstGeom prst="rect">
            <a:avLst/>
          </a:prstGeom>
          <a:noFill/>
          <a:ln/>
        </p:spPr>
        <p:txBody>
          <a:bodyPr wrap="square" rtlCol="0" anchor="ctr"/>
          <a:lstStyle/>
          <a:p>
            <a:pPr indent="0" marL="0">
              <a:buNone/>
            </a:pPr>
            <a:r>
              <a:rPr lang="en-US" sz="1200" b="1" dirty="0">
                <a:solidFill>
                  <a:srgbClr val="4472C4"/>
                </a:solidFill>
                <a:latin typeface="Calibri" pitchFamily="34" charset="0"/>
                <a:ea typeface="Calibri" pitchFamily="34" charset="-122"/>
                <a:cs typeface="Calibri" pitchFamily="34" charset="-120"/>
              </a:rPr>
              <a:t>→  </a:t>
            </a:r>
            <a:pPr indent="0" marL="0">
              <a:buNone/>
            </a:pPr>
            <a:r>
              <a:rPr lang="en-US" sz="1200" dirty="0">
                <a:solidFill>
                  <a:srgbClr val="FFFFFF"/>
                </a:solidFill>
                <a:latin typeface="Calibri" pitchFamily="34" charset="0"/>
                <a:ea typeface="Calibri" pitchFamily="34" charset="-122"/>
                <a:cs typeface="Calibri" pitchFamily="34" charset="-120"/>
              </a:rPr>
              <a:t>Outperforms or matches specialised methods on their own tasks</a:t>
            </a:r>
            <a:endParaRPr lang="en-US" sz="1200" dirty="0"/>
          </a:p>
        </p:txBody>
      </p:sp>
      <p:sp>
        <p:nvSpPr>
          <p:cNvPr id="10" name="Text 8"/>
          <p:cNvSpPr/>
          <p:nvPr/>
        </p:nvSpPr>
        <p:spPr>
          <a:xfrm>
            <a:off x="4937760" y="960120"/>
            <a:ext cx="3931920" cy="365760"/>
          </a:xfrm>
          <a:prstGeom prst="rect">
            <a:avLst/>
          </a:prstGeom>
          <a:noFill/>
          <a:ln/>
        </p:spPr>
        <p:txBody>
          <a:bodyPr wrap="square"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Future Directions</a:t>
            </a:r>
            <a:endParaRPr lang="en-US" sz="1500" dirty="0"/>
          </a:p>
        </p:txBody>
      </p:sp>
      <p:sp>
        <p:nvSpPr>
          <p:cNvPr id="11" name="Shape 9"/>
          <p:cNvSpPr/>
          <p:nvPr/>
        </p:nvSpPr>
        <p:spPr>
          <a:xfrm>
            <a:off x="4937760" y="1389888"/>
            <a:ext cx="3931920" cy="713232"/>
          </a:xfrm>
          <a:prstGeom prst="rect">
            <a:avLst/>
          </a:prstGeom>
          <a:solidFill>
            <a:srgbClr val="1A1A2E"/>
          </a:solidFill>
          <a:ln/>
          <a:effectLst>
            <a:outerShdw sx="100000" sy="100000" kx="0" ky="0" algn="bl" rotWithShape="0" blurRad="50800" dist="12700" dir="8100000">
              <a:srgbClr val="000000">
                <a:alpha val="20000"/>
              </a:srgbClr>
            </a:outerShdw>
          </a:effectLst>
        </p:spPr>
      </p:sp>
      <p:sp>
        <p:nvSpPr>
          <p:cNvPr id="12" name="Text 10"/>
          <p:cNvSpPr/>
          <p:nvPr/>
        </p:nvSpPr>
        <p:spPr>
          <a:xfrm>
            <a:off x="5029200" y="1389888"/>
            <a:ext cx="457200" cy="713232"/>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3" name="Text 11"/>
          <p:cNvSpPr/>
          <p:nvPr/>
        </p:nvSpPr>
        <p:spPr>
          <a:xfrm>
            <a:off x="5532120" y="1444752"/>
            <a:ext cx="324612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Cycle-consistency loss — enforce RNA→protein→RNA reconstruction consistency to improve imputation</a:t>
            </a:r>
            <a:endParaRPr lang="en-US" sz="1100" dirty="0"/>
          </a:p>
        </p:txBody>
      </p:sp>
      <p:sp>
        <p:nvSpPr>
          <p:cNvPr id="14" name="Shape 12"/>
          <p:cNvSpPr/>
          <p:nvPr/>
        </p:nvSpPr>
        <p:spPr>
          <a:xfrm>
            <a:off x="4937760" y="2194560"/>
            <a:ext cx="3931920" cy="713232"/>
          </a:xfrm>
          <a:prstGeom prst="rect">
            <a:avLst/>
          </a:prstGeom>
          <a:solidFill>
            <a:srgbClr val="1A1A2E"/>
          </a:solidFill>
          <a:ln/>
          <a:effectLst>
            <a:outerShdw sx="100000" sy="100000" kx="0" ky="0" algn="bl" rotWithShape="0" blurRad="50800" dist="12700" dir="8100000">
              <a:srgbClr val="000000">
                <a:alpha val="20000"/>
              </a:srgbClr>
            </a:outerShdw>
          </a:effectLst>
        </p:spPr>
      </p:sp>
      <p:sp>
        <p:nvSpPr>
          <p:cNvPr id="15" name="Text 13"/>
          <p:cNvSpPr/>
          <p:nvPr/>
        </p:nvSpPr>
        <p:spPr>
          <a:xfrm>
            <a:off x="5029200" y="2194560"/>
            <a:ext cx="457200" cy="713232"/>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6" name="Text 14"/>
          <p:cNvSpPr/>
          <p:nvPr/>
        </p:nvSpPr>
        <p:spPr>
          <a:xfrm>
            <a:off x="5532120" y="2249424"/>
            <a:ext cx="324612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Learnable modality embeddings — replace one-hot labels with trainable vectors to decompose modality-specific variance</a:t>
            </a:r>
            <a:endParaRPr lang="en-US" sz="1100" dirty="0"/>
          </a:p>
        </p:txBody>
      </p:sp>
      <p:sp>
        <p:nvSpPr>
          <p:cNvPr id="17" name="Shape 15"/>
          <p:cNvSpPr/>
          <p:nvPr/>
        </p:nvSpPr>
        <p:spPr>
          <a:xfrm>
            <a:off x="4937760" y="2999232"/>
            <a:ext cx="3931920" cy="713232"/>
          </a:xfrm>
          <a:prstGeom prst="rect">
            <a:avLst/>
          </a:prstGeom>
          <a:solidFill>
            <a:srgbClr val="1A1A2E"/>
          </a:solidFill>
          <a:ln/>
          <a:effectLst>
            <a:outerShdw sx="100000" sy="100000" kx="0" ky="0" algn="bl" rotWithShape="0" blurRad="50800" dist="12700" dir="8100000">
              <a:srgbClr val="000000">
                <a:alpha val="20000"/>
              </a:srgbClr>
            </a:outerShdw>
          </a:effectLst>
        </p:spPr>
      </p:sp>
      <p:sp>
        <p:nvSpPr>
          <p:cNvPr id="18" name="Text 16"/>
          <p:cNvSpPr/>
          <p:nvPr/>
        </p:nvSpPr>
        <p:spPr>
          <a:xfrm>
            <a:off x="5029200" y="2999232"/>
            <a:ext cx="457200" cy="713232"/>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19" name="Text 17"/>
          <p:cNvSpPr/>
          <p:nvPr/>
        </p:nvSpPr>
        <p:spPr>
          <a:xfrm>
            <a:off x="5532120" y="3054096"/>
            <a:ext cx="324612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Spatial transcriptomics — extend PoE framework to handle spatial + RNA + protein trimodal data</a:t>
            </a:r>
            <a:endParaRPr lang="en-US" sz="1100" dirty="0"/>
          </a:p>
        </p:txBody>
      </p:sp>
      <p:sp>
        <p:nvSpPr>
          <p:cNvPr id="20" name="Shape 18"/>
          <p:cNvSpPr/>
          <p:nvPr/>
        </p:nvSpPr>
        <p:spPr>
          <a:xfrm>
            <a:off x="4937760" y="3803904"/>
            <a:ext cx="3931920" cy="713232"/>
          </a:xfrm>
          <a:prstGeom prst="rect">
            <a:avLst/>
          </a:prstGeom>
          <a:solidFill>
            <a:srgbClr val="1A1A2E"/>
          </a:solidFill>
          <a:ln/>
          <a:effectLst>
            <a:outerShdw sx="100000" sy="100000" kx="0" ky="0" algn="bl" rotWithShape="0" blurRad="50800" dist="12700" dir="8100000">
              <a:srgbClr val="000000">
                <a:alpha val="20000"/>
              </a:srgbClr>
            </a:outerShdw>
          </a:effectLst>
        </p:spPr>
      </p:sp>
      <p:sp>
        <p:nvSpPr>
          <p:cNvPr id="21" name="Text 19"/>
          <p:cNvSpPr/>
          <p:nvPr/>
        </p:nvSpPr>
        <p:spPr>
          <a:xfrm>
            <a:off x="5029200" y="3803904"/>
            <a:ext cx="457200" cy="713232"/>
          </a:xfrm>
          <a:prstGeom prst="rect">
            <a:avLst/>
          </a:prstGeom>
          <a:noFill/>
          <a:ln/>
        </p:spPr>
        <p:txBody>
          <a:bodyPr wrap="square" rtlCol="0" anchor="ctr"/>
          <a:lstStyle/>
          <a:p>
            <a:pPr algn="ctr" indent="0" marL="0">
              <a:buNone/>
            </a:pPr>
            <a:r>
              <a:rPr lang="en-US" sz="1800" dirty="0">
                <a:solidFill>
                  <a:srgbClr val="000000"/>
                </a:solidFill>
              </a:rPr>
              <a:t>⚡</a:t>
            </a:r>
            <a:endParaRPr lang="en-US" sz="1800" dirty="0"/>
          </a:p>
        </p:txBody>
      </p:sp>
      <p:sp>
        <p:nvSpPr>
          <p:cNvPr id="22" name="Text 20"/>
          <p:cNvSpPr/>
          <p:nvPr/>
        </p:nvSpPr>
        <p:spPr>
          <a:xfrm>
            <a:off x="5532120" y="3858768"/>
            <a:ext cx="3246120" cy="594360"/>
          </a:xfrm>
          <a:prstGeom prst="rect">
            <a:avLst/>
          </a:prstGeom>
          <a:noFill/>
          <a:ln/>
        </p:spPr>
        <p:txBody>
          <a:bodyPr wrap="square" rtlCol="0" anchor="ctr"/>
          <a:lstStyle/>
          <a:p>
            <a:pPr indent="0" marL="0">
              <a:buNone/>
            </a:pPr>
            <a:r>
              <a:rPr lang="en-US" sz="1100" dirty="0">
                <a:solidFill>
                  <a:srgbClr val="CADCFC"/>
                </a:solidFill>
                <a:latin typeface="Calibri" pitchFamily="34" charset="0"/>
                <a:ea typeface="Calibri" pitchFamily="34" charset="-122"/>
                <a:cs typeface="Calibri" pitchFamily="34" charset="-120"/>
              </a:rPr>
              <a:t>Scalability — online learning for streaming datasets with millions of cells</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64008"/>
          </a:xfrm>
          <a:prstGeom prst="rect">
            <a:avLst/>
          </a:prstGeom>
          <a:solidFill>
            <a:srgbClr val="1E2761"/>
          </a:solidFill>
          <a:ln/>
        </p:spPr>
      </p:sp>
      <p:sp>
        <p:nvSpPr>
          <p:cNvPr id="3" name="Text 1"/>
          <p:cNvSpPr/>
          <p:nvPr/>
        </p:nvSpPr>
        <p:spPr>
          <a:xfrm>
            <a:off x="457200" y="164592"/>
            <a:ext cx="8229600" cy="594360"/>
          </a:xfrm>
          <a:prstGeom prst="rect">
            <a:avLst/>
          </a:prstGeom>
          <a:noFill/>
          <a:ln/>
        </p:spPr>
        <p:txBody>
          <a:bodyPr wrap="square" lIns="0" tIns="0" rIns="0" bIns="0" rtlCol="0" anchor="ctr"/>
          <a:lstStyle/>
          <a:p>
            <a:pPr algn="l" indent="0" marL="0">
              <a:buNone/>
            </a:pPr>
            <a:r>
              <a:rPr lang="en-US" sz="3000" b="1" dirty="0">
                <a:solidFill>
                  <a:srgbClr val="1E2761"/>
                </a:solidFill>
                <a:latin typeface="Calibri" pitchFamily="34" charset="0"/>
                <a:ea typeface="Calibri" pitchFamily="34" charset="-122"/>
                <a:cs typeface="Calibri" pitchFamily="34" charset="-120"/>
              </a:rPr>
              <a:t>References</a:t>
            </a:r>
            <a:endParaRPr lang="en-US" sz="3000" dirty="0"/>
          </a:p>
        </p:txBody>
      </p:sp>
      <p:sp>
        <p:nvSpPr>
          <p:cNvPr id="4" name="Text 2"/>
          <p:cNvSpPr/>
          <p:nvPr/>
        </p:nvSpPr>
        <p:spPr>
          <a:xfrm>
            <a:off x="365760" y="914400"/>
            <a:ext cx="8412480" cy="475488"/>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[1] Lotfollahi, M., Litinetskaya, A., &amp; Theis, F. J. (2021). Multigrate: single-cell multi-omic data integration. ICML Workshop on Computational Biology. https://arxiv.org/abs/2108.05218</a:t>
            </a:r>
            <a:endParaRPr lang="en-US" sz="1050" dirty="0"/>
          </a:p>
        </p:txBody>
      </p:sp>
      <p:sp>
        <p:nvSpPr>
          <p:cNvPr id="5" name="Text 3"/>
          <p:cNvSpPr/>
          <p:nvPr/>
        </p:nvSpPr>
        <p:spPr>
          <a:xfrm>
            <a:off x="365760" y="1426464"/>
            <a:ext cx="8412480" cy="475488"/>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[2] Litinetskaya, A., et al. (2022). Integration and querying of multimodal single-cell data with PoE-VAE. bioRxiv. https://doi.org/10.1101/2022.03.16.484643</a:t>
            </a:r>
            <a:endParaRPr lang="en-US" sz="1050" dirty="0"/>
          </a:p>
        </p:txBody>
      </p:sp>
      <p:sp>
        <p:nvSpPr>
          <p:cNvPr id="6" name="Text 4"/>
          <p:cNvSpPr/>
          <p:nvPr/>
        </p:nvSpPr>
        <p:spPr>
          <a:xfrm>
            <a:off x="365760" y="1938528"/>
            <a:ext cx="8412480" cy="475488"/>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[3] Lotfollahi, M., et al. (2022). Mapping single-cell data to reference atlases by transfer learning. Nature Biotechnology, 40, 121–130.</a:t>
            </a:r>
            <a:endParaRPr lang="en-US" sz="1050" dirty="0"/>
          </a:p>
        </p:txBody>
      </p:sp>
      <p:sp>
        <p:nvSpPr>
          <p:cNvPr id="7" name="Text 5"/>
          <p:cNvSpPr/>
          <p:nvPr/>
        </p:nvSpPr>
        <p:spPr>
          <a:xfrm>
            <a:off x="365760" y="2450592"/>
            <a:ext cx="8412480" cy="475488"/>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[4] Gayoso, A., et al. (2021). Joint probabilistic modeling of single-cell multi-omic data with totalVI. Nature Methods, 18, 272–282.</a:t>
            </a:r>
            <a:endParaRPr lang="en-US" sz="1050" dirty="0"/>
          </a:p>
        </p:txBody>
      </p:sp>
      <p:sp>
        <p:nvSpPr>
          <p:cNvPr id="8" name="Text 6"/>
          <p:cNvSpPr/>
          <p:nvPr/>
        </p:nvSpPr>
        <p:spPr>
          <a:xfrm>
            <a:off x="365760" y="2962656"/>
            <a:ext cx="8412480" cy="475488"/>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[5] Hao, Y., et al. (2021). Integrated analysis of multimodal single-cell data. Cell, 184(13), 3573–3587.</a:t>
            </a:r>
            <a:endParaRPr lang="en-US" sz="1050" dirty="0"/>
          </a:p>
        </p:txBody>
      </p:sp>
      <p:sp>
        <p:nvSpPr>
          <p:cNvPr id="9" name="Text 7"/>
          <p:cNvSpPr/>
          <p:nvPr/>
        </p:nvSpPr>
        <p:spPr>
          <a:xfrm>
            <a:off x="365760" y="3474720"/>
            <a:ext cx="8412480" cy="475488"/>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[6] Argelaguet, R., et al. (2020). MOFA+: a statistical framework for comprehensive integration of multimodal single-cell data. Genome Biology, 21, 111.</a:t>
            </a:r>
            <a:endParaRPr lang="en-US" sz="1050" dirty="0"/>
          </a:p>
        </p:txBody>
      </p:sp>
      <p:sp>
        <p:nvSpPr>
          <p:cNvPr id="10" name="Text 8"/>
          <p:cNvSpPr/>
          <p:nvPr/>
        </p:nvSpPr>
        <p:spPr>
          <a:xfrm>
            <a:off x="365760" y="3986784"/>
            <a:ext cx="8412480" cy="475488"/>
          </a:xfrm>
          <a:prstGeom prst="rect">
            <a:avLst/>
          </a:prstGeom>
          <a:noFill/>
          <a:ln/>
        </p:spPr>
        <p:txBody>
          <a:bodyPr wrap="square" rtlCol="0" anchor="ctr"/>
          <a:lstStyle/>
          <a:p>
            <a:pPr indent="0" marL="0">
              <a:buNone/>
            </a:pPr>
            <a:r>
              <a:rPr lang="en-US" sz="1050" dirty="0">
                <a:solidFill>
                  <a:srgbClr val="1E293B"/>
                </a:solidFill>
                <a:latin typeface="Calibri" pitchFamily="34" charset="0"/>
                <a:ea typeface="Calibri" pitchFamily="34" charset="-122"/>
                <a:cs typeface="Calibri" pitchFamily="34" charset="-120"/>
              </a:rPr>
              <a:t>[7] Luecken, M., et al. (2022). Benchmarking atlas-level data integration in single-cell genomics. Nature Methods, 19, 41–50.</a:t>
            </a:r>
            <a:endParaRPr lang="en-US" sz="1050" dirty="0"/>
          </a:p>
        </p:txBody>
      </p:sp>
      <p:sp>
        <p:nvSpPr>
          <p:cNvPr id="11" name="Text 9"/>
          <p:cNvSpPr/>
          <p:nvPr/>
        </p:nvSpPr>
        <p:spPr>
          <a:xfrm>
            <a:off x="365760" y="4498848"/>
            <a:ext cx="8412480" cy="475488"/>
          </a:xfrm>
          <a:prstGeom prst="rect">
            <a:avLst/>
          </a:prstGeom>
          <a:noFill/>
          <a:ln/>
        </p:spPr>
        <p:txBody>
          <a:bodyPr wrap="square" rtlCol="0" anchor="ctr"/>
          <a:lstStyle/>
          <a:p>
            <a:pPr indent="0" marL="0">
              <a:buNone/>
            </a:pPr>
            <a:r>
              <a:rPr lang="en-US" sz="1050" b="1" dirty="0">
                <a:solidFill>
                  <a:srgbClr val="4472C4"/>
                </a:solidFill>
                <a:latin typeface="Calibri" pitchFamily="34" charset="0"/>
                <a:ea typeface="Calibri" pitchFamily="34" charset="-122"/>
                <a:cs typeface="Calibri" pitchFamily="34" charset="-120"/>
              </a:rPr>
              <a:t>[8] Official code: https://github.com/theislab/multigrate    Reproducibility: https://github.com/theislab/multigrate_reproducibility</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Multigrate: Multi-Omic Data Integration</dc:title>
  <dc:subject>PptxGenJS Presentation</dc:subject>
  <dc:creator>FaiqaZarar</dc:creator>
  <cp:lastModifiedBy>FaiqaZarar</cp:lastModifiedBy>
  <cp:revision>1</cp:revision>
  <dcterms:created xsi:type="dcterms:W3CDTF">2026-06-03T04:49:57Z</dcterms:created>
  <dcterms:modified xsi:type="dcterms:W3CDTF">2026-06-03T04:49:57Z</dcterms:modified>
</cp:coreProperties>
</file>